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13232"/>
            <a:ext cx="649224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D4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thống Multimodal RAG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1D4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 thư viện số học tập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49808" y="1965960"/>
            <a:ext cx="57150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Bộ slide mẫu để kiểm tra parse PowerPoint, chunking theo slide, bảng biểu, caption hình và grounding.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49808" y="2743200"/>
            <a:ext cx="53949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Từ khóa: RAG, OCR, Chunking, Embedding, Grounding</a:t>
            </a:r>
            <a:endParaRPr lang="en-US" sz="1200" dirty="0"/>
          </a:p>
        </p:txBody>
      </p:sp>
      <p:pic>
        <p:nvPicPr>
          <p:cNvPr id="5" name="Image 0" descr="/mnt/data/rag_scan_ma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1059180"/>
            <a:ext cx="4343400" cy="3185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06640" y="4864608"/>
            <a:ext cx="43434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Hình 1: Ảnh scan mẫu nhúng trong slide để kiểm tra OCR.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49808" y="5532120"/>
            <a:ext cx="60350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Câu hỏi thử: “RAG cần grounding để làm gì?”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4360" y="64465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Tài liệu mẫu RAG | Slide 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498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D4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Kiến trúc xử lý tài liệu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67665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chung được lặp lại một phần trong DOCX, PDF, PNG và XLSX.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10185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737360"/>
            <a:ext cx="35661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Các bước chính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2157984"/>
            <a:ext cx="4709160" cy="1874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Ingest: 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nhận tài liệu nhiều định dạng
</a:t>
            </a:r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OCR: 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đọc chữ trong ảnh hoặc bản scan
</a:t>
            </a:r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Chunking: 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chia nội dung theo heading/bảng
</a:t>
            </a:r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Retrieval: 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tìm top-k chunk liên quan
</a:t>
            </a:r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Answer: 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trả lời kèm evidence trace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4343400"/>
            <a:ext cx="493776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RAG khác chatbot thường ở chỗ câu trả lời phải bám vào dữ liệu nguồn đã truy xuất, thay vì chỉ dựa vào kiến thức bên trong mô hình.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89320" y="1783080"/>
            <a:ext cx="5257800" cy="3337560"/>
          </a:xfrm>
          <a:prstGeom prst="rect">
            <a:avLst>
              <a:gd name="adj" fmla="val 411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993392"/>
            <a:ext cx="1508760" cy="438912"/>
          </a:xfrm>
          <a:prstGeom prst="roundRect">
            <a:avLst>
              <a:gd name="adj" fmla="val 16667"/>
            </a:avLst>
          </a:prstGeom>
          <a:solidFill>
            <a:srgbClr val="E8F2FA"/>
          </a:solidFill>
          <a:ln w="12700">
            <a:solidFill>
              <a:srgbClr val="B6D6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28232" y="2112264"/>
            <a:ext cx="1261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69"/>
                </a:solidFill>
              </a:rPr>
              <a:t>Tài liệu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092440" y="2084832"/>
            <a:ext cx="265176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DOCX / PDF / PPTX / PNG / XLSX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09360" y="2706624"/>
            <a:ext cx="1508760" cy="438912"/>
          </a:xfrm>
          <a:prstGeom prst="roundRect">
            <a:avLst>
              <a:gd name="adj" fmla="val 16667"/>
            </a:avLst>
          </a:prstGeom>
          <a:solidFill>
            <a:srgbClr val="E8F2FA"/>
          </a:solidFill>
          <a:ln w="12700">
            <a:solidFill>
              <a:srgbClr val="B6D6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28232" y="2825496"/>
            <a:ext cx="1261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69"/>
                </a:solidFill>
              </a:rPr>
              <a:t>Tiền xử lý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92440" y="2798064"/>
            <a:ext cx="265176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OCR + normalize + metadata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309360" y="3419856"/>
            <a:ext cx="1508760" cy="438912"/>
          </a:xfrm>
          <a:prstGeom prst="roundRect">
            <a:avLst>
              <a:gd name="adj" fmla="val 16667"/>
            </a:avLst>
          </a:prstGeom>
          <a:solidFill>
            <a:srgbClr val="E8F2FA"/>
          </a:solidFill>
          <a:ln w="12700">
            <a:solidFill>
              <a:srgbClr val="B6D6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28232" y="3538728"/>
            <a:ext cx="1261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69"/>
                </a:solidFill>
              </a:rPr>
              <a:t>Chỉ mục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092440" y="3511296"/>
            <a:ext cx="265176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Embedding + vector store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309360" y="4133088"/>
            <a:ext cx="1508760" cy="438912"/>
          </a:xfrm>
          <a:prstGeom prst="roundRect">
            <a:avLst>
              <a:gd name="adj" fmla="val 16667"/>
            </a:avLst>
          </a:prstGeom>
          <a:solidFill>
            <a:srgbClr val="E8F2FA"/>
          </a:solidFill>
          <a:ln w="12700">
            <a:solidFill>
              <a:srgbClr val="B6D6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28232" y="4251960"/>
            <a:ext cx="1261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69"/>
                </a:solidFill>
              </a:rPr>
              <a:t>Trả lời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092440" y="4224528"/>
            <a:ext cx="265176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LLM + citation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89320" y="5330952"/>
            <a:ext cx="525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Hình 2: Sơ đồ đơn giản của pipeline Multimodal RAG.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4360" y="64465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Tài liệu mẫu RAG | Slide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498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D4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Ma trận kiểm thử retrieval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67665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Bảng này dùng để hỏi hệ thống và kiểm tra câu trả lời có trích đúng nguồn.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10185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37360"/>
            <a:ext cx="1463040" cy="438912"/>
          </a:xfrm>
          <a:prstGeom prst="rect">
            <a:avLst/>
          </a:prstGeom>
          <a:solidFill>
            <a:srgbClr val="E8F2FA"/>
          </a:solidFill>
          <a:ln w="762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Định dạng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148840" y="1737360"/>
            <a:ext cx="4800600" cy="438912"/>
          </a:xfrm>
          <a:prstGeom prst="rect">
            <a:avLst/>
          </a:prstGeom>
          <a:solidFill>
            <a:srgbClr val="E8F2FA"/>
          </a:solidFill>
          <a:ln w="762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Nội dung cần parse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949440" y="1737360"/>
            <a:ext cx="4572000" cy="438912"/>
          </a:xfrm>
          <a:prstGeom prst="rect">
            <a:avLst/>
          </a:prstGeom>
          <a:solidFill>
            <a:srgbClr val="E8F2FA"/>
          </a:solidFill>
          <a:ln w="762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Bằng chứng kỳ vọng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2176272"/>
            <a:ext cx="146304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DOCX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148840" y="2176272"/>
            <a:ext cx="48006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Heading, đoạn văn, bullet, bảng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949440" y="2176272"/>
            <a:ext cx="45720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Mục 1-3, Bảng 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85800" y="2615184"/>
            <a:ext cx="146304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PDF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148840" y="2615184"/>
            <a:ext cx="48006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Trang, bảng thuật ngữ, caption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949440" y="2615184"/>
            <a:ext cx="45720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Trang 1, Hình 1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85800" y="3054096"/>
            <a:ext cx="146304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PPTX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148840" y="3054096"/>
            <a:ext cx="48006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Slide title, bullet, bảng nhỏ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949440" y="3054096"/>
            <a:ext cx="45720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Slide 2-3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85800" y="3493008"/>
            <a:ext cx="146304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PNG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148840" y="3493008"/>
            <a:ext cx="48006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Ảnh scan có chữ và bảng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949440" y="3493008"/>
            <a:ext cx="45720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OCR đọc đúng tiêu đề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85800" y="3931920"/>
            <a:ext cx="146304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XLSX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148840" y="3931920"/>
            <a:ext cx="48006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Sheet dữ liệu + sheet tóm tắt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949440" y="3931920"/>
            <a:ext cx="45720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Hàng/cột rõ ràng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85800" y="4828032"/>
            <a:ext cx="10835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Bảng 1: Ma trận dữ liệu trùng lặp một phần giữa các định dạng để test retrieval đa tài liệu.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13232" y="5623560"/>
            <a:ext cx="6766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Câu hỏi cuối slide: “Định dạng nào phù hợp nhất để kiểm tra OCR?”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94360" y="64465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Tài liệu mẫu RAG | Slide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498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D4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Câu hỏi mẫu cho hệ thống RAG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67665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Dùng các câu hỏi này để kiểm tra grounding, source trace và khả năng tổng hợp.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10185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91640"/>
            <a:ext cx="54864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4E69"/>
                </a:solidFill>
              </a:rPr>
              <a:t>Q1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08760" y="1691640"/>
            <a:ext cx="886968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RAG khác chatbot thường ở điểm nào?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441448"/>
            <a:ext cx="54864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4E69"/>
                </a:solidFill>
              </a:rPr>
              <a:t>Q2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08760" y="2441448"/>
            <a:ext cx="886968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OCR được dùng trong bước nào của pipeline?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3191256"/>
            <a:ext cx="54864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4E69"/>
                </a:solidFill>
              </a:rPr>
              <a:t>Q3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08760" y="3191256"/>
            <a:ext cx="886968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Chunking giúp cải thiện retrieval như thế nào?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3941064"/>
            <a:ext cx="54864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4E69"/>
                </a:solidFill>
              </a:rPr>
              <a:t>Q4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08760" y="3941064"/>
            <a:ext cx="886968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File XLSX có những sheet nào và dùng để test gì?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" y="4983480"/>
            <a:ext cx="24231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Kỳ vọng khi trả lời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7240" y="5394960"/>
            <a:ext cx="896112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Câu trả lời nên có: nội dung ngắn gọn, nguồn tài liệu, vị trí bằng chứng như trang / slide / sheet / caption, và không bịa thông tin ngoài tài liệu.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64465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Tài liệu mẫu RAG | Slide 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Hệ thống Multimodal RAG cho thư viện số học tập</dc:title>
  <dc:subject>Tài liệu mẫu test Multimodal RAG</dc:subject>
  <dc:creator>OpenAI</dc:creator>
  <cp:lastModifiedBy>OpenAI</cp:lastModifiedBy>
  <cp:revision>1</cp:revision>
  <dcterms:created xsi:type="dcterms:W3CDTF">2026-04-29T17:12:57Z</dcterms:created>
  <dcterms:modified xsi:type="dcterms:W3CDTF">2026-04-29T17:12:57Z</dcterms:modified>
</cp:coreProperties>
</file>