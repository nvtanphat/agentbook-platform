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66"/>
  </p:notesMasterIdLst>
  <p:handoutMasterIdLst>
    <p:handoutMasterId r:id="rId67"/>
  </p:handoutMasterIdLst>
  <p:sldIdLst>
    <p:sldId id="259" r:id="rId2"/>
    <p:sldId id="279" r:id="rId3"/>
    <p:sldId id="280" r:id="rId4"/>
    <p:sldId id="281"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300"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2" r:id="rId44"/>
    <p:sldId id="323" r:id="rId45"/>
    <p:sldId id="324" r:id="rId46"/>
    <p:sldId id="325" r:id="rId47"/>
    <p:sldId id="326" r:id="rId48"/>
    <p:sldId id="327" r:id="rId49"/>
    <p:sldId id="328" r:id="rId50"/>
    <p:sldId id="329" r:id="rId51"/>
    <p:sldId id="330" r:id="rId52"/>
    <p:sldId id="331" r:id="rId53"/>
    <p:sldId id="332" r:id="rId54"/>
    <p:sldId id="333" r:id="rId55"/>
    <p:sldId id="334" r:id="rId56"/>
    <p:sldId id="335" r:id="rId57"/>
    <p:sldId id="336" r:id="rId58"/>
    <p:sldId id="337" r:id="rId59"/>
    <p:sldId id="338" r:id="rId60"/>
    <p:sldId id="339" r:id="rId61"/>
    <p:sldId id="340" r:id="rId62"/>
    <p:sldId id="341" r:id="rId63"/>
    <p:sldId id="342" r:id="rId64"/>
    <p:sldId id="344" r:id="rId65"/>
  </p:sldIdLst>
  <p:sldSz cx="9144000" cy="6858000" type="screen4x3"/>
  <p:notesSz cx="6858000" cy="9144000"/>
  <p:custDataLst>
    <p:tags r:id="rId6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79CC93D-E52E-4D84-901B-11D7331DD495}">
          <p14:sldIdLst>
            <p14:sldId id="259"/>
          </p14:sldIdLst>
        </p14:section>
        <p14:section name="4_Các hệ đếm trong tin học" id="{3B052F88-054C-49A7-B2F0-48B12E08B669}">
          <p14:sldIdLst>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300"/>
          </p14:sldIdLst>
        </p14:section>
        <p14:section name="5_Biểu diễn dữ liệu" id="{A1057B28-24A2-4481-8B44-930A32D19CCB}">
          <p14:sldIdLst>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2"/>
          </p14:sldIdLst>
        </p14:section>
        <p14:section name="6_Thuật toán" id="{2FF348CA-E19E-468D-AE8A-EEBF5D0D43E1}">
          <p14:sldIdLst>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9ED6"/>
    <a:srgbClr val="003300"/>
  </p:clrMru>
  <p:extLst>
    <p:ext uri="{E76CE94A-603C-4142-B9EB-6D1370010A27}">
      <p14:discardImageEditData xmlns:p14="http://schemas.microsoft.com/office/powerpoint/2010/main" val="1"/>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64" autoAdjust="0"/>
    <p:restoredTop sz="83949" autoAdjust="0"/>
  </p:normalViewPr>
  <p:slideViewPr>
    <p:cSldViewPr>
      <p:cViewPr varScale="1">
        <p:scale>
          <a:sx n="94" d="100"/>
          <a:sy n="94" d="100"/>
        </p:scale>
        <p:origin x="19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4" d="100"/>
        <a:sy n="154" d="100"/>
      </p:scale>
      <p:origin x="0" y="4608"/>
    </p:cViewPr>
  </p:sorterViewPr>
  <p:notesViewPr>
    <p:cSldViewPr>
      <p:cViewPr varScale="1">
        <p:scale>
          <a:sx n="83" d="100"/>
          <a:sy n="83" d="100"/>
        </p:scale>
        <p:origin x="-314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83FDC75-7F73-4A4A-A77C-09AADF00E0EA}" type="datetimeFigureOut">
              <a:rPr lang="en-US" smtClean="0"/>
              <a:pPr/>
              <a:t>7/26/2019</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59226BF-1F13-42D3-80DC-373E7ADD1EBC}" type="slidenum">
              <a:rPr lang="en-US" smtClean="0"/>
              <a:pPr/>
              <a:t>‹#›</a:t>
            </a:fld>
            <a:endParaRPr lang="en-US" dirty="0"/>
          </a:p>
        </p:txBody>
      </p:sp>
    </p:spTree>
    <p:extLst>
      <p:ext uri="{BB962C8B-B14F-4D97-AF65-F5344CB8AC3E}">
        <p14:creationId xmlns:p14="http://schemas.microsoft.com/office/powerpoint/2010/main" val="5158118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AEF76B-3757-4A0B-AF93-28494465C1DD}" type="datetimeFigureOut">
              <a:rPr lang="en-US" smtClean="0"/>
              <a:pPr/>
              <a:t>7/26/2019</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693FD4-8F83-4EF7-AC3F-0DC0388986B0}" type="slidenum">
              <a:rPr lang="en-US" smtClean="0"/>
              <a:pPr/>
              <a:t>‹#›</a:t>
            </a:fld>
            <a:endParaRPr lang="en-US" dirty="0"/>
          </a:p>
        </p:txBody>
      </p:sp>
    </p:spTree>
    <p:extLst>
      <p:ext uri="{BB962C8B-B14F-4D97-AF65-F5344CB8AC3E}">
        <p14:creationId xmlns:p14="http://schemas.microsoft.com/office/powerpoint/2010/main" val="173542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pPr/>
              <a:t>1</a:t>
            </a:fld>
            <a:endParaRPr lang="en-US"/>
          </a:p>
        </p:txBody>
      </p:sp>
    </p:spTree>
    <p:extLst>
      <p:ext uri="{BB962C8B-B14F-4D97-AF65-F5344CB8AC3E}">
        <p14:creationId xmlns:p14="http://schemas.microsoft.com/office/powerpoint/2010/main" val="2864901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fld id="{75693FD4-8F83-4EF7-AC3F-0DC0388986B0}" type="slidenum">
              <a:rPr lang="en-US" smtClean="0"/>
              <a:pPr/>
              <a:t>43</a:t>
            </a:fld>
            <a:endParaRPr lang="en-US" dirty="0"/>
          </a:p>
        </p:txBody>
      </p:sp>
    </p:spTree>
    <p:extLst>
      <p:ext uri="{BB962C8B-B14F-4D97-AF65-F5344CB8AC3E}">
        <p14:creationId xmlns:p14="http://schemas.microsoft.com/office/powerpoint/2010/main" val="4331950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2" name="Title 1"/>
          <p:cNvSpPr>
            <a:spLocks noGrp="1"/>
          </p:cNvSpPr>
          <p:nvPr>
            <p:ph type="ctrTitle" hasCustomPrompt="1"/>
          </p:nvPr>
        </p:nvSpPr>
        <p:spPr>
          <a:xfrm>
            <a:off x="2590800" y="2286000"/>
            <a:ext cx="6180224" cy="1470025"/>
          </a:xfrm>
        </p:spPr>
        <p:txBody>
          <a:bodyPr anchor="t"/>
          <a:lstStyle>
            <a:lvl1pPr algn="r">
              <a:defRPr b="1" cap="small" baseline="0">
                <a:solidFill>
                  <a:srgbClr val="003300"/>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962400" y="4038600"/>
            <a:ext cx="4772528" cy="990600"/>
          </a:xfrm>
        </p:spPr>
        <p:txBody>
          <a:bodyPr>
            <a:normAutofit/>
          </a:bodyPr>
          <a:lstStyle>
            <a:lvl1pPr marL="0" indent="0" algn="r">
              <a:buNone/>
              <a:defRPr sz="2000" b="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251"/>
            <a:ext cx="3721618" cy="6858000"/>
          </a:xfrm>
          <a:prstGeom prst="rect">
            <a:avLst/>
          </a:prstGeom>
        </p:spPr>
      </p:pic>
      <p:sp>
        <p:nvSpPr>
          <p:cNvPr id="10" name="Picture Placeholder 9"/>
          <p:cNvSpPr>
            <a:spLocks noGrp="1"/>
          </p:cNvSpPr>
          <p:nvPr>
            <p:ph type="pic" sz="quarter" idx="13" hasCustomPrompt="1"/>
          </p:nvPr>
        </p:nvSpPr>
        <p:spPr>
          <a:xfrm>
            <a:off x="6858000" y="5105400"/>
            <a:ext cx="1828800" cy="990600"/>
          </a:xfrm>
        </p:spPr>
        <p:txBody>
          <a:bodyPr>
            <a:normAutofit/>
          </a:bodyPr>
          <a:lstStyle>
            <a:lvl1pPr marL="0" indent="0" algn="ctr">
              <a:buNone/>
              <a:defRPr sz="2000" baseline="0"/>
            </a:lvl1pPr>
          </a:lstStyle>
          <a:p>
            <a:r>
              <a:rPr lang="en-US" dirty="0" smtClean="0"/>
              <a:t>Company Logo</a:t>
            </a:r>
            <a:endParaRPr lang="en-US"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5400000">
            <a:off x="3161049" y="-3176815"/>
            <a:ext cx="2819400" cy="9173031"/>
          </a:xfrm>
          <a:prstGeom prst="rect">
            <a:avLst/>
          </a:prstGeom>
        </p:spPr>
      </p:pic>
      <p:sp>
        <p:nvSpPr>
          <p:cNvPr id="2" name="Title 1"/>
          <p:cNvSpPr>
            <a:spLocks noGrp="1"/>
          </p:cNvSpPr>
          <p:nvPr>
            <p:ph type="title" hasCustomPrompt="1"/>
          </p:nvPr>
        </p:nvSpPr>
        <p:spPr>
          <a:xfrm>
            <a:off x="4572000" y="3048000"/>
            <a:ext cx="4343400" cy="1362075"/>
          </a:xfrm>
        </p:spPr>
        <p:txBody>
          <a:bodyPr anchor="b" anchorCtr="0"/>
          <a:lstStyle>
            <a:lvl1pPr algn="l">
              <a:defRPr sz="4000" b="1" cap="small" baseline="0">
                <a:solidFill>
                  <a:srgbClr val="003300"/>
                </a:solidFill>
              </a:defRPr>
            </a:lvl1pPr>
          </a:lstStyle>
          <a:p>
            <a:r>
              <a:rPr lang="en-US" dirty="0" smtClean="0"/>
              <a:t>Click to edit master title style</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vi-VN" smtClean="0"/>
              <a:t>Trung tâm máy tính, Trường Đại học Công nghệ, ĐHQGHN</a:t>
            </a:r>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
        <p:nvSpPr>
          <p:cNvPr id="10" name="Picture Placeholder 9"/>
          <p:cNvSpPr>
            <a:spLocks noGrp="1"/>
          </p:cNvSpPr>
          <p:nvPr>
            <p:ph type="pic" sz="quarter" idx="13" hasCustomPrompt="1"/>
          </p:nvPr>
        </p:nvSpPr>
        <p:spPr>
          <a:xfrm>
            <a:off x="6781800" y="5334000"/>
            <a:ext cx="2133600" cy="990600"/>
          </a:xfrm>
        </p:spPr>
        <p:txBody>
          <a:bodyPr>
            <a:normAutofit/>
          </a:bodyPr>
          <a:lstStyle>
            <a:lvl1pPr marL="0" indent="0" algn="ctr">
              <a:buNone/>
              <a:defRPr sz="1800"/>
            </a:lvl1pPr>
          </a:lstStyle>
          <a:p>
            <a:r>
              <a:rPr lang="en-US" dirty="0" smtClean="0"/>
              <a:t>Company Logo</a:t>
            </a:r>
            <a:endParaRPr lang="en-US" dirty="0"/>
          </a:p>
        </p:txBody>
      </p:sp>
    </p:spTree>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0" y="269632"/>
            <a:ext cx="8077200" cy="1143000"/>
          </a:xfrm>
        </p:spPr>
        <p:txBody>
          <a:bodyPr anchor="ctr" anchorCtr="0"/>
          <a:lstStyle>
            <a:lvl1pPr algn="l">
              <a:defRPr lang="en-US" dirty="0"/>
            </a:lvl1pPr>
          </a:lstStyle>
          <a:p>
            <a:r>
              <a:rPr lang="en-US" dirty="0" smtClean="0"/>
              <a:t>Click To Edit Master Title Style</a:t>
            </a:r>
            <a:endParaRPr lang="en-US" dirty="0"/>
          </a:p>
        </p:txBody>
      </p:sp>
      <p:sp>
        <p:nvSpPr>
          <p:cNvPr id="3" name="Content Placeholder 2"/>
          <p:cNvSpPr>
            <a:spLocks noGrp="1"/>
          </p:cNvSpPr>
          <p:nvPr>
            <p:ph idx="1"/>
          </p:nvPr>
        </p:nvSpPr>
        <p:spPr>
          <a:xfrm>
            <a:off x="762000" y="1596413"/>
            <a:ext cx="8077200" cy="4297363"/>
          </a:xfrm>
        </p:spPr>
        <p:txBody>
          <a:bodyPr>
            <a:normAutofit/>
          </a:bodyPr>
          <a:lstStyle>
            <a:lvl1pPr>
              <a:defRPr sz="3200">
                <a:latin typeface="+mn-lt"/>
              </a:defRPr>
            </a:lvl1pPr>
            <a:lvl2pPr>
              <a:defRPr sz="2800">
                <a:latin typeface="+mn-lt"/>
              </a:defRPr>
            </a:lvl2pPr>
            <a:lvl3pPr>
              <a:defRPr sz="2400">
                <a:latin typeface="+mn-lt"/>
              </a:defRPr>
            </a:lvl3pPr>
            <a:lvl4pPr>
              <a:defRPr sz="2400">
                <a:latin typeface="+mn-lt"/>
              </a:defRPr>
            </a:lvl4pPr>
            <a:lvl5pPr>
              <a:defRPr sz="2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vi-VN" smtClean="0"/>
              <a:t>Trung tâm máy tính, Trường Đại học Công nghệ, ĐHQGHN</a:t>
            </a:r>
            <a:endParaRPr lang="en-US" dirty="0"/>
          </a:p>
        </p:txBody>
      </p:sp>
      <p:sp>
        <p:nvSpPr>
          <p:cNvPr id="6"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768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vi-VN" smtClean="0"/>
              <a:t>Trung tâm máy tính, Trường Đại học Công nghệ, ĐHQGHN</a:t>
            </a:r>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858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8736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8736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r>
              <a:rPr lang="vi-VN" smtClean="0"/>
              <a:t>Trung tâm máy tính, Trường Đại học Công nghệ, ĐHQGHN</a:t>
            </a:r>
            <a:endParaRPr lang="en-US" dirty="0"/>
          </a:p>
        </p:txBody>
      </p:sp>
      <p:sp>
        <p:nvSpPr>
          <p:cNvPr id="9" name="Slide Number Placeholder 8"/>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036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858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vi-VN" smtClean="0"/>
              <a:t>Trung tâm máy tính, Trường Đại học Công nghệ, ĐHQGHN</a:t>
            </a:r>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r>
              <a:rPr lang="vi-VN" smtClean="0"/>
              <a:t>Trung tâm máy tính, Trường Đại học Công nghệ, ĐHQGHN</a:t>
            </a:r>
            <a:endParaRPr lang="en-US" dirty="0"/>
          </a:p>
        </p:txBody>
      </p:sp>
      <p:sp>
        <p:nvSpPr>
          <p:cNvPr id="7" name="Slide Number Placeholder 6"/>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vi-VN" smtClean="0"/>
              <a:t>Trung tâm máy tính, Trường Đại học Công nghệ, ĐHQGHN</a:t>
            </a:r>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274638"/>
            <a:ext cx="5867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r>
              <a:rPr lang="vi-VN" smtClean="0"/>
              <a:t>Trung tâm máy tính, Trường Đại học Công nghệ, ĐHQGHN</a:t>
            </a:r>
            <a:endParaRPr lang="en-US" dirty="0"/>
          </a:p>
        </p:txBody>
      </p:sp>
      <p:sp>
        <p:nvSpPr>
          <p:cNvPr id="6" name="Slide Number Placeholder 5"/>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r>
              <a:rPr lang="vi-VN" smtClean="0"/>
              <a:t>Trung tâm máy tính, Trường Đại học Công nghệ, ĐHQGHN</a:t>
            </a:r>
            <a:endParaRPr lang="en-US" dirty="0"/>
          </a:p>
        </p:txBody>
      </p:sp>
      <p:sp>
        <p:nvSpPr>
          <p:cNvPr id="5" name="Slide Number Placeholder 4"/>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r>
              <a:rPr lang="vi-VN" smtClean="0"/>
              <a:t>Trung tâm máy tính, Trường Đại học Công nghệ, ĐHQGHN</a:t>
            </a:r>
            <a:endParaRPr lang="en-US" dirty="0"/>
          </a:p>
        </p:txBody>
      </p:sp>
      <p:sp>
        <p:nvSpPr>
          <p:cNvPr id="4" name="Slide Number Placeholder 3"/>
          <p:cNvSpPr>
            <a:spLocks noGrp="1"/>
          </p:cNvSpPr>
          <p:nvPr>
            <p:ph type="sldNum" sz="quarter" idx="12"/>
          </p:nvPr>
        </p:nvSpPr>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ackground Only">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3" name="Date Placeholder 3"/>
          <p:cNvSpPr>
            <a:spLocks noGrp="1"/>
          </p:cNvSpPr>
          <p:nvPr>
            <p:ph type="dt" sz="half" idx="10"/>
          </p:nvPr>
        </p:nvSpPr>
        <p:spPr>
          <a:xfrm>
            <a:off x="762000" y="6356350"/>
            <a:ext cx="2133600" cy="365125"/>
          </a:xfrm>
        </p:spPr>
        <p:txBody>
          <a:bodyPr/>
          <a:lstStyle/>
          <a:p>
            <a:endParaRPr lang="en-US" dirty="0"/>
          </a:p>
        </p:txBody>
      </p:sp>
      <p:sp>
        <p:nvSpPr>
          <p:cNvPr id="4" name="Footer Placeholder 4"/>
          <p:cNvSpPr>
            <a:spLocks noGrp="1"/>
          </p:cNvSpPr>
          <p:nvPr>
            <p:ph type="ftr" sz="quarter" idx="11"/>
          </p:nvPr>
        </p:nvSpPr>
        <p:spPr>
          <a:xfrm>
            <a:off x="3352800" y="6356350"/>
            <a:ext cx="2895600" cy="365125"/>
          </a:xfrm>
        </p:spPr>
        <p:txBody>
          <a:bodyPr/>
          <a:lstStyle/>
          <a:p>
            <a:r>
              <a:rPr lang="vi-VN" smtClean="0"/>
              <a:t>Trung tâm máy tính, Trường Đại học Công nghệ, ĐHQGHN</a:t>
            </a:r>
            <a:endParaRPr lang="en-US" dirty="0"/>
          </a:p>
        </p:txBody>
      </p:sp>
      <p:sp>
        <p:nvSpPr>
          <p:cNvPr id="5" name="Slide Number Placeholder 5"/>
          <p:cNvSpPr>
            <a:spLocks noGrp="1"/>
          </p:cNvSpPr>
          <p:nvPr>
            <p:ph type="sldNum" sz="quarter" idx="12"/>
          </p:nvPr>
        </p:nvSpPr>
        <p:spPr>
          <a:xfrm>
            <a:off x="6705600" y="6356350"/>
            <a:ext cx="2133600" cy="365125"/>
          </a:xfrm>
        </p:spPr>
        <p:txBody>
          <a:bodyPr/>
          <a:lstStyle/>
          <a:p>
            <a:fld id="{33D6E5A2-EC83-451F-A719-9AC1370DD5CF}" type="slidenum">
              <a:rPr lang="en-US" smtClean="0"/>
              <a:pPr/>
              <a:t>‹#›</a:t>
            </a:fld>
            <a:endParaRPr lang="en-US" dirty="0"/>
          </a:p>
        </p:txBody>
      </p:sp>
    </p:spTree>
  </p:cSld>
  <p:clrMapOvr>
    <a:masterClrMapping/>
  </p:clrMapOvr>
  <p:transition spd="slow">
    <p:wipe dir="d"/>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838200" y="1905000"/>
            <a:ext cx="3770313" cy="4181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0913" y="1905000"/>
            <a:ext cx="3770312" cy="4181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r>
              <a:rPr lang="vi-VN" smtClean="0"/>
              <a:t>Trung tâm máy tính, Trường Đại học Công nghệ, ĐHQGHN</a:t>
            </a:r>
            <a:endParaRPr lang="en-US"/>
          </a:p>
        </p:txBody>
      </p:sp>
      <p:sp>
        <p:nvSpPr>
          <p:cNvPr id="7" name="Rectangle 13"/>
          <p:cNvSpPr>
            <a:spLocks noGrp="1" noChangeArrowheads="1"/>
          </p:cNvSpPr>
          <p:nvPr>
            <p:ph type="sldNum" sz="quarter" idx="12"/>
          </p:nvPr>
        </p:nvSpPr>
        <p:spPr>
          <a:ln/>
        </p:spPr>
        <p:txBody>
          <a:bodyPr/>
          <a:lstStyle>
            <a:lvl1pPr>
              <a:defRPr/>
            </a:lvl1pPr>
          </a:lstStyle>
          <a:p>
            <a:fld id="{FDD90BCD-43AA-4D7F-ABFC-3A464107C647}" type="slidenum">
              <a:rPr lang="en-US" altLang="vi-VN"/>
              <a:pPr/>
              <a:t>‹#›</a:t>
            </a:fld>
            <a:endParaRPr lang="en-US" altLang="vi-VN"/>
          </a:p>
        </p:txBody>
      </p:sp>
    </p:spTree>
    <p:extLst>
      <p:ext uri="{BB962C8B-B14F-4D97-AF65-F5344CB8AC3E}">
        <p14:creationId xmlns:p14="http://schemas.microsoft.com/office/powerpoint/2010/main" val="98492749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838200"/>
          </a:xfrm>
        </p:spPr>
        <p:txBody>
          <a:bodyPr/>
          <a:lstStyle/>
          <a:p>
            <a:r>
              <a:rPr lang="en-US" smtClean="0"/>
              <a:t>Click to edit Master title style</a:t>
            </a:r>
            <a:endParaRPr lang="vi-VN"/>
          </a:p>
        </p:txBody>
      </p:sp>
      <p:sp>
        <p:nvSpPr>
          <p:cNvPr id="3" name="Text Placeholder 2"/>
          <p:cNvSpPr>
            <a:spLocks noGrp="1"/>
          </p:cNvSpPr>
          <p:nvPr>
            <p:ph type="body" sz="half" idx="1"/>
          </p:nvPr>
        </p:nvSpPr>
        <p:spPr>
          <a:xfrm>
            <a:off x="838200" y="1905000"/>
            <a:ext cx="3770313" cy="4181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quarter" idx="2"/>
          </p:nvPr>
        </p:nvSpPr>
        <p:spPr>
          <a:xfrm>
            <a:off x="4760913" y="1905000"/>
            <a:ext cx="3770312" cy="20145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Content Placeholder 4"/>
          <p:cNvSpPr>
            <a:spLocks noGrp="1"/>
          </p:cNvSpPr>
          <p:nvPr>
            <p:ph sz="quarter" idx="3"/>
          </p:nvPr>
        </p:nvSpPr>
        <p:spPr>
          <a:xfrm>
            <a:off x="4760913" y="4071938"/>
            <a:ext cx="3770312" cy="20145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Date Placeholder 5"/>
          <p:cNvSpPr>
            <a:spLocks noGrp="1"/>
          </p:cNvSpPr>
          <p:nvPr>
            <p:ph type="dt" sz="half" idx="10"/>
          </p:nvPr>
        </p:nvSpPr>
        <p:spPr>
          <a:xfrm>
            <a:off x="2438400" y="6248400"/>
            <a:ext cx="2130425" cy="474663"/>
          </a:xfrm>
        </p:spPr>
        <p:txBody>
          <a:bodyPr/>
          <a:lstStyle>
            <a:lvl1pPr>
              <a:defRPr/>
            </a:lvl1pPr>
          </a:lstStyle>
          <a:p>
            <a:endParaRPr lang="en-US" altLang="vi-VN"/>
          </a:p>
        </p:txBody>
      </p:sp>
      <p:sp>
        <p:nvSpPr>
          <p:cNvPr id="7" name="Footer Placeholder 6"/>
          <p:cNvSpPr>
            <a:spLocks noGrp="1"/>
          </p:cNvSpPr>
          <p:nvPr>
            <p:ph type="ftr" sz="quarter" idx="11"/>
          </p:nvPr>
        </p:nvSpPr>
        <p:spPr>
          <a:xfrm>
            <a:off x="5791200" y="6248400"/>
            <a:ext cx="2897188" cy="474663"/>
          </a:xfrm>
        </p:spPr>
        <p:txBody>
          <a:bodyPr/>
          <a:lstStyle>
            <a:lvl1pPr>
              <a:defRPr/>
            </a:lvl1pPr>
          </a:lstStyle>
          <a:p>
            <a:r>
              <a:rPr lang="vi-VN" altLang="vi-VN" smtClean="0"/>
              <a:t>Trung tâm máy tính, Trường Đại học Công nghệ, ĐHQGHN</a:t>
            </a:r>
            <a:endParaRPr lang="en-US" altLang="vi-VN"/>
          </a:p>
        </p:txBody>
      </p:sp>
      <p:sp>
        <p:nvSpPr>
          <p:cNvPr id="8" name="Slide Number Placeholder 7"/>
          <p:cNvSpPr>
            <a:spLocks noGrp="1"/>
          </p:cNvSpPr>
          <p:nvPr>
            <p:ph type="sldNum" sz="quarter" idx="12"/>
          </p:nvPr>
        </p:nvSpPr>
        <p:spPr>
          <a:xfrm>
            <a:off x="84138" y="6242050"/>
            <a:ext cx="587375" cy="488950"/>
          </a:xfrm>
        </p:spPr>
        <p:txBody>
          <a:bodyPr/>
          <a:lstStyle>
            <a:lvl1pPr>
              <a:defRPr/>
            </a:lvl1pPr>
          </a:lstStyle>
          <a:p>
            <a:fld id="{047A27E0-5CBC-4ECA-97BD-3224F99112AD}" type="slidenum">
              <a:rPr lang="en-US" altLang="vi-VN"/>
              <a:pPr/>
              <a:t>‹#›</a:t>
            </a:fld>
            <a:endParaRPr lang="en-US" altLang="vi-VN"/>
          </a:p>
        </p:txBody>
      </p:sp>
    </p:spTree>
    <p:extLst>
      <p:ext uri="{BB962C8B-B14F-4D97-AF65-F5344CB8AC3E}">
        <p14:creationId xmlns:p14="http://schemas.microsoft.com/office/powerpoint/2010/main" val="1881840798"/>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Media">
  <p:cSld name="Title, Text and Media Clip">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838200"/>
          </a:xfrm>
        </p:spPr>
        <p:txBody>
          <a:bodyPr/>
          <a:lstStyle/>
          <a:p>
            <a:r>
              <a:rPr lang="en-US" smtClean="0"/>
              <a:t>Click to edit Master title style</a:t>
            </a:r>
            <a:endParaRPr lang="vi-VN"/>
          </a:p>
        </p:txBody>
      </p:sp>
      <p:sp>
        <p:nvSpPr>
          <p:cNvPr id="3" name="Text Placeholder 2"/>
          <p:cNvSpPr>
            <a:spLocks noGrp="1"/>
          </p:cNvSpPr>
          <p:nvPr>
            <p:ph type="body" sz="half" idx="1"/>
          </p:nvPr>
        </p:nvSpPr>
        <p:spPr>
          <a:xfrm>
            <a:off x="838200" y="1905000"/>
            <a:ext cx="3770313" cy="4181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Media Placeholder 3"/>
          <p:cNvSpPr>
            <a:spLocks noGrp="1"/>
          </p:cNvSpPr>
          <p:nvPr>
            <p:ph type="media" sz="half" idx="2"/>
          </p:nvPr>
        </p:nvSpPr>
        <p:spPr>
          <a:xfrm>
            <a:off x="4760913" y="1905000"/>
            <a:ext cx="3770312" cy="4181475"/>
          </a:xfrm>
        </p:spPr>
        <p:txBody>
          <a:bodyPr/>
          <a:lstStyle/>
          <a:p>
            <a:endParaRPr lang="vi-VN"/>
          </a:p>
        </p:txBody>
      </p:sp>
      <p:sp>
        <p:nvSpPr>
          <p:cNvPr id="5" name="Date Placeholder 4"/>
          <p:cNvSpPr>
            <a:spLocks noGrp="1"/>
          </p:cNvSpPr>
          <p:nvPr>
            <p:ph type="dt" sz="half" idx="10"/>
          </p:nvPr>
        </p:nvSpPr>
        <p:spPr>
          <a:xfrm>
            <a:off x="2438400" y="6248400"/>
            <a:ext cx="2130425" cy="474663"/>
          </a:xfrm>
        </p:spPr>
        <p:txBody>
          <a:bodyPr/>
          <a:lstStyle>
            <a:lvl1pPr>
              <a:defRPr/>
            </a:lvl1pPr>
          </a:lstStyle>
          <a:p>
            <a:endParaRPr lang="en-US" altLang="vi-VN"/>
          </a:p>
        </p:txBody>
      </p:sp>
      <p:sp>
        <p:nvSpPr>
          <p:cNvPr id="6" name="Footer Placeholder 5"/>
          <p:cNvSpPr>
            <a:spLocks noGrp="1"/>
          </p:cNvSpPr>
          <p:nvPr>
            <p:ph type="ftr" sz="quarter" idx="11"/>
          </p:nvPr>
        </p:nvSpPr>
        <p:spPr>
          <a:xfrm>
            <a:off x="5791200" y="6248400"/>
            <a:ext cx="2897188" cy="474663"/>
          </a:xfrm>
        </p:spPr>
        <p:txBody>
          <a:bodyPr/>
          <a:lstStyle>
            <a:lvl1pPr>
              <a:defRPr/>
            </a:lvl1pPr>
          </a:lstStyle>
          <a:p>
            <a:r>
              <a:rPr lang="vi-VN" altLang="vi-VN" smtClean="0"/>
              <a:t>Trung tâm máy tính, Trường Đại học Công nghệ, ĐHQGHN</a:t>
            </a:r>
            <a:endParaRPr lang="en-US" altLang="vi-VN"/>
          </a:p>
        </p:txBody>
      </p:sp>
      <p:sp>
        <p:nvSpPr>
          <p:cNvPr id="7" name="Slide Number Placeholder 6"/>
          <p:cNvSpPr>
            <a:spLocks noGrp="1"/>
          </p:cNvSpPr>
          <p:nvPr>
            <p:ph type="sldNum" sz="quarter" idx="12"/>
          </p:nvPr>
        </p:nvSpPr>
        <p:spPr>
          <a:xfrm>
            <a:off x="84138" y="6242050"/>
            <a:ext cx="587375" cy="488950"/>
          </a:xfrm>
        </p:spPr>
        <p:txBody>
          <a:bodyPr/>
          <a:lstStyle>
            <a:lvl1pPr>
              <a:defRPr/>
            </a:lvl1pPr>
          </a:lstStyle>
          <a:p>
            <a:fld id="{E24645D8-D8A4-43E3-A1EF-4EF988AC492A}" type="slidenum">
              <a:rPr lang="en-US" altLang="vi-VN"/>
              <a:pPr/>
              <a:t>‹#›</a:t>
            </a:fld>
            <a:endParaRPr lang="en-US" altLang="vi-VN"/>
          </a:p>
        </p:txBody>
      </p:sp>
    </p:spTree>
    <p:extLst>
      <p:ext uri="{BB962C8B-B14F-4D97-AF65-F5344CB8AC3E}">
        <p14:creationId xmlns:p14="http://schemas.microsoft.com/office/powerpoint/2010/main" val="274383660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7" cstate="email">
            <a:extLst>
              <a:ext uri="{28A0092B-C50C-407E-A947-70E740481C1C}">
                <a14:useLocalDpi xmlns:a14="http://schemas.microsoft.com/office/drawing/2010/main"/>
              </a:ext>
            </a:extLst>
          </a:blip>
          <a:srcRect/>
          <a:stretch/>
        </p:blipFill>
        <p:spPr>
          <a:xfrm>
            <a:off x="43543" y="0"/>
            <a:ext cx="9100457" cy="6879771"/>
          </a:xfrm>
          <a:prstGeom prst="rect">
            <a:avLst/>
          </a:prstGeom>
        </p:spPr>
      </p:pic>
      <p:sp>
        <p:nvSpPr>
          <p:cNvPr id="2" name="Title Placeholder 1"/>
          <p:cNvSpPr>
            <a:spLocks noGrp="1"/>
          </p:cNvSpPr>
          <p:nvPr>
            <p:ph type="title"/>
          </p:nvPr>
        </p:nvSpPr>
        <p:spPr>
          <a:xfrm>
            <a:off x="762000" y="274638"/>
            <a:ext cx="80772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2000" y="1600200"/>
            <a:ext cx="80772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20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3528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smtClean="0"/>
              <a:t>Trung tâm máy tính, Trường Đại học Công nghệ, ĐHQGHN</a:t>
            </a:r>
            <a:endParaRPr lang="en-US" dirty="0"/>
          </a:p>
        </p:txBody>
      </p:sp>
      <p:sp>
        <p:nvSpPr>
          <p:cNvPr id="6" name="Slide Number Placeholder 5"/>
          <p:cNvSpPr>
            <a:spLocks noGrp="1"/>
          </p:cNvSpPr>
          <p:nvPr>
            <p:ph type="sldNum" sz="quarter" idx="4"/>
          </p:nvPr>
        </p:nvSpPr>
        <p:spPr>
          <a:xfrm>
            <a:off x="67056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6E5A2-EC83-451F-A719-9AC1370DD5CF}" type="slidenum">
              <a:rPr lang="en-US" smtClean="0"/>
              <a:pPr/>
              <a:t>‹#›</a:t>
            </a:fld>
            <a:endParaRPr lang="en-US" dirty="0"/>
          </a:p>
        </p:txBody>
      </p:sp>
      <p:pic>
        <p:nvPicPr>
          <p:cNvPr id="8" name="Picture 7"/>
          <p:cNvPicPr>
            <a:picLocks noChangeAspect="1"/>
          </p:cNvPicPr>
          <p:nvPr/>
        </p:nvPicPr>
        <p:blipFill rotWithShape="1">
          <a:blip r:embed="rId18" cstate="email">
            <a:extLst>
              <a:ext uri="{28A0092B-C50C-407E-A947-70E740481C1C}">
                <a14:useLocalDpi xmlns:a14="http://schemas.microsoft.com/office/drawing/2010/main"/>
              </a:ext>
            </a:extLst>
          </a:blip>
          <a:srcRect/>
          <a:stretch/>
        </p:blipFill>
        <p:spPr>
          <a:xfrm>
            <a:off x="-152400" y="-109183"/>
            <a:ext cx="818707" cy="708318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6" r:id="rId6"/>
    <p:sldLayoutId id="2147483657" r:id="rId7"/>
    <p:sldLayoutId id="2147483658" r:id="rId8"/>
    <p:sldLayoutId id="2147483659" r:id="rId9"/>
    <p:sldLayoutId id="2147483654" r:id="rId10"/>
    <p:sldLayoutId id="2147483655" r:id="rId11"/>
    <p:sldLayoutId id="2147483663" r:id="rId12"/>
    <p:sldLayoutId id="2147483664" r:id="rId13"/>
    <p:sldLayoutId id="2147483665" r:id="rId14"/>
    <p:sldLayoutId id="2147483666" r:id="rId15"/>
  </p:sldLayoutIdLst>
  <p:transition spd="slow">
    <p:wipe dir="d"/>
  </p:transition>
  <p:timing>
    <p:tnLst>
      <p:par>
        <p:cTn id="1" dur="indefinite" restart="never" nodeType="tmRoot"/>
      </p:par>
    </p:tnLst>
  </p:timing>
  <p:hf sldNum="0" hdr="0" dt="0"/>
  <p:txStyles>
    <p:titleStyle>
      <a:lvl1pPr algn="l" defTabSz="914400" rtl="0" eaLnBrk="1" latinLnBrk="0" hangingPunct="1">
        <a:spcBef>
          <a:spcPct val="0"/>
        </a:spcBef>
        <a:buNone/>
        <a:defRPr lang="en-US" sz="4400" b="0" i="0" u="none" kern="1200" dirty="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en.wikipedia.org/wiki/Image:General_floating_point.PNG" TargetMode="External"/><Relationship Id="rId1" Type="http://schemas.openxmlformats.org/officeDocument/2006/relationships/slideLayout" Target="../slideLayouts/slideLayout14.xml"/><Relationship Id="rId5" Type="http://schemas.openxmlformats.org/officeDocument/2006/relationships/image" Target="../media/image8.png"/><Relationship Id="rId4" Type="http://schemas.openxmlformats.org/officeDocument/2006/relationships/hyperlink" Target="http://en.wikipedia.org/wiki/Image:Float_example.PN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15.xml"/><Relationship Id="rId1" Type="http://schemas.openxmlformats.org/officeDocument/2006/relationships/vmlDrawing" Target="../drawings/vmlDrawing2.vml"/><Relationship Id="rId5" Type="http://schemas.openxmlformats.org/officeDocument/2006/relationships/image" Target="../media/image13.png"/><Relationship Id="rId4" Type="http://schemas.openxmlformats.org/officeDocument/2006/relationships/oleObject" Target="../embeddings/oleObject2.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image" Target="../media/image6.wmf"/><Relationship Id="rId4" Type="http://schemas.openxmlformats.org/officeDocument/2006/relationships/oleObject" Target="../embeddings/oleObject3.bin"/></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3.xml"/><Relationship Id="rId1" Type="http://schemas.openxmlformats.org/officeDocument/2006/relationships/vmlDrawing" Target="../drawings/vmlDrawing4.vml"/><Relationship Id="rId4" Type="http://schemas.openxmlformats.org/officeDocument/2006/relationships/image" Target="../media/image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p:txBody>
          <a:bodyPr>
            <a:normAutofit fontScale="90000"/>
          </a:bodyPr>
          <a:lstStyle/>
          <a:p>
            <a:pPr algn="ctr"/>
            <a:r>
              <a:rPr lang="en-US" dirty="0" smtClean="0"/>
              <a:t>Tin </a:t>
            </a:r>
            <a:r>
              <a:rPr lang="en-US" dirty="0" err="1" smtClean="0"/>
              <a:t>học</a:t>
            </a:r>
            <a:r>
              <a:rPr lang="en-US" dirty="0" smtClean="0"/>
              <a:t> </a:t>
            </a:r>
            <a:r>
              <a:rPr lang="en-US" dirty="0" err="1" smtClean="0"/>
              <a:t>cơ</a:t>
            </a:r>
            <a:r>
              <a:rPr lang="en-US" dirty="0" smtClean="0"/>
              <a:t> </a:t>
            </a:r>
            <a:r>
              <a:rPr lang="en-US" dirty="0" err="1" smtClean="0"/>
              <a:t>sở</a:t>
            </a:r>
            <a:r>
              <a:rPr lang="en-US" dirty="0" smtClean="0"/>
              <a:t> 2</a:t>
            </a:r>
            <a:br>
              <a:rPr lang="en-US" dirty="0" smtClean="0"/>
            </a:br>
            <a:r>
              <a:rPr lang="en-US" dirty="0" err="1" smtClean="0"/>
              <a:t>phần</a:t>
            </a:r>
            <a:r>
              <a:rPr lang="en-US" dirty="0" smtClean="0"/>
              <a:t> </a:t>
            </a:r>
            <a:r>
              <a:rPr lang="en-US" dirty="0" err="1" smtClean="0"/>
              <a:t>lý</a:t>
            </a:r>
            <a:r>
              <a:rPr lang="en-US" dirty="0" smtClean="0"/>
              <a:t> </a:t>
            </a:r>
            <a:r>
              <a:rPr lang="en-US" dirty="0" err="1" smtClean="0"/>
              <a:t>thuyết</a:t>
            </a:r>
            <a:r>
              <a:rPr lang="en-US" dirty="0" smtClean="0"/>
              <a:t> </a:t>
            </a:r>
            <a:br>
              <a:rPr lang="en-US" dirty="0" smtClean="0"/>
            </a:br>
            <a:endParaRPr lang="en-US" dirty="0"/>
          </a:p>
        </p:txBody>
      </p:sp>
    </p:spTree>
    <p:custDataLst>
      <p:tags r:id="rId1"/>
    </p:custDataLst>
  </p:cSld>
  <p:clrMapOvr>
    <a:masterClrMapping/>
  </p:clrMapOvr>
  <p:transition spd="slow">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895600"/>
            <a:ext cx="6934200" cy="762000"/>
          </a:xfrm>
        </p:spPr>
        <p:txBody>
          <a:bodyPr/>
          <a:lstStyle/>
          <a:p>
            <a:r>
              <a:rPr lang="en-US" dirty="0" err="1" smtClean="0"/>
              <a:t>Bài</a:t>
            </a:r>
            <a:r>
              <a:rPr lang="en-US" dirty="0" smtClean="0"/>
              <a:t> 4. </a:t>
            </a:r>
            <a:r>
              <a:rPr lang="en-US" dirty="0" err="1" smtClean="0"/>
              <a:t>Các</a:t>
            </a:r>
            <a:r>
              <a:rPr lang="en-US" dirty="0" smtClean="0"/>
              <a:t> </a:t>
            </a:r>
            <a:r>
              <a:rPr lang="en-US" dirty="0" err="1" smtClean="0"/>
              <a:t>hệ</a:t>
            </a:r>
            <a:r>
              <a:rPr lang="en-US" dirty="0" smtClean="0"/>
              <a:t> </a:t>
            </a:r>
            <a:r>
              <a:rPr lang="en-US" dirty="0" err="1" smtClean="0"/>
              <a:t>đếm</a:t>
            </a:r>
            <a:endParaRPr lang="vi-VN" dirty="0"/>
          </a:p>
        </p:txBody>
      </p:sp>
      <p:sp>
        <p:nvSpPr>
          <p:cNvPr id="4" name="Footer Placeholder 3"/>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3946724669"/>
      </p:ext>
    </p:extLst>
  </p:cSld>
  <p:clrMapOvr>
    <a:masterClrMapping/>
  </p:clrMapOvr>
  <p:transition spd="slow">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p:cNvSpPr>
            <a:spLocks noGrp="1" noChangeArrowheads="1"/>
          </p:cNvSpPr>
          <p:nvPr>
            <p:ph type="title"/>
          </p:nvPr>
        </p:nvSpPr>
        <p:spPr/>
        <p:txBody>
          <a:bodyPr/>
          <a:lstStyle/>
          <a:p>
            <a:pPr eaLnBrk="1" hangingPunct="1"/>
            <a:r>
              <a:rPr lang="en-US" altLang="vi-VN" smtClean="0"/>
              <a:t>NỘI DUNG</a:t>
            </a:r>
          </a:p>
        </p:txBody>
      </p:sp>
      <p:sp>
        <p:nvSpPr>
          <p:cNvPr id="5123" name="Rectangle 3"/>
          <p:cNvSpPr>
            <a:spLocks noGrp="1" noChangeArrowheads="1"/>
          </p:cNvSpPr>
          <p:nvPr>
            <p:ph type="body" idx="1"/>
          </p:nvPr>
        </p:nvSpPr>
        <p:spPr>
          <a:xfrm>
            <a:off x="838200" y="1676400"/>
            <a:ext cx="7693025" cy="3876675"/>
          </a:xfrm>
        </p:spPr>
        <p:txBody>
          <a:bodyPr/>
          <a:lstStyle/>
          <a:p>
            <a:pPr eaLnBrk="1" hangingPunct="1"/>
            <a:r>
              <a:rPr lang="en-US" altLang="vi-VN" dirty="0" err="1" smtClean="0"/>
              <a:t>Hệ</a:t>
            </a:r>
            <a:r>
              <a:rPr lang="en-US" altLang="vi-VN" dirty="0" smtClean="0"/>
              <a:t> </a:t>
            </a:r>
            <a:r>
              <a:rPr lang="en-US" altLang="vi-VN" dirty="0" err="1" smtClean="0"/>
              <a:t>đếm</a:t>
            </a:r>
            <a:endParaRPr lang="en-US" altLang="vi-VN" dirty="0" smtClean="0"/>
          </a:p>
          <a:p>
            <a:pPr eaLnBrk="1" hangingPunct="1"/>
            <a:r>
              <a:rPr lang="en-US" altLang="vi-VN" dirty="0" err="1" smtClean="0"/>
              <a:t>Hệ</a:t>
            </a:r>
            <a:r>
              <a:rPr lang="en-US" altLang="vi-VN" dirty="0" smtClean="0"/>
              <a:t> </a:t>
            </a:r>
            <a:r>
              <a:rPr lang="en-US" altLang="vi-VN" dirty="0" err="1" smtClean="0"/>
              <a:t>đếm</a:t>
            </a:r>
            <a:r>
              <a:rPr lang="en-US" altLang="vi-VN" dirty="0" smtClean="0"/>
              <a:t> </a:t>
            </a:r>
            <a:r>
              <a:rPr lang="en-US" altLang="vi-VN" dirty="0" err="1" smtClean="0"/>
              <a:t>nhị</a:t>
            </a:r>
            <a:r>
              <a:rPr lang="en-US" altLang="vi-VN" dirty="0" smtClean="0"/>
              <a:t> </a:t>
            </a:r>
            <a:r>
              <a:rPr lang="en-US" altLang="vi-VN" dirty="0" err="1" smtClean="0"/>
              <a:t>phân</a:t>
            </a:r>
            <a:r>
              <a:rPr lang="en-US" altLang="vi-VN" dirty="0" smtClean="0"/>
              <a:t> </a:t>
            </a:r>
            <a:r>
              <a:rPr lang="en-US" altLang="vi-VN" dirty="0" err="1" smtClean="0"/>
              <a:t>và</a:t>
            </a:r>
            <a:r>
              <a:rPr lang="en-US" altLang="vi-VN" dirty="0" smtClean="0"/>
              <a:t> </a:t>
            </a:r>
            <a:r>
              <a:rPr lang="en-US" altLang="vi-VN" dirty="0" err="1" smtClean="0"/>
              <a:t>hệ</a:t>
            </a:r>
            <a:r>
              <a:rPr lang="en-US" altLang="vi-VN" dirty="0" smtClean="0"/>
              <a:t> </a:t>
            </a:r>
            <a:r>
              <a:rPr lang="en-US" altLang="vi-VN" dirty="0" err="1" smtClean="0"/>
              <a:t>đếm</a:t>
            </a:r>
            <a:r>
              <a:rPr lang="en-US" altLang="vi-VN" dirty="0" smtClean="0"/>
              <a:t> </a:t>
            </a:r>
            <a:r>
              <a:rPr lang="en-US" altLang="vi-VN" dirty="0" err="1" smtClean="0"/>
              <a:t>cơ</a:t>
            </a:r>
            <a:r>
              <a:rPr lang="en-US" altLang="vi-VN" dirty="0" smtClean="0"/>
              <a:t> </a:t>
            </a:r>
            <a:r>
              <a:rPr lang="en-US" altLang="vi-VN" dirty="0" err="1" smtClean="0"/>
              <a:t>số</a:t>
            </a:r>
            <a:r>
              <a:rPr lang="en-US" altLang="vi-VN" dirty="0" smtClean="0"/>
              <a:t> 16</a:t>
            </a:r>
          </a:p>
          <a:p>
            <a:pPr eaLnBrk="1" hangingPunct="1"/>
            <a:r>
              <a:rPr lang="en-US" altLang="vi-VN" dirty="0" err="1" smtClean="0"/>
              <a:t>Cách</a:t>
            </a:r>
            <a:r>
              <a:rPr lang="en-US" altLang="vi-VN" dirty="0" smtClean="0"/>
              <a:t> </a:t>
            </a:r>
            <a:r>
              <a:rPr lang="en-US" altLang="vi-VN" dirty="0" err="1" smtClean="0"/>
              <a:t>đổi</a:t>
            </a:r>
            <a:r>
              <a:rPr lang="en-US" altLang="vi-VN" dirty="0" smtClean="0"/>
              <a:t> </a:t>
            </a:r>
            <a:r>
              <a:rPr lang="en-US" altLang="vi-VN" dirty="0" err="1" smtClean="0"/>
              <a:t>biểu</a:t>
            </a:r>
            <a:r>
              <a:rPr lang="en-US" altLang="vi-VN" dirty="0" smtClean="0"/>
              <a:t> </a:t>
            </a:r>
            <a:r>
              <a:rPr lang="en-US" altLang="vi-VN" dirty="0" err="1" smtClean="0"/>
              <a:t>diễn</a:t>
            </a:r>
            <a:r>
              <a:rPr lang="en-US" altLang="vi-VN" dirty="0" smtClean="0"/>
              <a:t> </a:t>
            </a:r>
            <a:r>
              <a:rPr lang="en-US" altLang="vi-VN" dirty="0" err="1" smtClean="0"/>
              <a:t>giữa</a:t>
            </a:r>
            <a:r>
              <a:rPr lang="en-US" altLang="vi-VN" dirty="0" smtClean="0"/>
              <a:t> </a:t>
            </a:r>
            <a:r>
              <a:rPr lang="en-US" altLang="vi-VN" dirty="0" err="1" smtClean="0"/>
              <a:t>các</a:t>
            </a:r>
            <a:r>
              <a:rPr lang="en-US" altLang="vi-VN" dirty="0" smtClean="0"/>
              <a:t> </a:t>
            </a:r>
            <a:r>
              <a:rPr lang="en-US" altLang="vi-VN" dirty="0" err="1" smtClean="0"/>
              <a:t>hệ</a:t>
            </a:r>
            <a:r>
              <a:rPr lang="en-US" altLang="vi-VN" dirty="0" smtClean="0"/>
              <a:t> </a:t>
            </a:r>
            <a:r>
              <a:rPr lang="en-US" altLang="vi-VN" dirty="0" err="1" smtClean="0"/>
              <a:t>đếm</a:t>
            </a:r>
            <a:endParaRPr lang="en-US" altLang="vi-VN" dirty="0" smtClean="0"/>
          </a:p>
          <a:p>
            <a:pPr eaLnBrk="1" hangingPunct="1"/>
            <a:r>
              <a:rPr lang="en-US" altLang="vi-VN" dirty="0" err="1" smtClean="0"/>
              <a:t>Đổi</a:t>
            </a:r>
            <a:r>
              <a:rPr lang="en-US" altLang="vi-VN" dirty="0" smtClean="0"/>
              <a:t> </a:t>
            </a:r>
            <a:r>
              <a:rPr lang="en-US" altLang="vi-VN" dirty="0" err="1" smtClean="0"/>
              <a:t>biểu</a:t>
            </a:r>
            <a:r>
              <a:rPr lang="en-US" altLang="vi-VN" dirty="0" smtClean="0"/>
              <a:t> </a:t>
            </a:r>
            <a:r>
              <a:rPr lang="en-US" altLang="vi-VN" dirty="0" err="1" smtClean="0"/>
              <a:t>diễn</a:t>
            </a:r>
            <a:r>
              <a:rPr lang="en-US" altLang="vi-VN" dirty="0" smtClean="0"/>
              <a:t> </a:t>
            </a:r>
            <a:r>
              <a:rPr lang="en-US" altLang="vi-VN" dirty="0" err="1" smtClean="0"/>
              <a:t>giữa</a:t>
            </a:r>
            <a:r>
              <a:rPr lang="en-US" altLang="vi-VN" dirty="0" smtClean="0"/>
              <a:t> </a:t>
            </a:r>
            <a:r>
              <a:rPr lang="en-US" altLang="vi-VN" dirty="0" err="1" smtClean="0"/>
              <a:t>hệ</a:t>
            </a:r>
            <a:r>
              <a:rPr lang="en-US" altLang="vi-VN" dirty="0" smtClean="0"/>
              <a:t> </a:t>
            </a:r>
            <a:r>
              <a:rPr lang="en-US" altLang="vi-VN" dirty="0" err="1" smtClean="0"/>
              <a:t>nhị</a:t>
            </a:r>
            <a:r>
              <a:rPr lang="en-US" altLang="vi-VN" dirty="0" smtClean="0"/>
              <a:t> </a:t>
            </a:r>
            <a:r>
              <a:rPr lang="en-US" altLang="vi-VN" dirty="0" err="1" smtClean="0"/>
              <a:t>phân</a:t>
            </a:r>
            <a:r>
              <a:rPr lang="en-US" altLang="vi-VN" dirty="0" smtClean="0"/>
              <a:t> </a:t>
            </a:r>
            <a:r>
              <a:rPr lang="en-US" altLang="vi-VN" dirty="0" err="1" smtClean="0"/>
              <a:t>và</a:t>
            </a:r>
            <a:r>
              <a:rPr lang="en-US" altLang="vi-VN" dirty="0" smtClean="0"/>
              <a:t> </a:t>
            </a:r>
            <a:r>
              <a:rPr lang="en-US" altLang="vi-VN" dirty="0" err="1" smtClean="0"/>
              <a:t>hệ</a:t>
            </a:r>
            <a:r>
              <a:rPr lang="en-US" altLang="vi-VN" dirty="0" smtClean="0"/>
              <a:t> </a:t>
            </a:r>
            <a:r>
              <a:rPr lang="en-US" altLang="vi-VN" dirty="0" err="1" smtClean="0"/>
              <a:t>đếm</a:t>
            </a:r>
            <a:r>
              <a:rPr lang="en-US" altLang="vi-VN" dirty="0" smtClean="0"/>
              <a:t> </a:t>
            </a:r>
            <a:r>
              <a:rPr lang="en-US" altLang="vi-VN" dirty="0" err="1" smtClean="0"/>
              <a:t>cơ</a:t>
            </a:r>
            <a:r>
              <a:rPr lang="en-US" altLang="vi-VN" dirty="0" smtClean="0"/>
              <a:t> </a:t>
            </a:r>
            <a:r>
              <a:rPr lang="en-US" altLang="vi-VN" dirty="0" err="1" smtClean="0"/>
              <a:t>số</a:t>
            </a:r>
            <a:r>
              <a:rPr lang="en-US" altLang="vi-VN" dirty="0" smtClean="0"/>
              <a:t> 16</a:t>
            </a:r>
          </a:p>
          <a:p>
            <a:pPr eaLnBrk="1" hangingPunct="1">
              <a:buFont typeface="Wingdings" panose="05000000000000000000" pitchFamily="2" charset="2"/>
              <a:buNone/>
            </a:pPr>
            <a:endParaRPr lang="en-US" altLang="vi-VN" dirty="0" smtClean="0"/>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373017601"/>
      </p:ext>
    </p:extLst>
  </p:cSld>
  <p:clrMapOvr>
    <a:masterClrMapping/>
  </p:clrMapOvr>
  <p:transition spd="slow">
    <p:wipe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2"/>
          <p:cNvSpPr>
            <a:spLocks noGrp="1" noChangeArrowheads="1"/>
          </p:cNvSpPr>
          <p:nvPr>
            <p:ph type="title"/>
          </p:nvPr>
        </p:nvSpPr>
        <p:spPr/>
        <p:txBody>
          <a:bodyPr/>
          <a:lstStyle/>
          <a:p>
            <a:pPr eaLnBrk="1" hangingPunct="1"/>
            <a:r>
              <a:rPr lang="en-US" altLang="vi-VN" smtClean="0"/>
              <a:t>HỆ ĐẾM</a:t>
            </a:r>
          </a:p>
        </p:txBody>
      </p:sp>
      <p:sp>
        <p:nvSpPr>
          <p:cNvPr id="6147" name="Rectangle 3"/>
          <p:cNvSpPr>
            <a:spLocks noGrp="1" noChangeArrowheads="1"/>
          </p:cNvSpPr>
          <p:nvPr>
            <p:ph type="body" idx="1"/>
          </p:nvPr>
        </p:nvSpPr>
        <p:spPr>
          <a:xfrm>
            <a:off x="838200" y="1905000"/>
            <a:ext cx="8001000" cy="4724400"/>
          </a:xfrm>
        </p:spPr>
        <p:txBody>
          <a:bodyPr/>
          <a:lstStyle/>
          <a:p>
            <a:pPr eaLnBrk="1" hangingPunct="1">
              <a:lnSpc>
                <a:spcPct val="90000"/>
              </a:lnSpc>
            </a:pPr>
            <a:r>
              <a:rPr lang="en-US" altLang="vi-VN" sz="2400" smtClean="0"/>
              <a:t>Hệ đếm là một tập các ký hiệu (bảng chữ số) để biểu diễn các số và xác định giá trị của các biểu diễn sô</a:t>
            </a:r>
          </a:p>
          <a:p>
            <a:pPr eaLnBrk="1" hangingPunct="1">
              <a:lnSpc>
                <a:spcPct val="90000"/>
              </a:lnSpc>
            </a:pPr>
            <a:r>
              <a:rPr lang="en-US" altLang="vi-VN" sz="2400" smtClean="0"/>
              <a:t>Ví dụ Hệ đếm La mã có bảng chữ là {I,V,X,L,C,D,M} đại diện cho các giá trị là 1, 5,10, 100, 500 và 1000. Quy tắc biểu diễn số là viết các chữ số cạnh nhau. Quy tắc tính giá trị là nếu một chữ số có một chữ số bên trái có giá trị nhỏ hơn thì giá trị của cặp số bị tình bằng hiệu hai giá trị. Còn nếu số có giá trị nhỏ hơn đứng phía phải thì giá trị chung bằng tổng hai giá trị</a:t>
            </a:r>
          </a:p>
          <a:p>
            <a:pPr eaLnBrk="1" hangingPunct="1">
              <a:lnSpc>
                <a:spcPct val="90000"/>
              </a:lnSpc>
            </a:pPr>
            <a:endParaRPr lang="en-US" altLang="vi-VN" sz="2400" smtClean="0"/>
          </a:p>
          <a:p>
            <a:pPr algn="ctr" eaLnBrk="1" hangingPunct="1">
              <a:lnSpc>
                <a:spcPct val="90000"/>
              </a:lnSpc>
              <a:buFont typeface="Wingdings" panose="05000000000000000000" pitchFamily="2" charset="2"/>
              <a:buNone/>
            </a:pPr>
            <a:r>
              <a:rPr lang="en-US" altLang="vi-VN" sz="2400" smtClean="0"/>
              <a:t>MLVI = 1000 + 50 + 5 +1 =1056</a:t>
            </a:r>
          </a:p>
          <a:p>
            <a:pPr algn="ctr" eaLnBrk="1" hangingPunct="1">
              <a:lnSpc>
                <a:spcPct val="90000"/>
              </a:lnSpc>
              <a:buFont typeface="Wingdings" panose="05000000000000000000" pitchFamily="2" charset="2"/>
              <a:buNone/>
            </a:pPr>
            <a:r>
              <a:rPr lang="en-US" altLang="vi-VN" sz="2400" smtClean="0"/>
              <a:t>MLIV = 1000 + 50 + 5 -1 = 1054</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843336591"/>
      </p:ext>
    </p:extLst>
  </p:cSld>
  <p:clrMapOvr>
    <a:masterClrMapping/>
  </p:clrMapOvr>
  <p:transition spd="slow">
    <p:wipe di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p:cNvSpPr>
            <a:spLocks noGrp="1" noChangeArrowheads="1"/>
          </p:cNvSpPr>
          <p:nvPr>
            <p:ph type="title"/>
          </p:nvPr>
        </p:nvSpPr>
        <p:spPr/>
        <p:txBody>
          <a:bodyPr/>
          <a:lstStyle/>
          <a:p>
            <a:pPr eaLnBrk="1" hangingPunct="1"/>
            <a:r>
              <a:rPr lang="en-US" altLang="vi-VN" smtClean="0"/>
              <a:t>HỆ ĐẾM</a:t>
            </a:r>
          </a:p>
        </p:txBody>
      </p:sp>
      <p:sp>
        <p:nvSpPr>
          <p:cNvPr id="7171" name="Rectangle 3"/>
          <p:cNvSpPr>
            <a:spLocks noGrp="1" noChangeArrowheads="1"/>
          </p:cNvSpPr>
          <p:nvPr>
            <p:ph type="body" idx="1"/>
          </p:nvPr>
        </p:nvSpPr>
        <p:spPr>
          <a:xfrm>
            <a:off x="838200" y="1905000"/>
            <a:ext cx="7924800" cy="4648200"/>
          </a:xfrm>
        </p:spPr>
        <p:txBody>
          <a:bodyPr/>
          <a:lstStyle/>
          <a:p>
            <a:pPr marL="533400" indent="-533400" eaLnBrk="1" hangingPunct="1">
              <a:buFont typeface="Wingdings" panose="05000000000000000000" pitchFamily="2" charset="2"/>
              <a:buNone/>
            </a:pPr>
            <a:r>
              <a:rPr lang="en-US" altLang="vi-VN" sz="2400" smtClean="0"/>
              <a:t>VD Hệ đếm thập phân</a:t>
            </a:r>
          </a:p>
          <a:p>
            <a:pPr marL="533400" indent="-533400" eaLnBrk="1" hangingPunct="1"/>
            <a:r>
              <a:rPr lang="en-US" altLang="vi-VN" sz="2400" smtClean="0"/>
              <a:t>Bảng chữ số {0,1,2,3,4,5,6,7,8,9}</a:t>
            </a:r>
          </a:p>
          <a:p>
            <a:pPr marL="533400" indent="-533400" eaLnBrk="1" hangingPunct="1"/>
            <a:r>
              <a:rPr lang="en-US" altLang="vi-VN" sz="2400" smtClean="0"/>
              <a:t>Quy tắc biểu diễn: ghép các chữ số</a:t>
            </a:r>
          </a:p>
          <a:p>
            <a:pPr marL="533400" indent="-533400" eaLnBrk="1" hangingPunct="1"/>
            <a:r>
              <a:rPr lang="en-US" altLang="vi-VN" sz="2400" smtClean="0"/>
              <a:t>Quy tắc tính giá trị: mỗi chữ số x đứng ở hàng thứ i tính từ bên phải có giá trị là x.10 </a:t>
            </a:r>
            <a:r>
              <a:rPr lang="en-US" altLang="vi-VN" sz="2400" baseline="30000" smtClean="0"/>
              <a:t>i-1</a:t>
            </a:r>
            <a:r>
              <a:rPr lang="en-US" altLang="vi-VN" sz="2400" smtClean="0"/>
              <a:t>. Như vậy một đơn vị ở một hàng sẽ có giá trị gấp 10 lần một đơn vị ở hàng kế cận bên phải</a:t>
            </a:r>
          </a:p>
          <a:p>
            <a:pPr marL="533400" indent="-533400" eaLnBrk="1" hangingPunct="1"/>
            <a:r>
              <a:rPr lang="en-US" altLang="vi-VN" sz="2400" smtClean="0"/>
              <a:t>Giá trị của số là tổng giá trị của các chữ số có tính tới vị trí của nó. Giá trị của 3294,5 là</a:t>
            </a:r>
          </a:p>
          <a:p>
            <a:pPr marL="533400" indent="-533400" algn="ctr" eaLnBrk="1" hangingPunct="1">
              <a:buFont typeface="Wingdings" panose="05000000000000000000" pitchFamily="2" charset="2"/>
              <a:buNone/>
            </a:pPr>
            <a:r>
              <a:rPr lang="en-US" altLang="vi-VN" sz="2400" smtClean="0"/>
              <a:t> 3.10</a:t>
            </a:r>
            <a:r>
              <a:rPr lang="en-US" altLang="vi-VN" sz="2400" baseline="30000" smtClean="0"/>
              <a:t>3</a:t>
            </a:r>
            <a:r>
              <a:rPr lang="en-US" altLang="vi-VN" sz="2400" smtClean="0"/>
              <a:t> + 2.10</a:t>
            </a:r>
            <a:r>
              <a:rPr lang="en-US" altLang="vi-VN" sz="2400" baseline="30000" smtClean="0"/>
              <a:t>2</a:t>
            </a:r>
            <a:r>
              <a:rPr lang="en-US" altLang="vi-VN" sz="2400" smtClean="0"/>
              <a:t> + 9.10</a:t>
            </a:r>
            <a:r>
              <a:rPr lang="en-US" altLang="vi-VN" sz="2400" baseline="30000" smtClean="0"/>
              <a:t>1</a:t>
            </a:r>
            <a:r>
              <a:rPr lang="en-US" altLang="vi-VN" sz="2400" smtClean="0"/>
              <a:t> + 4.10</a:t>
            </a:r>
            <a:r>
              <a:rPr lang="en-US" altLang="vi-VN" sz="2400" baseline="30000" smtClean="0"/>
              <a:t>0</a:t>
            </a:r>
            <a:r>
              <a:rPr lang="en-US" altLang="vi-VN" sz="2400" smtClean="0"/>
              <a:t> + 5.10</a:t>
            </a:r>
            <a:r>
              <a:rPr lang="en-US" altLang="vi-VN" sz="2400" baseline="30000" smtClean="0"/>
              <a:t>-1</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703377688"/>
      </p:ext>
    </p:extLst>
  </p:cSld>
  <p:clrMapOvr>
    <a:masterClrMapping/>
  </p:clrMapOvr>
  <p:transition spd="slow">
    <p:wipe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AutoShape 2"/>
          <p:cNvSpPr>
            <a:spLocks noGrp="1" noChangeArrowheads="1"/>
          </p:cNvSpPr>
          <p:nvPr>
            <p:ph type="title"/>
          </p:nvPr>
        </p:nvSpPr>
        <p:spPr/>
        <p:txBody>
          <a:bodyPr/>
          <a:lstStyle/>
          <a:p>
            <a:pPr eaLnBrk="1" hangingPunct="1"/>
            <a:r>
              <a:rPr lang="en-US" altLang="vi-VN" sz="3200" smtClean="0"/>
              <a:t>HỆ ĐẾM THEO VỊ TRÍ VÀ KHÔNG THEO VỊ TRÍ</a:t>
            </a:r>
          </a:p>
        </p:txBody>
      </p:sp>
      <p:sp>
        <p:nvSpPr>
          <p:cNvPr id="8195" name="Rectangle 3"/>
          <p:cNvSpPr>
            <a:spLocks noGrp="1" noChangeArrowheads="1"/>
          </p:cNvSpPr>
          <p:nvPr>
            <p:ph type="body" idx="1"/>
          </p:nvPr>
        </p:nvSpPr>
        <p:spPr/>
        <p:txBody>
          <a:bodyPr/>
          <a:lstStyle/>
          <a:p>
            <a:pPr eaLnBrk="1" hangingPunct="1"/>
            <a:r>
              <a:rPr lang="en-US" altLang="vi-VN" smtClean="0"/>
              <a:t>Hệ đếm theo vị trí là hệ đếm mà giá trị của mỗi chữ số không phụ thuộc vào vị trí của nó trong biểu diễn số. </a:t>
            </a:r>
          </a:p>
          <a:p>
            <a:pPr eaLnBrk="1" hangingPunct="1"/>
            <a:r>
              <a:rPr lang="en-US" altLang="vi-VN" smtClean="0"/>
              <a:t>Hệ đếm thập phân là hệ đếm theo vị trí</a:t>
            </a:r>
          </a:p>
          <a:p>
            <a:pPr eaLnBrk="1" hangingPunct="1"/>
            <a:r>
              <a:rPr lang="en-US" altLang="vi-VN" smtClean="0"/>
              <a:t>Hệ đếm la mã là hệ đếm không theo vị trí</a:t>
            </a:r>
          </a:p>
          <a:p>
            <a:pPr eaLnBrk="1" hangingPunct="1">
              <a:buFont typeface="Wingdings" panose="05000000000000000000" pitchFamily="2" charset="2"/>
              <a:buNone/>
            </a:pPr>
            <a:endParaRPr lang="en-US" altLang="vi-VN" smtClean="0"/>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3839074028"/>
      </p:ext>
    </p:extLst>
  </p:cSld>
  <p:clrMapOvr>
    <a:masterClrMapping/>
  </p:clrMapOvr>
  <p:transition spd="slow">
    <p:wipe di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p:cNvSpPr>
            <a:spLocks noGrp="1" noChangeArrowheads="1"/>
          </p:cNvSpPr>
          <p:nvPr>
            <p:ph type="title"/>
          </p:nvPr>
        </p:nvSpPr>
        <p:spPr/>
        <p:txBody>
          <a:bodyPr>
            <a:normAutofit fontScale="90000"/>
          </a:bodyPr>
          <a:lstStyle/>
          <a:p>
            <a:pPr eaLnBrk="1" hangingPunct="1"/>
            <a:r>
              <a:rPr lang="en-US" altLang="vi-VN" smtClean="0"/>
              <a:t>HỆ ĐẾM THEO VỊ TRÍ CÓ CƠ SỐ BẤT KỲ</a:t>
            </a:r>
          </a:p>
        </p:txBody>
      </p:sp>
      <p:sp>
        <p:nvSpPr>
          <p:cNvPr id="9219" name="Rectangle 3"/>
          <p:cNvSpPr>
            <a:spLocks noGrp="1" noChangeArrowheads="1"/>
          </p:cNvSpPr>
          <p:nvPr>
            <p:ph type="body" idx="1"/>
          </p:nvPr>
        </p:nvSpPr>
        <p:spPr>
          <a:xfrm>
            <a:off x="838200" y="2209800"/>
            <a:ext cx="7693025" cy="4648200"/>
          </a:xfrm>
        </p:spPr>
        <p:txBody>
          <a:bodyPr/>
          <a:lstStyle/>
          <a:p>
            <a:pPr eaLnBrk="1" hangingPunct="1"/>
            <a:r>
              <a:rPr lang="en-US" altLang="vi-VN" sz="2400" smtClean="0"/>
              <a:t>Có thể chọn các hệ đếm với cơ số khác 10.  </a:t>
            </a:r>
          </a:p>
          <a:p>
            <a:pPr eaLnBrk="1" hangingPunct="1"/>
            <a:r>
              <a:rPr lang="en-US" altLang="vi-VN" sz="2400" smtClean="0"/>
              <a:t>Với một số tự nhiên b &gt; 1, với mỗi số tự nhiên n luôn tồn tại một cách phân tích duy nhất n dưới dạng một đa thức của b với các hệ số nằm từ 0 đến b-1</a:t>
            </a:r>
          </a:p>
          <a:p>
            <a:pPr algn="ctr" eaLnBrk="1" hangingPunct="1">
              <a:buFont typeface="Wingdings" panose="05000000000000000000" pitchFamily="2" charset="2"/>
              <a:buNone/>
            </a:pPr>
            <a:r>
              <a:rPr lang="en-US" altLang="vi-VN" sz="2400" smtClean="0"/>
              <a:t>n = a</a:t>
            </a:r>
            <a:r>
              <a:rPr lang="en-US" altLang="vi-VN" sz="2400" baseline="-25000" smtClean="0"/>
              <a:t>k</a:t>
            </a:r>
            <a:r>
              <a:rPr lang="en-US" altLang="vi-VN" sz="2400" smtClean="0"/>
              <a:t>.b</a:t>
            </a:r>
            <a:r>
              <a:rPr lang="en-US" altLang="vi-VN" sz="2400" baseline="30000" smtClean="0"/>
              <a:t>k</a:t>
            </a:r>
            <a:r>
              <a:rPr lang="en-US" altLang="vi-VN" sz="2400" smtClean="0"/>
              <a:t> + a</a:t>
            </a:r>
            <a:r>
              <a:rPr lang="en-US" altLang="vi-VN" sz="2400" baseline="-25000" smtClean="0"/>
              <a:t>k-1</a:t>
            </a:r>
            <a:r>
              <a:rPr lang="en-US" altLang="vi-VN" sz="2400" smtClean="0"/>
              <a:t>.b</a:t>
            </a:r>
            <a:r>
              <a:rPr lang="en-US" altLang="vi-VN" sz="2400" baseline="30000" smtClean="0"/>
              <a:t>k-1</a:t>
            </a:r>
            <a:r>
              <a:rPr lang="en-US" altLang="vi-VN" sz="2400" smtClean="0"/>
              <a:t> +…+ a</a:t>
            </a:r>
            <a:r>
              <a:rPr lang="en-US" altLang="vi-VN" sz="2400" baseline="-25000" smtClean="0"/>
              <a:t>1</a:t>
            </a:r>
            <a:r>
              <a:rPr lang="en-US" altLang="vi-VN" sz="2400" smtClean="0"/>
              <a:t>b1+a</a:t>
            </a:r>
            <a:r>
              <a:rPr lang="en-US" altLang="vi-VN" sz="2400" baseline="-25000" smtClean="0"/>
              <a:t>0</a:t>
            </a:r>
            <a:r>
              <a:rPr lang="en-US" altLang="vi-VN" sz="2400" smtClean="0"/>
              <a:t> , 0≤ ai≤b-1</a:t>
            </a:r>
          </a:p>
          <a:p>
            <a:pPr algn="ctr" eaLnBrk="1" hangingPunct="1">
              <a:buFont typeface="Wingdings" panose="05000000000000000000" pitchFamily="2" charset="2"/>
              <a:buNone/>
            </a:pPr>
            <a:r>
              <a:rPr lang="en-US" altLang="vi-VN" sz="2400" smtClean="0"/>
              <a:t>Khi đó biểu diễn của n trong cơ số b là a</a:t>
            </a:r>
            <a:r>
              <a:rPr lang="en-US" altLang="vi-VN" sz="2400" baseline="-25000" smtClean="0"/>
              <a:t>k</a:t>
            </a:r>
            <a:r>
              <a:rPr lang="en-US" altLang="vi-VN" sz="2400" smtClean="0"/>
              <a:t>a</a:t>
            </a:r>
            <a:r>
              <a:rPr lang="en-US" altLang="vi-VN" sz="2400" baseline="-25000" smtClean="0"/>
              <a:t>k-1</a:t>
            </a:r>
            <a:r>
              <a:rPr lang="en-US" altLang="vi-VN" sz="2400" smtClean="0"/>
              <a:t> …a</a:t>
            </a:r>
            <a:r>
              <a:rPr lang="en-US" altLang="vi-VN" sz="2400" baseline="-25000" smtClean="0"/>
              <a:t>1</a:t>
            </a:r>
            <a:r>
              <a:rPr lang="en-US" altLang="vi-VN" sz="2400" smtClean="0"/>
              <a:t>a</a:t>
            </a:r>
            <a:r>
              <a:rPr lang="en-US" altLang="vi-VN" sz="2400" baseline="-25000" smtClean="0"/>
              <a:t>0</a:t>
            </a:r>
            <a:r>
              <a:rPr lang="en-US" altLang="vi-VN" sz="2400" smtClean="0"/>
              <a:t> </a:t>
            </a:r>
            <a:endParaRPr lang="en-US" altLang="vi-VN" sz="2400" baseline="30000" smtClean="0"/>
          </a:p>
          <a:p>
            <a:pPr algn="ctr" eaLnBrk="1" hangingPunct="1">
              <a:buFont typeface="Wingdings" panose="05000000000000000000" pitchFamily="2" charset="2"/>
              <a:buNone/>
            </a:pPr>
            <a:r>
              <a:rPr lang="en-US" altLang="vi-VN" sz="2400" smtClean="0"/>
              <a:t> VD  14 = 1.3</a:t>
            </a:r>
            <a:r>
              <a:rPr lang="en-US" altLang="vi-VN" sz="2400" baseline="30000" smtClean="0"/>
              <a:t>2</a:t>
            </a:r>
            <a:r>
              <a:rPr lang="en-US" altLang="vi-VN" sz="2400" smtClean="0"/>
              <a:t> + 1.3</a:t>
            </a:r>
            <a:r>
              <a:rPr lang="en-US" altLang="vi-VN" sz="2400" baseline="30000" smtClean="0"/>
              <a:t>1</a:t>
            </a:r>
            <a:r>
              <a:rPr lang="en-US" altLang="vi-VN" sz="2400" smtClean="0"/>
              <a:t> + 2.3</a:t>
            </a:r>
            <a:r>
              <a:rPr lang="en-US" altLang="vi-VN" sz="2400" baseline="30000" smtClean="0"/>
              <a:t>0</a:t>
            </a:r>
            <a:r>
              <a:rPr lang="en-US" altLang="vi-VN" sz="2400" smtClean="0"/>
              <a:t> = 1.2</a:t>
            </a:r>
            <a:r>
              <a:rPr lang="en-US" altLang="vi-VN" sz="2400" baseline="30000" smtClean="0"/>
              <a:t>3</a:t>
            </a:r>
            <a:r>
              <a:rPr lang="en-US" altLang="vi-VN" sz="2400" smtClean="0"/>
              <a:t>+1.2</a:t>
            </a:r>
            <a:r>
              <a:rPr lang="en-US" altLang="vi-VN" sz="2400" baseline="30000" smtClean="0"/>
              <a:t>2</a:t>
            </a:r>
            <a:r>
              <a:rPr lang="en-US" altLang="vi-VN" sz="2400" smtClean="0"/>
              <a:t>+1.2</a:t>
            </a:r>
            <a:r>
              <a:rPr lang="en-US" altLang="vi-VN" sz="2400" baseline="30000" smtClean="0"/>
              <a:t>1</a:t>
            </a:r>
            <a:r>
              <a:rPr lang="en-US" altLang="vi-VN" sz="2400" smtClean="0"/>
              <a:t> +0.2</a:t>
            </a:r>
            <a:r>
              <a:rPr lang="en-US" altLang="vi-VN" sz="2400" baseline="30000" smtClean="0"/>
              <a:t>0</a:t>
            </a:r>
          </a:p>
          <a:p>
            <a:pPr algn="ctr" eaLnBrk="1" hangingPunct="1">
              <a:buFont typeface="Wingdings" panose="05000000000000000000" pitchFamily="2" charset="2"/>
              <a:buNone/>
            </a:pPr>
            <a:r>
              <a:rPr lang="en-US" altLang="vi-VN" sz="2400" smtClean="0"/>
              <a:t>Do đó  14</a:t>
            </a:r>
            <a:r>
              <a:rPr lang="en-US" altLang="vi-VN" sz="2400" baseline="-25000" smtClean="0">
                <a:solidFill>
                  <a:srgbClr val="CC3300"/>
                </a:solidFill>
              </a:rPr>
              <a:t>10</a:t>
            </a:r>
            <a:r>
              <a:rPr lang="en-US" altLang="vi-VN" sz="2400" smtClean="0"/>
              <a:t> = 112</a:t>
            </a:r>
            <a:r>
              <a:rPr lang="en-US" altLang="vi-VN" sz="2400" baseline="-25000" smtClean="0">
                <a:solidFill>
                  <a:srgbClr val="CC3300"/>
                </a:solidFill>
              </a:rPr>
              <a:t>3 </a:t>
            </a:r>
            <a:r>
              <a:rPr lang="en-US" altLang="vi-VN" sz="2400" baseline="30000" smtClean="0"/>
              <a:t>= </a:t>
            </a:r>
            <a:r>
              <a:rPr lang="en-US" altLang="vi-VN" sz="2400" smtClean="0"/>
              <a:t>1110</a:t>
            </a:r>
            <a:r>
              <a:rPr lang="en-US" altLang="vi-VN" sz="2400" baseline="-25000" smtClean="0">
                <a:solidFill>
                  <a:srgbClr val="CC3300"/>
                </a:solidFill>
              </a:rPr>
              <a:t>2</a:t>
            </a:r>
          </a:p>
          <a:p>
            <a:pPr algn="ctr" eaLnBrk="1" hangingPunct="1">
              <a:buFont typeface="Wingdings" panose="05000000000000000000" pitchFamily="2" charset="2"/>
              <a:buNone/>
            </a:pPr>
            <a:endParaRPr lang="en-US" altLang="vi-VN" sz="2400" baseline="-25000" smtClean="0">
              <a:solidFill>
                <a:srgbClr val="CC3300"/>
              </a:solidFill>
            </a:endParaRP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402158383"/>
      </p:ext>
    </p:extLst>
  </p:cSld>
  <p:clrMapOvr>
    <a:masterClrMapping/>
  </p:clrMapOvr>
  <p:transition spd="slow">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p:cNvSpPr>
            <a:spLocks noGrp="1" noChangeArrowheads="1"/>
          </p:cNvSpPr>
          <p:nvPr>
            <p:ph type="title"/>
          </p:nvPr>
        </p:nvSpPr>
        <p:spPr/>
        <p:txBody>
          <a:bodyPr/>
          <a:lstStyle/>
          <a:p>
            <a:pPr eaLnBrk="1" hangingPunct="1"/>
            <a:r>
              <a:rPr lang="en-US" altLang="vi-VN" smtClean="0"/>
              <a:t>HỆ ĐẾM NHỊ PHÂN</a:t>
            </a:r>
          </a:p>
        </p:txBody>
      </p:sp>
      <p:sp>
        <p:nvSpPr>
          <p:cNvPr id="10243" name="Rectangle 3"/>
          <p:cNvSpPr>
            <a:spLocks noGrp="1" noChangeArrowheads="1"/>
          </p:cNvSpPr>
          <p:nvPr>
            <p:ph type="body" idx="1"/>
          </p:nvPr>
        </p:nvSpPr>
        <p:spPr>
          <a:xfrm>
            <a:off x="838200" y="2133600"/>
            <a:ext cx="7924800" cy="4724400"/>
          </a:xfrm>
        </p:spPr>
        <p:txBody>
          <a:bodyPr/>
          <a:lstStyle/>
          <a:p>
            <a:pPr eaLnBrk="1" hangingPunct="1"/>
            <a:r>
              <a:rPr lang="en-US" altLang="vi-VN" smtClean="0"/>
              <a:t>Hệ nhị phân dùng 2 chữ số là {0,1} và chữ số 1 ở một hàng có giá trị bằng 2 lần chữ số 1 ở hàng kế cận bên phải</a:t>
            </a:r>
          </a:p>
          <a:p>
            <a:pPr eaLnBrk="1" hangingPunct="1">
              <a:buFont typeface="Wingdings" panose="05000000000000000000" pitchFamily="2" charset="2"/>
              <a:buNone/>
            </a:pPr>
            <a:r>
              <a:rPr lang="en-US" altLang="vi-VN" smtClean="0"/>
              <a:t>14,625 = 1.2</a:t>
            </a:r>
            <a:r>
              <a:rPr lang="en-US" altLang="vi-VN" baseline="30000" smtClean="0"/>
              <a:t>3</a:t>
            </a:r>
            <a:r>
              <a:rPr lang="en-US" altLang="vi-VN" smtClean="0"/>
              <a:t>+1.2</a:t>
            </a:r>
            <a:r>
              <a:rPr lang="en-US" altLang="vi-VN" baseline="30000" smtClean="0"/>
              <a:t>2</a:t>
            </a:r>
            <a:r>
              <a:rPr lang="en-US" altLang="vi-VN" smtClean="0"/>
              <a:t>+1.2</a:t>
            </a:r>
            <a:r>
              <a:rPr lang="en-US" altLang="vi-VN" baseline="30000" smtClean="0"/>
              <a:t>1</a:t>
            </a:r>
            <a:r>
              <a:rPr lang="en-US" altLang="vi-VN" smtClean="0"/>
              <a:t> +0.2</a:t>
            </a:r>
            <a:r>
              <a:rPr lang="en-US" altLang="vi-VN" baseline="30000" smtClean="0"/>
              <a:t>0</a:t>
            </a:r>
            <a:r>
              <a:rPr lang="en-US" altLang="vi-VN" smtClean="0"/>
              <a:t>+1.2</a:t>
            </a:r>
            <a:r>
              <a:rPr lang="en-US" altLang="vi-VN" baseline="30000" smtClean="0"/>
              <a:t>-1</a:t>
            </a:r>
            <a:r>
              <a:rPr lang="en-US" altLang="vi-VN" smtClean="0"/>
              <a:t>+0.2</a:t>
            </a:r>
            <a:r>
              <a:rPr lang="en-US" altLang="vi-VN" baseline="30000" smtClean="0"/>
              <a:t>-2 </a:t>
            </a:r>
            <a:r>
              <a:rPr lang="en-US" altLang="vi-VN" smtClean="0"/>
              <a:t>+1.2</a:t>
            </a:r>
            <a:r>
              <a:rPr lang="en-US" altLang="vi-VN" baseline="30000" smtClean="0"/>
              <a:t> -3</a:t>
            </a:r>
          </a:p>
          <a:p>
            <a:pPr algn="ctr" eaLnBrk="1" hangingPunct="1">
              <a:buFont typeface="Wingdings" panose="05000000000000000000" pitchFamily="2" charset="2"/>
              <a:buNone/>
            </a:pPr>
            <a:r>
              <a:rPr lang="en-US" altLang="vi-VN" smtClean="0"/>
              <a:t>Do đó  14,625</a:t>
            </a:r>
            <a:r>
              <a:rPr lang="en-US" altLang="vi-VN" baseline="-25000" smtClean="0">
                <a:solidFill>
                  <a:srgbClr val="CC3300"/>
                </a:solidFill>
              </a:rPr>
              <a:t>10</a:t>
            </a:r>
            <a:r>
              <a:rPr lang="en-US" altLang="vi-VN" smtClean="0"/>
              <a:t> = 1110,101</a:t>
            </a:r>
            <a:r>
              <a:rPr lang="en-US" altLang="vi-VN" baseline="-25000" smtClean="0">
                <a:solidFill>
                  <a:srgbClr val="CC3300"/>
                </a:solidFill>
              </a:rPr>
              <a:t>2</a:t>
            </a:r>
          </a:p>
          <a:p>
            <a:pPr eaLnBrk="1" hangingPunct="1"/>
            <a:r>
              <a:rPr lang="en-US" altLang="vi-VN" smtClean="0"/>
              <a:t>Hệ đếm nhị phân là hệ được sử dụng nhiều đối với MTĐT vì MTĐT sử dụng các thành phần vật lý có hai trạng thái để nhớ các bit</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506696391"/>
      </p:ext>
    </p:extLst>
  </p:cSld>
  <p:clrMapOvr>
    <a:masterClrMapping/>
  </p:clrMapOvr>
  <p:transition spd="slow">
    <p:wipe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p:cNvSpPr>
            <a:spLocks noGrp="1" noChangeArrowheads="1"/>
          </p:cNvSpPr>
          <p:nvPr>
            <p:ph type="title"/>
          </p:nvPr>
        </p:nvSpPr>
        <p:spPr/>
        <p:txBody>
          <a:bodyPr/>
          <a:lstStyle/>
          <a:p>
            <a:pPr eaLnBrk="1" hangingPunct="1"/>
            <a:r>
              <a:rPr lang="en-US" altLang="vi-VN" smtClean="0"/>
              <a:t>SỐ HỌC NHỊ PHÂN</a:t>
            </a:r>
          </a:p>
        </p:txBody>
      </p:sp>
      <p:sp>
        <p:nvSpPr>
          <p:cNvPr id="11267" name="Rectangle 3"/>
          <p:cNvSpPr>
            <a:spLocks noGrp="1" noChangeArrowheads="1"/>
          </p:cNvSpPr>
          <p:nvPr>
            <p:ph type="body" idx="1"/>
          </p:nvPr>
        </p:nvSpPr>
        <p:spPr>
          <a:xfrm>
            <a:off x="838200" y="1905000"/>
            <a:ext cx="7772400" cy="1981200"/>
          </a:xfrm>
        </p:spPr>
        <p:txBody>
          <a:bodyPr>
            <a:normAutofit fontScale="92500" lnSpcReduction="10000"/>
          </a:bodyPr>
          <a:lstStyle/>
          <a:p>
            <a:pPr eaLnBrk="1" hangingPunct="1"/>
            <a:r>
              <a:rPr lang="en-US" altLang="vi-VN" smtClean="0"/>
              <a:t>Bảng cộng: 0+0=0, 1+0=0+1=1, 1+1=10</a:t>
            </a:r>
          </a:p>
          <a:p>
            <a:pPr eaLnBrk="1" hangingPunct="1"/>
            <a:r>
              <a:rPr lang="en-US" altLang="vi-VN" smtClean="0"/>
              <a:t>Bảng nhân: 0x0=0x1=1x0=0 1x1=1</a:t>
            </a:r>
          </a:p>
          <a:p>
            <a:pPr eaLnBrk="1" hangingPunct="1"/>
            <a:r>
              <a:rPr lang="en-US" altLang="vi-VN" smtClean="0"/>
              <a:t>Ví dụ 7+5 = 12, 12-5 = 7, 6x5 = 30, 30:6=5 được thể hiện trong hệ nhị phân</a:t>
            </a:r>
          </a:p>
        </p:txBody>
      </p:sp>
      <p:sp>
        <p:nvSpPr>
          <p:cNvPr id="11268" name="Text Box 4"/>
          <p:cNvSpPr txBox="1">
            <a:spLocks noChangeArrowheads="1"/>
          </p:cNvSpPr>
          <p:nvPr/>
        </p:nvSpPr>
        <p:spPr bwMode="auto">
          <a:xfrm>
            <a:off x="1219200" y="4038600"/>
            <a:ext cx="1295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0"/>
              </a:spcBef>
              <a:buClrTx/>
              <a:buSzTx/>
              <a:buFontTx/>
              <a:buNone/>
            </a:pPr>
            <a:r>
              <a:rPr lang="en-US" altLang="vi-VN" sz="3200"/>
              <a:t>111</a:t>
            </a:r>
          </a:p>
          <a:p>
            <a:pPr algn="r" eaLnBrk="1" hangingPunct="1">
              <a:spcBef>
                <a:spcPct val="0"/>
              </a:spcBef>
              <a:buClrTx/>
              <a:buSzTx/>
              <a:buFontTx/>
              <a:buNone/>
            </a:pPr>
            <a:r>
              <a:rPr lang="en-US" altLang="vi-VN" sz="3200"/>
              <a:t>101</a:t>
            </a:r>
          </a:p>
        </p:txBody>
      </p:sp>
      <p:sp>
        <p:nvSpPr>
          <p:cNvPr id="11269" name="Line 5"/>
          <p:cNvSpPr>
            <a:spLocks noChangeShapeType="1"/>
          </p:cNvSpPr>
          <p:nvPr/>
        </p:nvSpPr>
        <p:spPr bwMode="auto">
          <a:xfrm>
            <a:off x="1123950" y="51816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427014" name="Text Box 6"/>
          <p:cNvSpPr txBox="1">
            <a:spLocks noChangeArrowheads="1"/>
          </p:cNvSpPr>
          <p:nvPr/>
        </p:nvSpPr>
        <p:spPr bwMode="auto">
          <a:xfrm>
            <a:off x="2057400" y="5181600"/>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0</a:t>
            </a:r>
          </a:p>
        </p:txBody>
      </p:sp>
      <p:sp>
        <p:nvSpPr>
          <p:cNvPr id="427015" name="Text Box 7"/>
          <p:cNvSpPr txBox="1">
            <a:spLocks noChangeArrowheads="1"/>
          </p:cNvSpPr>
          <p:nvPr/>
        </p:nvSpPr>
        <p:spPr bwMode="auto">
          <a:xfrm>
            <a:off x="1828800" y="5181600"/>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0</a:t>
            </a:r>
          </a:p>
        </p:txBody>
      </p:sp>
      <p:sp>
        <p:nvSpPr>
          <p:cNvPr id="427016" name="Text Box 8"/>
          <p:cNvSpPr txBox="1">
            <a:spLocks noChangeArrowheads="1"/>
          </p:cNvSpPr>
          <p:nvPr/>
        </p:nvSpPr>
        <p:spPr bwMode="auto">
          <a:xfrm>
            <a:off x="1338263" y="5172075"/>
            <a:ext cx="685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11</a:t>
            </a:r>
          </a:p>
        </p:txBody>
      </p:sp>
      <p:sp>
        <p:nvSpPr>
          <p:cNvPr id="427017" name="Text Box 9"/>
          <p:cNvSpPr txBox="1">
            <a:spLocks noChangeArrowheads="1"/>
          </p:cNvSpPr>
          <p:nvPr/>
        </p:nvSpPr>
        <p:spPr bwMode="auto">
          <a:xfrm>
            <a:off x="1428750" y="5791200"/>
            <a:ext cx="106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a:t>
            </a:r>
            <a:r>
              <a:rPr lang="en-US" altLang="vi-VN" sz="3200">
                <a:sym typeface="Wingdings" panose="05000000000000000000" pitchFamily="2" charset="2"/>
              </a:rPr>
              <a:t></a:t>
            </a:r>
          </a:p>
        </p:txBody>
      </p:sp>
      <p:sp>
        <p:nvSpPr>
          <p:cNvPr id="11274" name="Text Box 10"/>
          <p:cNvSpPr txBox="1">
            <a:spLocks noChangeArrowheads="1"/>
          </p:cNvSpPr>
          <p:nvPr/>
        </p:nvSpPr>
        <p:spPr bwMode="auto">
          <a:xfrm>
            <a:off x="1066800" y="429101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a:t>
            </a:r>
          </a:p>
        </p:txBody>
      </p:sp>
      <p:sp>
        <p:nvSpPr>
          <p:cNvPr id="11275" name="Text Box 11"/>
          <p:cNvSpPr txBox="1">
            <a:spLocks noChangeArrowheads="1"/>
          </p:cNvSpPr>
          <p:nvPr/>
        </p:nvSpPr>
        <p:spPr bwMode="auto">
          <a:xfrm>
            <a:off x="2743200" y="3962400"/>
            <a:ext cx="1600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1100</a:t>
            </a:r>
            <a:br>
              <a:rPr lang="en-US" altLang="vi-VN" sz="3200"/>
            </a:br>
            <a:r>
              <a:rPr lang="en-US" altLang="vi-VN" sz="3200"/>
              <a:t>101</a:t>
            </a:r>
          </a:p>
        </p:txBody>
      </p:sp>
      <p:sp>
        <p:nvSpPr>
          <p:cNvPr id="11276" name="Text Box 12"/>
          <p:cNvSpPr txBox="1">
            <a:spLocks noChangeArrowheads="1"/>
          </p:cNvSpPr>
          <p:nvPr/>
        </p:nvSpPr>
        <p:spPr bwMode="auto">
          <a:xfrm>
            <a:off x="2895600" y="41148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_</a:t>
            </a:r>
          </a:p>
        </p:txBody>
      </p:sp>
      <p:sp>
        <p:nvSpPr>
          <p:cNvPr id="11277" name="Line 13"/>
          <p:cNvSpPr>
            <a:spLocks noChangeShapeType="1"/>
          </p:cNvSpPr>
          <p:nvPr/>
        </p:nvSpPr>
        <p:spPr bwMode="auto">
          <a:xfrm>
            <a:off x="2971800" y="5181600"/>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427022" name="Text Box 14"/>
          <p:cNvSpPr txBox="1">
            <a:spLocks noChangeArrowheads="1"/>
          </p:cNvSpPr>
          <p:nvPr/>
        </p:nvSpPr>
        <p:spPr bwMode="auto">
          <a:xfrm>
            <a:off x="3886200" y="5138738"/>
            <a:ext cx="457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a:t>
            </a:r>
          </a:p>
        </p:txBody>
      </p:sp>
      <p:sp>
        <p:nvSpPr>
          <p:cNvPr id="427023" name="Text Box 15"/>
          <p:cNvSpPr txBox="1">
            <a:spLocks noChangeArrowheads="1"/>
          </p:cNvSpPr>
          <p:nvPr/>
        </p:nvSpPr>
        <p:spPr bwMode="auto">
          <a:xfrm>
            <a:off x="3276600" y="5791200"/>
            <a:ext cx="106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a:t>
            </a:r>
            <a:r>
              <a:rPr lang="en-US" altLang="vi-VN" sz="3200">
                <a:sym typeface="Wingdings" panose="05000000000000000000" pitchFamily="2" charset="2"/>
              </a:rPr>
              <a:t></a:t>
            </a:r>
          </a:p>
        </p:txBody>
      </p:sp>
      <p:sp>
        <p:nvSpPr>
          <p:cNvPr id="427024" name="Text Box 16"/>
          <p:cNvSpPr txBox="1">
            <a:spLocks noChangeArrowheads="1"/>
          </p:cNvSpPr>
          <p:nvPr/>
        </p:nvSpPr>
        <p:spPr bwMode="auto">
          <a:xfrm>
            <a:off x="3629025" y="5138738"/>
            <a:ext cx="457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a:t>
            </a:r>
          </a:p>
        </p:txBody>
      </p:sp>
      <p:sp>
        <p:nvSpPr>
          <p:cNvPr id="427026" name="Text Box 18"/>
          <p:cNvSpPr txBox="1">
            <a:spLocks noChangeArrowheads="1"/>
          </p:cNvSpPr>
          <p:nvPr/>
        </p:nvSpPr>
        <p:spPr bwMode="auto">
          <a:xfrm>
            <a:off x="3409950" y="5148263"/>
            <a:ext cx="457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a:t>
            </a:r>
          </a:p>
        </p:txBody>
      </p:sp>
      <p:sp>
        <p:nvSpPr>
          <p:cNvPr id="11282" name="Text Box 19"/>
          <p:cNvSpPr txBox="1">
            <a:spLocks noChangeArrowheads="1"/>
          </p:cNvSpPr>
          <p:nvPr/>
        </p:nvSpPr>
        <p:spPr bwMode="auto">
          <a:xfrm>
            <a:off x="4800600" y="3967163"/>
            <a:ext cx="1600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110</a:t>
            </a:r>
            <a:br>
              <a:rPr lang="en-US" altLang="vi-VN" sz="3200"/>
            </a:br>
            <a:r>
              <a:rPr lang="en-US" altLang="vi-VN" sz="3200"/>
              <a:t>101</a:t>
            </a:r>
          </a:p>
        </p:txBody>
      </p:sp>
      <p:sp>
        <p:nvSpPr>
          <p:cNvPr id="11283" name="Line 20"/>
          <p:cNvSpPr>
            <a:spLocks noChangeShapeType="1"/>
          </p:cNvSpPr>
          <p:nvPr/>
        </p:nvSpPr>
        <p:spPr bwMode="auto">
          <a:xfrm>
            <a:off x="5257800" y="51816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11284" name="Text Box 21"/>
          <p:cNvSpPr txBox="1">
            <a:spLocks noChangeArrowheads="1"/>
          </p:cNvSpPr>
          <p:nvPr/>
        </p:nvSpPr>
        <p:spPr bwMode="auto">
          <a:xfrm>
            <a:off x="5029200" y="41910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x</a:t>
            </a:r>
          </a:p>
        </p:txBody>
      </p:sp>
      <p:sp>
        <p:nvSpPr>
          <p:cNvPr id="427030" name="Text Box 22"/>
          <p:cNvSpPr txBox="1">
            <a:spLocks noChangeArrowheads="1"/>
          </p:cNvSpPr>
          <p:nvPr/>
        </p:nvSpPr>
        <p:spPr bwMode="auto">
          <a:xfrm>
            <a:off x="5257800" y="5257800"/>
            <a:ext cx="1143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110</a:t>
            </a:r>
          </a:p>
        </p:txBody>
      </p:sp>
      <p:sp>
        <p:nvSpPr>
          <p:cNvPr id="427031" name="Text Box 23"/>
          <p:cNvSpPr txBox="1">
            <a:spLocks noChangeArrowheads="1"/>
          </p:cNvSpPr>
          <p:nvPr/>
        </p:nvSpPr>
        <p:spPr bwMode="auto">
          <a:xfrm>
            <a:off x="4819650" y="5638800"/>
            <a:ext cx="1143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110</a:t>
            </a:r>
          </a:p>
        </p:txBody>
      </p:sp>
      <p:sp>
        <p:nvSpPr>
          <p:cNvPr id="11287" name="Line 24"/>
          <p:cNvSpPr>
            <a:spLocks noChangeShapeType="1"/>
          </p:cNvSpPr>
          <p:nvPr/>
        </p:nvSpPr>
        <p:spPr bwMode="auto">
          <a:xfrm>
            <a:off x="4953000" y="6172200"/>
            <a:ext cx="1447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11288" name="Text Box 25"/>
          <p:cNvSpPr txBox="1">
            <a:spLocks noChangeArrowheads="1"/>
          </p:cNvSpPr>
          <p:nvPr/>
        </p:nvSpPr>
        <p:spPr bwMode="auto">
          <a:xfrm>
            <a:off x="4800600" y="541020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a:t>
            </a:r>
          </a:p>
        </p:txBody>
      </p:sp>
      <p:sp>
        <p:nvSpPr>
          <p:cNvPr id="427034" name="Text Box 26"/>
          <p:cNvSpPr txBox="1">
            <a:spLocks noChangeArrowheads="1"/>
          </p:cNvSpPr>
          <p:nvPr/>
        </p:nvSpPr>
        <p:spPr bwMode="auto">
          <a:xfrm>
            <a:off x="4876800" y="6178550"/>
            <a:ext cx="1524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11110</a:t>
            </a:r>
          </a:p>
        </p:txBody>
      </p:sp>
      <p:sp>
        <p:nvSpPr>
          <p:cNvPr id="11290" name="Text Box 27"/>
          <p:cNvSpPr txBox="1">
            <a:spLocks noChangeArrowheads="1"/>
          </p:cNvSpPr>
          <p:nvPr/>
        </p:nvSpPr>
        <p:spPr bwMode="auto">
          <a:xfrm>
            <a:off x="6629400" y="3962400"/>
            <a:ext cx="1524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11110</a:t>
            </a:r>
          </a:p>
        </p:txBody>
      </p:sp>
      <p:sp>
        <p:nvSpPr>
          <p:cNvPr id="11291" name="Text Box 28"/>
          <p:cNvSpPr txBox="1">
            <a:spLocks noChangeArrowheads="1"/>
          </p:cNvSpPr>
          <p:nvPr/>
        </p:nvSpPr>
        <p:spPr bwMode="auto">
          <a:xfrm>
            <a:off x="7900988" y="3962400"/>
            <a:ext cx="1143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110</a:t>
            </a:r>
          </a:p>
        </p:txBody>
      </p:sp>
      <p:sp>
        <p:nvSpPr>
          <p:cNvPr id="11292" name="Line 29"/>
          <p:cNvSpPr>
            <a:spLocks noChangeShapeType="1"/>
          </p:cNvSpPr>
          <p:nvPr/>
        </p:nvSpPr>
        <p:spPr bwMode="auto">
          <a:xfrm>
            <a:off x="8153400" y="3962400"/>
            <a:ext cx="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11293" name="Line 30"/>
          <p:cNvSpPr>
            <a:spLocks noChangeShapeType="1"/>
          </p:cNvSpPr>
          <p:nvPr/>
        </p:nvSpPr>
        <p:spPr bwMode="auto">
          <a:xfrm>
            <a:off x="8153400" y="44958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427039" name="Text Box 31"/>
          <p:cNvSpPr txBox="1">
            <a:spLocks noChangeArrowheads="1"/>
          </p:cNvSpPr>
          <p:nvPr/>
        </p:nvSpPr>
        <p:spPr bwMode="auto">
          <a:xfrm>
            <a:off x="8105775" y="4481513"/>
            <a:ext cx="457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a:t>
            </a:r>
          </a:p>
        </p:txBody>
      </p:sp>
      <p:sp>
        <p:nvSpPr>
          <p:cNvPr id="427040" name="Text Box 32"/>
          <p:cNvSpPr txBox="1">
            <a:spLocks noChangeArrowheads="1"/>
          </p:cNvSpPr>
          <p:nvPr/>
        </p:nvSpPr>
        <p:spPr bwMode="auto">
          <a:xfrm>
            <a:off x="6543675" y="4343400"/>
            <a:ext cx="1143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110</a:t>
            </a:r>
          </a:p>
        </p:txBody>
      </p:sp>
      <p:sp>
        <p:nvSpPr>
          <p:cNvPr id="11296" name="Text Box 33"/>
          <p:cNvSpPr txBox="1">
            <a:spLocks noChangeArrowheads="1"/>
          </p:cNvSpPr>
          <p:nvPr/>
        </p:nvSpPr>
        <p:spPr bwMode="auto">
          <a:xfrm>
            <a:off x="6553200" y="3943350"/>
            <a:ext cx="381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_</a:t>
            </a:r>
          </a:p>
        </p:txBody>
      </p:sp>
      <p:sp>
        <p:nvSpPr>
          <p:cNvPr id="427043" name="Text Box 35"/>
          <p:cNvSpPr txBox="1">
            <a:spLocks noChangeArrowheads="1"/>
          </p:cNvSpPr>
          <p:nvPr/>
        </p:nvSpPr>
        <p:spPr bwMode="auto">
          <a:xfrm>
            <a:off x="6824663" y="4648200"/>
            <a:ext cx="838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a:t>
            </a:r>
          </a:p>
        </p:txBody>
      </p:sp>
      <p:sp>
        <p:nvSpPr>
          <p:cNvPr id="427044" name="Text Box 36"/>
          <p:cNvSpPr txBox="1">
            <a:spLocks noChangeArrowheads="1"/>
          </p:cNvSpPr>
          <p:nvPr/>
        </p:nvSpPr>
        <p:spPr bwMode="auto">
          <a:xfrm>
            <a:off x="8382000" y="4495800"/>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0</a:t>
            </a:r>
          </a:p>
        </p:txBody>
      </p:sp>
      <p:sp>
        <p:nvSpPr>
          <p:cNvPr id="427045" name="Text Box 37"/>
          <p:cNvSpPr txBox="1">
            <a:spLocks noChangeArrowheads="1"/>
          </p:cNvSpPr>
          <p:nvPr/>
        </p:nvSpPr>
        <p:spPr bwMode="auto">
          <a:xfrm>
            <a:off x="7696200" y="4648200"/>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0</a:t>
            </a:r>
          </a:p>
        </p:txBody>
      </p:sp>
      <p:sp>
        <p:nvSpPr>
          <p:cNvPr id="427046" name="Text Box 38"/>
          <p:cNvSpPr txBox="1">
            <a:spLocks noChangeArrowheads="1"/>
          </p:cNvSpPr>
          <p:nvPr/>
        </p:nvSpPr>
        <p:spPr bwMode="auto">
          <a:xfrm>
            <a:off x="8582025" y="4495800"/>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a:t>
            </a:r>
          </a:p>
        </p:txBody>
      </p:sp>
      <p:sp>
        <p:nvSpPr>
          <p:cNvPr id="427047" name="Text Box 39"/>
          <p:cNvSpPr txBox="1">
            <a:spLocks noChangeArrowheads="1"/>
          </p:cNvSpPr>
          <p:nvPr/>
        </p:nvSpPr>
        <p:spPr bwMode="auto">
          <a:xfrm>
            <a:off x="7010400" y="5048250"/>
            <a:ext cx="1143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110</a:t>
            </a:r>
          </a:p>
        </p:txBody>
      </p:sp>
      <p:sp>
        <p:nvSpPr>
          <p:cNvPr id="11302" name="Text Box 40"/>
          <p:cNvSpPr txBox="1">
            <a:spLocks noChangeArrowheads="1"/>
          </p:cNvSpPr>
          <p:nvPr/>
        </p:nvSpPr>
        <p:spPr bwMode="auto">
          <a:xfrm>
            <a:off x="6934200" y="4602163"/>
            <a:ext cx="38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_</a:t>
            </a:r>
          </a:p>
        </p:txBody>
      </p:sp>
      <p:sp>
        <p:nvSpPr>
          <p:cNvPr id="427049" name="Line 41"/>
          <p:cNvSpPr>
            <a:spLocks noChangeShapeType="1"/>
          </p:cNvSpPr>
          <p:nvPr/>
        </p:nvSpPr>
        <p:spPr bwMode="auto">
          <a:xfrm>
            <a:off x="7162800" y="55626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427050" name="Text Box 42"/>
          <p:cNvSpPr txBox="1">
            <a:spLocks noChangeArrowheads="1"/>
          </p:cNvSpPr>
          <p:nvPr/>
        </p:nvSpPr>
        <p:spPr bwMode="auto">
          <a:xfrm>
            <a:off x="7015163" y="5486400"/>
            <a:ext cx="1143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000</a:t>
            </a:r>
          </a:p>
        </p:txBody>
      </p:sp>
      <p:sp>
        <p:nvSpPr>
          <p:cNvPr id="427051" name="Text Box 43"/>
          <p:cNvSpPr txBox="1">
            <a:spLocks noChangeArrowheads="1"/>
          </p:cNvSpPr>
          <p:nvPr/>
        </p:nvSpPr>
        <p:spPr bwMode="auto">
          <a:xfrm>
            <a:off x="7086600" y="4648200"/>
            <a:ext cx="838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076198066"/>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xit" presetSubtype="0" fill="hold" grpId="0" nodeType="withEffect">
                                  <p:stCondLst>
                                    <p:cond delay="0"/>
                                  </p:stCondLst>
                                  <p:childTnLst>
                                    <p:set>
                                      <p:cBhvr>
                                        <p:cTn id="6" dur="1" fill="hold">
                                          <p:stCondLst>
                                            <p:cond delay="0"/>
                                          </p:stCondLst>
                                        </p:cTn>
                                        <p:tgtEl>
                                          <p:spTgt spid="427016"/>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7014"/>
                                        </p:tgtEl>
                                        <p:attrNameLst>
                                          <p:attrName>style.visibility</p:attrName>
                                        </p:attrNameLst>
                                      </p:cBhvr>
                                      <p:to>
                                        <p:strVal val="visible"/>
                                      </p:to>
                                    </p:set>
                                  </p:childTnLst>
                                </p:cTn>
                              </p:par>
                            </p:childTnLst>
                          </p:cTn>
                        </p:par>
                        <p:par>
                          <p:cTn id="11" fill="hold" nodeType="afterGroup">
                            <p:stCondLst>
                              <p:cond delay="0"/>
                            </p:stCondLst>
                            <p:childTnLst>
                              <p:par>
                                <p:cTn id="12" presetID="22" presetClass="entr" presetSubtype="2" fill="hold" grpId="0" nodeType="afterEffect">
                                  <p:stCondLst>
                                    <p:cond delay="0"/>
                                  </p:stCondLst>
                                  <p:childTnLst>
                                    <p:set>
                                      <p:cBhvr>
                                        <p:cTn id="13" dur="1" fill="hold">
                                          <p:stCondLst>
                                            <p:cond delay="0"/>
                                          </p:stCondLst>
                                        </p:cTn>
                                        <p:tgtEl>
                                          <p:spTgt spid="427017"/>
                                        </p:tgtEl>
                                        <p:attrNameLst>
                                          <p:attrName>style.visibility</p:attrName>
                                        </p:attrNameLst>
                                      </p:cBhvr>
                                      <p:to>
                                        <p:strVal val="visible"/>
                                      </p:to>
                                    </p:set>
                                    <p:animEffect transition="in" filter="wipe(right)">
                                      <p:cBhvr>
                                        <p:cTn id="14" dur="500"/>
                                        <p:tgtEl>
                                          <p:spTgt spid="427017"/>
                                        </p:tgtEl>
                                      </p:cBhvr>
                                    </p:animEffect>
                                  </p:childTnLst>
                                </p:cTn>
                              </p:par>
                            </p:childTnLst>
                          </p:cTn>
                        </p:par>
                        <p:par>
                          <p:cTn id="15" fill="hold" nodeType="afterGroup">
                            <p:stCondLst>
                              <p:cond delay="500"/>
                            </p:stCondLst>
                            <p:childTnLst>
                              <p:par>
                                <p:cTn id="16" presetID="1" presetClass="exit" presetSubtype="0" fill="hold" grpId="1" nodeType="afterEffect">
                                  <p:stCondLst>
                                    <p:cond delay="0"/>
                                  </p:stCondLst>
                                  <p:childTnLst>
                                    <p:set>
                                      <p:cBhvr>
                                        <p:cTn id="17" dur="1" fill="hold">
                                          <p:stCondLst>
                                            <p:cond delay="0"/>
                                          </p:stCondLst>
                                        </p:cTn>
                                        <p:tgtEl>
                                          <p:spTgt spid="427017"/>
                                        </p:tgtEl>
                                        <p:attrNameLst>
                                          <p:attrName>style.visibility</p:attrName>
                                        </p:attrNameLst>
                                      </p:cBhvr>
                                      <p:to>
                                        <p:strVal val="hidden"/>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27015"/>
                                        </p:tgtEl>
                                        <p:attrNameLst>
                                          <p:attrName>style.visibility</p:attrName>
                                        </p:attrNameLst>
                                      </p:cBhvr>
                                      <p:to>
                                        <p:strVal val="visible"/>
                                      </p:to>
                                    </p:set>
                                  </p:childTnLst>
                                </p:cTn>
                              </p:par>
                            </p:childTnLst>
                          </p:cTn>
                        </p:par>
                        <p:par>
                          <p:cTn id="22" fill="hold" nodeType="afterGroup">
                            <p:stCondLst>
                              <p:cond delay="0"/>
                            </p:stCondLst>
                            <p:childTnLst>
                              <p:par>
                                <p:cTn id="23" presetID="1" presetClass="entr" presetSubtype="0" fill="hold" grpId="3" nodeType="afterEffect">
                                  <p:stCondLst>
                                    <p:cond delay="0"/>
                                  </p:stCondLst>
                                  <p:childTnLst>
                                    <p:set>
                                      <p:cBhvr>
                                        <p:cTn id="24" dur="1" fill="hold">
                                          <p:stCondLst>
                                            <p:cond delay="0"/>
                                          </p:stCondLst>
                                        </p:cTn>
                                        <p:tgtEl>
                                          <p:spTgt spid="427017"/>
                                        </p:tgtEl>
                                        <p:attrNameLst>
                                          <p:attrName>style.visibility</p:attrName>
                                        </p:attrNameLst>
                                      </p:cBhvr>
                                      <p:to>
                                        <p:strVal val="visible"/>
                                      </p:to>
                                    </p:set>
                                  </p:childTnLst>
                                </p:cTn>
                              </p:par>
                            </p:childTnLst>
                          </p:cTn>
                        </p:par>
                        <p:par>
                          <p:cTn id="25" fill="hold" nodeType="afterGroup">
                            <p:stCondLst>
                              <p:cond delay="0"/>
                            </p:stCondLst>
                            <p:childTnLst>
                              <p:par>
                                <p:cTn id="26" presetID="35" presetClass="path" presetSubtype="0" accel="50000" decel="50000" fill="hold" grpId="2" nodeType="afterEffect">
                                  <p:stCondLst>
                                    <p:cond delay="0"/>
                                  </p:stCondLst>
                                  <p:childTnLst>
                                    <p:animMotion origin="layout" path="M 0.01042 8.67052E-7 L -0.03125 8.67052E-7 " pathEditMode="relative" rAng="0" ptsTypes="AA">
                                      <p:cBhvr>
                                        <p:cTn id="27" dur="1000" fill="hold"/>
                                        <p:tgtEl>
                                          <p:spTgt spid="427017"/>
                                        </p:tgtEl>
                                        <p:attrNameLst>
                                          <p:attrName>ppt_x</p:attrName>
                                          <p:attrName>ppt_y</p:attrName>
                                        </p:attrNameLst>
                                      </p:cBhvr>
                                      <p:rCtr x="-2083" y="0"/>
                                    </p:animMotion>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1" nodeType="clickEffect">
                                  <p:stCondLst>
                                    <p:cond delay="0"/>
                                  </p:stCondLst>
                                  <p:childTnLst>
                                    <p:set>
                                      <p:cBhvr>
                                        <p:cTn id="31" dur="1" fill="hold">
                                          <p:stCondLst>
                                            <p:cond delay="0"/>
                                          </p:stCondLst>
                                        </p:cTn>
                                        <p:tgtEl>
                                          <p:spTgt spid="427016"/>
                                        </p:tgtEl>
                                        <p:attrNameLst>
                                          <p:attrName>style.visibility</p:attrName>
                                        </p:attrNameLst>
                                      </p:cBhvr>
                                      <p:to>
                                        <p:strVal val="visible"/>
                                      </p:to>
                                    </p:set>
                                  </p:childTnLst>
                                </p:cTn>
                              </p:par>
                            </p:childTnLst>
                          </p:cTn>
                        </p:par>
                        <p:par>
                          <p:cTn id="32" fill="hold" nodeType="afterGroup">
                            <p:stCondLst>
                              <p:cond delay="0"/>
                            </p:stCondLst>
                            <p:childTnLst>
                              <p:par>
                                <p:cTn id="33" presetID="1" presetClass="exit" presetSubtype="0" fill="hold" grpId="4" nodeType="afterEffect">
                                  <p:stCondLst>
                                    <p:cond delay="0"/>
                                  </p:stCondLst>
                                  <p:childTnLst>
                                    <p:set>
                                      <p:cBhvr>
                                        <p:cTn id="34" dur="1" fill="hold">
                                          <p:stCondLst>
                                            <p:cond delay="0"/>
                                          </p:stCondLst>
                                        </p:cTn>
                                        <p:tgtEl>
                                          <p:spTgt spid="427017"/>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7022"/>
                                        </p:tgtEl>
                                        <p:attrNameLst>
                                          <p:attrName>style.visibility</p:attrName>
                                        </p:attrNameLst>
                                      </p:cBhvr>
                                      <p:to>
                                        <p:strVal val="visible"/>
                                      </p:to>
                                    </p:set>
                                  </p:childTnLst>
                                </p:cTn>
                              </p:par>
                            </p:childTnLst>
                          </p:cTn>
                        </p:par>
                        <p:par>
                          <p:cTn id="39" fill="hold" nodeType="afterGroup">
                            <p:stCondLst>
                              <p:cond delay="0"/>
                            </p:stCondLst>
                            <p:childTnLst>
                              <p:par>
                                <p:cTn id="40" presetID="22" presetClass="entr" presetSubtype="2" fill="hold" grpId="0" nodeType="afterEffect">
                                  <p:stCondLst>
                                    <p:cond delay="0"/>
                                  </p:stCondLst>
                                  <p:childTnLst>
                                    <p:set>
                                      <p:cBhvr>
                                        <p:cTn id="41" dur="1" fill="hold">
                                          <p:stCondLst>
                                            <p:cond delay="0"/>
                                          </p:stCondLst>
                                        </p:cTn>
                                        <p:tgtEl>
                                          <p:spTgt spid="427023"/>
                                        </p:tgtEl>
                                        <p:attrNameLst>
                                          <p:attrName>style.visibility</p:attrName>
                                        </p:attrNameLst>
                                      </p:cBhvr>
                                      <p:to>
                                        <p:strVal val="visible"/>
                                      </p:to>
                                    </p:set>
                                    <p:animEffect transition="in" filter="wipe(right)">
                                      <p:cBhvr>
                                        <p:cTn id="42" dur="500"/>
                                        <p:tgtEl>
                                          <p:spTgt spid="42702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427023"/>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27024"/>
                                        </p:tgtEl>
                                        <p:attrNameLst>
                                          <p:attrName>style.visibility</p:attrName>
                                        </p:attrNameLst>
                                      </p:cBhvr>
                                      <p:to>
                                        <p:strVal val="visible"/>
                                      </p:to>
                                    </p:set>
                                  </p:childTnLst>
                                </p:cTn>
                              </p:par>
                            </p:childTnLst>
                          </p:cTn>
                        </p:par>
                        <p:par>
                          <p:cTn id="51" fill="hold" nodeType="afterGroup">
                            <p:stCondLst>
                              <p:cond delay="0"/>
                            </p:stCondLst>
                            <p:childTnLst>
                              <p:par>
                                <p:cTn id="52" presetID="1" presetClass="entr" presetSubtype="0" fill="hold" grpId="3" nodeType="afterEffect">
                                  <p:stCondLst>
                                    <p:cond delay="0"/>
                                  </p:stCondLst>
                                  <p:childTnLst>
                                    <p:set>
                                      <p:cBhvr>
                                        <p:cTn id="53" dur="1" fill="hold">
                                          <p:stCondLst>
                                            <p:cond delay="0"/>
                                          </p:stCondLst>
                                        </p:cTn>
                                        <p:tgtEl>
                                          <p:spTgt spid="427023"/>
                                        </p:tgtEl>
                                        <p:attrNameLst>
                                          <p:attrName>style.visibility</p:attrName>
                                        </p:attrNameLst>
                                      </p:cBhvr>
                                      <p:to>
                                        <p:strVal val="visible"/>
                                      </p:to>
                                    </p:set>
                                  </p:childTnLst>
                                </p:cTn>
                              </p:par>
                            </p:childTnLst>
                          </p:cTn>
                        </p:par>
                        <p:par>
                          <p:cTn id="54" fill="hold" nodeType="afterGroup">
                            <p:stCondLst>
                              <p:cond delay="0"/>
                            </p:stCondLst>
                            <p:childTnLst>
                              <p:par>
                                <p:cTn id="55" presetID="35" presetClass="path" presetSubtype="0" accel="50000" decel="50000" fill="hold" grpId="2" nodeType="afterEffect">
                                  <p:stCondLst>
                                    <p:cond delay="0"/>
                                  </p:stCondLst>
                                  <p:childTnLst>
                                    <p:animMotion origin="layout" path="M 3.33333E-6 -1.27168E-6 L -0.04167 -1.27168E-6 " pathEditMode="relative" rAng="0" ptsTypes="AA">
                                      <p:cBhvr>
                                        <p:cTn id="56" dur="1000" fill="hold"/>
                                        <p:tgtEl>
                                          <p:spTgt spid="427023"/>
                                        </p:tgtEl>
                                        <p:attrNameLst>
                                          <p:attrName>ppt_x</p:attrName>
                                          <p:attrName>ppt_y</p:attrName>
                                        </p:attrNameLst>
                                      </p:cBhvr>
                                      <p:rCtr x="-2083" y="0"/>
                                    </p:animMotion>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27026"/>
                                        </p:tgtEl>
                                        <p:attrNameLst>
                                          <p:attrName>style.visibility</p:attrName>
                                        </p:attrNameLst>
                                      </p:cBhvr>
                                      <p:to>
                                        <p:strVal val="visible"/>
                                      </p:to>
                                    </p:set>
                                  </p:childTnLst>
                                </p:cTn>
                              </p:par>
                            </p:childTnLst>
                          </p:cTn>
                        </p:par>
                        <p:par>
                          <p:cTn id="61" fill="hold" nodeType="afterGroup">
                            <p:stCondLst>
                              <p:cond delay="0"/>
                            </p:stCondLst>
                            <p:childTnLst>
                              <p:par>
                                <p:cTn id="62" presetID="1" presetClass="exit" presetSubtype="0" fill="hold" grpId="4" nodeType="afterEffect">
                                  <p:stCondLst>
                                    <p:cond delay="0"/>
                                  </p:stCondLst>
                                  <p:childTnLst>
                                    <p:set>
                                      <p:cBhvr>
                                        <p:cTn id="63" dur="1" fill="hold">
                                          <p:stCondLst>
                                            <p:cond delay="0"/>
                                          </p:stCondLst>
                                        </p:cTn>
                                        <p:tgtEl>
                                          <p:spTgt spid="427023"/>
                                        </p:tgtEl>
                                        <p:attrNameLst>
                                          <p:attrName>style.visibility</p:attrName>
                                        </p:attrNameLst>
                                      </p:cBhvr>
                                      <p:to>
                                        <p:strVal val="hidden"/>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53" presetClass="entr" presetSubtype="0" fill="hold" grpId="0" nodeType="clickEffect">
                                  <p:stCondLst>
                                    <p:cond delay="0"/>
                                  </p:stCondLst>
                                  <p:childTnLst>
                                    <p:set>
                                      <p:cBhvr>
                                        <p:cTn id="67" dur="1" fill="hold">
                                          <p:stCondLst>
                                            <p:cond delay="0"/>
                                          </p:stCondLst>
                                        </p:cTn>
                                        <p:tgtEl>
                                          <p:spTgt spid="427030"/>
                                        </p:tgtEl>
                                        <p:attrNameLst>
                                          <p:attrName>style.visibility</p:attrName>
                                        </p:attrNameLst>
                                      </p:cBhvr>
                                      <p:to>
                                        <p:strVal val="visible"/>
                                      </p:to>
                                    </p:set>
                                    <p:anim calcmode="lin" valueType="num">
                                      <p:cBhvr>
                                        <p:cTn id="68" dur="500" fill="hold"/>
                                        <p:tgtEl>
                                          <p:spTgt spid="427030"/>
                                        </p:tgtEl>
                                        <p:attrNameLst>
                                          <p:attrName>ppt_w</p:attrName>
                                        </p:attrNameLst>
                                      </p:cBhvr>
                                      <p:tavLst>
                                        <p:tav tm="0">
                                          <p:val>
                                            <p:fltVal val="0"/>
                                          </p:val>
                                        </p:tav>
                                        <p:tav tm="100000">
                                          <p:val>
                                            <p:strVal val="#ppt_w"/>
                                          </p:val>
                                        </p:tav>
                                      </p:tavLst>
                                    </p:anim>
                                    <p:anim calcmode="lin" valueType="num">
                                      <p:cBhvr>
                                        <p:cTn id="69" dur="500" fill="hold"/>
                                        <p:tgtEl>
                                          <p:spTgt spid="427030"/>
                                        </p:tgtEl>
                                        <p:attrNameLst>
                                          <p:attrName>ppt_h</p:attrName>
                                        </p:attrNameLst>
                                      </p:cBhvr>
                                      <p:tavLst>
                                        <p:tav tm="0">
                                          <p:val>
                                            <p:fltVal val="0"/>
                                          </p:val>
                                        </p:tav>
                                        <p:tav tm="100000">
                                          <p:val>
                                            <p:strVal val="#ppt_h"/>
                                          </p:val>
                                        </p:tav>
                                      </p:tavLst>
                                    </p:anim>
                                    <p:animEffect transition="in" filter="fade">
                                      <p:cBhvr>
                                        <p:cTn id="70" dur="500"/>
                                        <p:tgtEl>
                                          <p:spTgt spid="42703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53" presetClass="entr" presetSubtype="0" fill="hold" grpId="0" nodeType="clickEffect">
                                  <p:stCondLst>
                                    <p:cond delay="0"/>
                                  </p:stCondLst>
                                  <p:childTnLst>
                                    <p:set>
                                      <p:cBhvr>
                                        <p:cTn id="74" dur="1" fill="hold">
                                          <p:stCondLst>
                                            <p:cond delay="0"/>
                                          </p:stCondLst>
                                        </p:cTn>
                                        <p:tgtEl>
                                          <p:spTgt spid="427031"/>
                                        </p:tgtEl>
                                        <p:attrNameLst>
                                          <p:attrName>style.visibility</p:attrName>
                                        </p:attrNameLst>
                                      </p:cBhvr>
                                      <p:to>
                                        <p:strVal val="visible"/>
                                      </p:to>
                                    </p:set>
                                    <p:anim calcmode="lin" valueType="num">
                                      <p:cBhvr>
                                        <p:cTn id="75" dur="500" fill="hold"/>
                                        <p:tgtEl>
                                          <p:spTgt spid="427031"/>
                                        </p:tgtEl>
                                        <p:attrNameLst>
                                          <p:attrName>ppt_w</p:attrName>
                                        </p:attrNameLst>
                                      </p:cBhvr>
                                      <p:tavLst>
                                        <p:tav tm="0">
                                          <p:val>
                                            <p:fltVal val="0"/>
                                          </p:val>
                                        </p:tav>
                                        <p:tav tm="100000">
                                          <p:val>
                                            <p:strVal val="#ppt_w"/>
                                          </p:val>
                                        </p:tav>
                                      </p:tavLst>
                                    </p:anim>
                                    <p:anim calcmode="lin" valueType="num">
                                      <p:cBhvr>
                                        <p:cTn id="76" dur="500" fill="hold"/>
                                        <p:tgtEl>
                                          <p:spTgt spid="427031"/>
                                        </p:tgtEl>
                                        <p:attrNameLst>
                                          <p:attrName>ppt_h</p:attrName>
                                        </p:attrNameLst>
                                      </p:cBhvr>
                                      <p:tavLst>
                                        <p:tav tm="0">
                                          <p:val>
                                            <p:fltVal val="0"/>
                                          </p:val>
                                        </p:tav>
                                        <p:tav tm="100000">
                                          <p:val>
                                            <p:strVal val="#ppt_h"/>
                                          </p:val>
                                        </p:tav>
                                      </p:tavLst>
                                    </p:anim>
                                    <p:animEffect transition="in" filter="fade">
                                      <p:cBhvr>
                                        <p:cTn id="77" dur="500"/>
                                        <p:tgtEl>
                                          <p:spTgt spid="42703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2" fill="hold" grpId="0" nodeType="clickEffect">
                                  <p:stCondLst>
                                    <p:cond delay="0"/>
                                  </p:stCondLst>
                                  <p:childTnLst>
                                    <p:set>
                                      <p:cBhvr>
                                        <p:cTn id="81" dur="1" fill="hold">
                                          <p:stCondLst>
                                            <p:cond delay="0"/>
                                          </p:stCondLst>
                                        </p:cTn>
                                        <p:tgtEl>
                                          <p:spTgt spid="427034"/>
                                        </p:tgtEl>
                                        <p:attrNameLst>
                                          <p:attrName>style.visibility</p:attrName>
                                        </p:attrNameLst>
                                      </p:cBhvr>
                                      <p:to>
                                        <p:strVal val="visible"/>
                                      </p:to>
                                    </p:set>
                                    <p:animEffect transition="in" filter="wipe(right)">
                                      <p:cBhvr>
                                        <p:cTn id="82" dur="500"/>
                                        <p:tgtEl>
                                          <p:spTgt spid="42703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27039"/>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53" presetClass="entr" presetSubtype="0" fill="hold" grpId="0" nodeType="clickEffect">
                                  <p:stCondLst>
                                    <p:cond delay="0"/>
                                  </p:stCondLst>
                                  <p:childTnLst>
                                    <p:set>
                                      <p:cBhvr>
                                        <p:cTn id="90" dur="1" fill="hold">
                                          <p:stCondLst>
                                            <p:cond delay="0"/>
                                          </p:stCondLst>
                                        </p:cTn>
                                        <p:tgtEl>
                                          <p:spTgt spid="427040"/>
                                        </p:tgtEl>
                                        <p:attrNameLst>
                                          <p:attrName>style.visibility</p:attrName>
                                        </p:attrNameLst>
                                      </p:cBhvr>
                                      <p:to>
                                        <p:strVal val="visible"/>
                                      </p:to>
                                    </p:set>
                                    <p:anim calcmode="lin" valueType="num">
                                      <p:cBhvr>
                                        <p:cTn id="91" dur="500" fill="hold"/>
                                        <p:tgtEl>
                                          <p:spTgt spid="427040"/>
                                        </p:tgtEl>
                                        <p:attrNameLst>
                                          <p:attrName>ppt_w</p:attrName>
                                        </p:attrNameLst>
                                      </p:cBhvr>
                                      <p:tavLst>
                                        <p:tav tm="0">
                                          <p:val>
                                            <p:fltVal val="0"/>
                                          </p:val>
                                        </p:tav>
                                        <p:tav tm="100000">
                                          <p:val>
                                            <p:strVal val="#ppt_w"/>
                                          </p:val>
                                        </p:tav>
                                      </p:tavLst>
                                    </p:anim>
                                    <p:anim calcmode="lin" valueType="num">
                                      <p:cBhvr>
                                        <p:cTn id="92" dur="500" fill="hold"/>
                                        <p:tgtEl>
                                          <p:spTgt spid="427040"/>
                                        </p:tgtEl>
                                        <p:attrNameLst>
                                          <p:attrName>ppt_h</p:attrName>
                                        </p:attrNameLst>
                                      </p:cBhvr>
                                      <p:tavLst>
                                        <p:tav tm="0">
                                          <p:val>
                                            <p:fltVal val="0"/>
                                          </p:val>
                                        </p:tav>
                                        <p:tav tm="100000">
                                          <p:val>
                                            <p:strVal val="#ppt_h"/>
                                          </p:val>
                                        </p:tav>
                                      </p:tavLst>
                                    </p:anim>
                                    <p:animEffect transition="in" filter="fade">
                                      <p:cBhvr>
                                        <p:cTn id="93" dur="500"/>
                                        <p:tgtEl>
                                          <p:spTgt spid="427040"/>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53" presetClass="entr" presetSubtype="0" fill="hold" grpId="0" nodeType="clickEffect">
                                  <p:stCondLst>
                                    <p:cond delay="0"/>
                                  </p:stCondLst>
                                  <p:childTnLst>
                                    <p:set>
                                      <p:cBhvr>
                                        <p:cTn id="97" dur="1" fill="hold">
                                          <p:stCondLst>
                                            <p:cond delay="0"/>
                                          </p:stCondLst>
                                        </p:cTn>
                                        <p:tgtEl>
                                          <p:spTgt spid="427043"/>
                                        </p:tgtEl>
                                        <p:attrNameLst>
                                          <p:attrName>style.visibility</p:attrName>
                                        </p:attrNameLst>
                                      </p:cBhvr>
                                      <p:to>
                                        <p:strVal val="visible"/>
                                      </p:to>
                                    </p:set>
                                    <p:anim calcmode="lin" valueType="num">
                                      <p:cBhvr>
                                        <p:cTn id="98" dur="500" fill="hold"/>
                                        <p:tgtEl>
                                          <p:spTgt spid="427043"/>
                                        </p:tgtEl>
                                        <p:attrNameLst>
                                          <p:attrName>ppt_w</p:attrName>
                                        </p:attrNameLst>
                                      </p:cBhvr>
                                      <p:tavLst>
                                        <p:tav tm="0">
                                          <p:val>
                                            <p:fltVal val="0"/>
                                          </p:val>
                                        </p:tav>
                                        <p:tav tm="100000">
                                          <p:val>
                                            <p:strVal val="#ppt_w"/>
                                          </p:val>
                                        </p:tav>
                                      </p:tavLst>
                                    </p:anim>
                                    <p:anim calcmode="lin" valueType="num">
                                      <p:cBhvr>
                                        <p:cTn id="99" dur="500" fill="hold"/>
                                        <p:tgtEl>
                                          <p:spTgt spid="427043"/>
                                        </p:tgtEl>
                                        <p:attrNameLst>
                                          <p:attrName>ppt_h</p:attrName>
                                        </p:attrNameLst>
                                      </p:cBhvr>
                                      <p:tavLst>
                                        <p:tav tm="0">
                                          <p:val>
                                            <p:fltVal val="0"/>
                                          </p:val>
                                        </p:tav>
                                        <p:tav tm="100000">
                                          <p:val>
                                            <p:strVal val="#ppt_h"/>
                                          </p:val>
                                        </p:tav>
                                      </p:tavLst>
                                    </p:anim>
                                    <p:animEffect transition="in" filter="fade">
                                      <p:cBhvr>
                                        <p:cTn id="100" dur="500"/>
                                        <p:tgtEl>
                                          <p:spTgt spid="427043"/>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53" presetClass="entr" presetSubtype="0" fill="hold" grpId="0" nodeType="clickEffect">
                                  <p:stCondLst>
                                    <p:cond delay="0"/>
                                  </p:stCondLst>
                                  <p:childTnLst>
                                    <p:set>
                                      <p:cBhvr>
                                        <p:cTn id="104" dur="1" fill="hold">
                                          <p:stCondLst>
                                            <p:cond delay="0"/>
                                          </p:stCondLst>
                                        </p:cTn>
                                        <p:tgtEl>
                                          <p:spTgt spid="427051"/>
                                        </p:tgtEl>
                                        <p:attrNameLst>
                                          <p:attrName>style.visibility</p:attrName>
                                        </p:attrNameLst>
                                      </p:cBhvr>
                                      <p:to>
                                        <p:strVal val="visible"/>
                                      </p:to>
                                    </p:set>
                                    <p:anim calcmode="lin" valueType="num">
                                      <p:cBhvr>
                                        <p:cTn id="105" dur="500" fill="hold"/>
                                        <p:tgtEl>
                                          <p:spTgt spid="427051"/>
                                        </p:tgtEl>
                                        <p:attrNameLst>
                                          <p:attrName>ppt_w</p:attrName>
                                        </p:attrNameLst>
                                      </p:cBhvr>
                                      <p:tavLst>
                                        <p:tav tm="0">
                                          <p:val>
                                            <p:fltVal val="0"/>
                                          </p:val>
                                        </p:tav>
                                        <p:tav tm="100000">
                                          <p:val>
                                            <p:strVal val="#ppt_w"/>
                                          </p:val>
                                        </p:tav>
                                      </p:tavLst>
                                    </p:anim>
                                    <p:anim calcmode="lin" valueType="num">
                                      <p:cBhvr>
                                        <p:cTn id="106" dur="500" fill="hold"/>
                                        <p:tgtEl>
                                          <p:spTgt spid="427051"/>
                                        </p:tgtEl>
                                        <p:attrNameLst>
                                          <p:attrName>ppt_h</p:attrName>
                                        </p:attrNameLst>
                                      </p:cBhvr>
                                      <p:tavLst>
                                        <p:tav tm="0">
                                          <p:val>
                                            <p:fltVal val="0"/>
                                          </p:val>
                                        </p:tav>
                                        <p:tav tm="100000">
                                          <p:val>
                                            <p:strVal val="#ppt_h"/>
                                          </p:val>
                                        </p:tav>
                                      </p:tavLst>
                                    </p:anim>
                                    <p:animEffect transition="in" filter="fade">
                                      <p:cBhvr>
                                        <p:cTn id="107" dur="500"/>
                                        <p:tgtEl>
                                          <p:spTgt spid="427051"/>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427044"/>
                                        </p:tgtEl>
                                        <p:attrNameLst>
                                          <p:attrName>style.visibility</p:attrName>
                                        </p:attrNameLst>
                                      </p:cBhvr>
                                      <p:to>
                                        <p:strVal val="visible"/>
                                      </p:to>
                                    </p:se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427045"/>
                                        </p:tgtEl>
                                        <p:attrNameLst>
                                          <p:attrName>style.visibility</p:attrName>
                                        </p:attrNameLst>
                                      </p:cBhvr>
                                      <p:to>
                                        <p:strVal val="visible"/>
                                      </p:to>
                                    </p:se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427046"/>
                                        </p:tgtEl>
                                        <p:attrNameLst>
                                          <p:attrName>style.visibility</p:attrName>
                                        </p:attrNameLst>
                                      </p:cBhvr>
                                      <p:to>
                                        <p:strVal val="visible"/>
                                      </p:to>
                                    </p:se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53" presetClass="entr" presetSubtype="0" fill="hold" grpId="0" nodeType="clickEffect">
                                  <p:stCondLst>
                                    <p:cond delay="0"/>
                                  </p:stCondLst>
                                  <p:childTnLst>
                                    <p:set>
                                      <p:cBhvr>
                                        <p:cTn id="123" dur="1" fill="hold">
                                          <p:stCondLst>
                                            <p:cond delay="0"/>
                                          </p:stCondLst>
                                        </p:cTn>
                                        <p:tgtEl>
                                          <p:spTgt spid="427047"/>
                                        </p:tgtEl>
                                        <p:attrNameLst>
                                          <p:attrName>style.visibility</p:attrName>
                                        </p:attrNameLst>
                                      </p:cBhvr>
                                      <p:to>
                                        <p:strVal val="visible"/>
                                      </p:to>
                                    </p:set>
                                    <p:anim calcmode="lin" valueType="num">
                                      <p:cBhvr>
                                        <p:cTn id="124" dur="500" fill="hold"/>
                                        <p:tgtEl>
                                          <p:spTgt spid="427047"/>
                                        </p:tgtEl>
                                        <p:attrNameLst>
                                          <p:attrName>ppt_w</p:attrName>
                                        </p:attrNameLst>
                                      </p:cBhvr>
                                      <p:tavLst>
                                        <p:tav tm="0">
                                          <p:val>
                                            <p:fltVal val="0"/>
                                          </p:val>
                                        </p:tav>
                                        <p:tav tm="100000">
                                          <p:val>
                                            <p:strVal val="#ppt_w"/>
                                          </p:val>
                                        </p:tav>
                                      </p:tavLst>
                                    </p:anim>
                                    <p:anim calcmode="lin" valueType="num">
                                      <p:cBhvr>
                                        <p:cTn id="125" dur="500" fill="hold"/>
                                        <p:tgtEl>
                                          <p:spTgt spid="427047"/>
                                        </p:tgtEl>
                                        <p:attrNameLst>
                                          <p:attrName>ppt_h</p:attrName>
                                        </p:attrNameLst>
                                      </p:cBhvr>
                                      <p:tavLst>
                                        <p:tav tm="0">
                                          <p:val>
                                            <p:fltVal val="0"/>
                                          </p:val>
                                        </p:tav>
                                        <p:tav tm="100000">
                                          <p:val>
                                            <p:strVal val="#ppt_h"/>
                                          </p:val>
                                        </p:tav>
                                      </p:tavLst>
                                    </p:anim>
                                    <p:animEffect transition="in" filter="fade">
                                      <p:cBhvr>
                                        <p:cTn id="126" dur="500"/>
                                        <p:tgtEl>
                                          <p:spTgt spid="427047"/>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27049"/>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53" presetClass="entr" presetSubtype="0" fill="hold" grpId="0" nodeType="clickEffect">
                                  <p:stCondLst>
                                    <p:cond delay="0"/>
                                  </p:stCondLst>
                                  <p:childTnLst>
                                    <p:set>
                                      <p:cBhvr>
                                        <p:cTn id="134" dur="1" fill="hold">
                                          <p:stCondLst>
                                            <p:cond delay="0"/>
                                          </p:stCondLst>
                                        </p:cTn>
                                        <p:tgtEl>
                                          <p:spTgt spid="427050"/>
                                        </p:tgtEl>
                                        <p:attrNameLst>
                                          <p:attrName>style.visibility</p:attrName>
                                        </p:attrNameLst>
                                      </p:cBhvr>
                                      <p:to>
                                        <p:strVal val="visible"/>
                                      </p:to>
                                    </p:set>
                                    <p:anim calcmode="lin" valueType="num">
                                      <p:cBhvr>
                                        <p:cTn id="135" dur="500" fill="hold"/>
                                        <p:tgtEl>
                                          <p:spTgt spid="427050"/>
                                        </p:tgtEl>
                                        <p:attrNameLst>
                                          <p:attrName>ppt_w</p:attrName>
                                        </p:attrNameLst>
                                      </p:cBhvr>
                                      <p:tavLst>
                                        <p:tav tm="0">
                                          <p:val>
                                            <p:fltVal val="0"/>
                                          </p:val>
                                        </p:tav>
                                        <p:tav tm="100000">
                                          <p:val>
                                            <p:strVal val="#ppt_w"/>
                                          </p:val>
                                        </p:tav>
                                      </p:tavLst>
                                    </p:anim>
                                    <p:anim calcmode="lin" valueType="num">
                                      <p:cBhvr>
                                        <p:cTn id="136" dur="500" fill="hold"/>
                                        <p:tgtEl>
                                          <p:spTgt spid="427050"/>
                                        </p:tgtEl>
                                        <p:attrNameLst>
                                          <p:attrName>ppt_h</p:attrName>
                                        </p:attrNameLst>
                                      </p:cBhvr>
                                      <p:tavLst>
                                        <p:tav tm="0">
                                          <p:val>
                                            <p:fltVal val="0"/>
                                          </p:val>
                                        </p:tav>
                                        <p:tav tm="100000">
                                          <p:val>
                                            <p:strVal val="#ppt_h"/>
                                          </p:val>
                                        </p:tav>
                                      </p:tavLst>
                                    </p:anim>
                                    <p:animEffect transition="in" filter="fade">
                                      <p:cBhvr>
                                        <p:cTn id="137" dur="500"/>
                                        <p:tgtEl>
                                          <p:spTgt spid="427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4" grpId="0"/>
      <p:bldP spid="427015" grpId="0"/>
      <p:bldP spid="427016" grpId="0"/>
      <p:bldP spid="427016" grpId="1"/>
      <p:bldP spid="427017" grpId="0"/>
      <p:bldP spid="427017" grpId="1"/>
      <p:bldP spid="427017" grpId="2"/>
      <p:bldP spid="427017" grpId="3"/>
      <p:bldP spid="427017" grpId="4"/>
      <p:bldP spid="427022" grpId="0"/>
      <p:bldP spid="427023" grpId="0"/>
      <p:bldP spid="427023" grpId="1"/>
      <p:bldP spid="427023" grpId="2"/>
      <p:bldP spid="427023" grpId="3"/>
      <p:bldP spid="427023" grpId="4"/>
      <p:bldP spid="427024" grpId="0"/>
      <p:bldP spid="427026" grpId="0"/>
      <p:bldP spid="427030" grpId="0"/>
      <p:bldP spid="427031" grpId="0"/>
      <p:bldP spid="427034" grpId="0"/>
      <p:bldP spid="427039" grpId="0"/>
      <p:bldP spid="427040" grpId="0"/>
      <p:bldP spid="427043" grpId="0"/>
      <p:bldP spid="427044" grpId="0"/>
      <p:bldP spid="427045" grpId="0"/>
      <p:bldP spid="427046" grpId="0"/>
      <p:bldP spid="427047" grpId="0"/>
      <p:bldP spid="427049" grpId="0" animBg="1"/>
      <p:bldP spid="427050" grpId="0"/>
      <p:bldP spid="4270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AutoShape 2"/>
          <p:cNvSpPr>
            <a:spLocks noGrp="1" noChangeArrowheads="1"/>
          </p:cNvSpPr>
          <p:nvPr>
            <p:ph type="title"/>
          </p:nvPr>
        </p:nvSpPr>
        <p:spPr/>
        <p:txBody>
          <a:bodyPr/>
          <a:lstStyle/>
          <a:p>
            <a:pPr eaLnBrk="1" hangingPunct="1"/>
            <a:r>
              <a:rPr lang="en-US" altLang="vi-VN" smtClean="0"/>
              <a:t>HỆ HEXA (HỆ ĐẾM CƠ SỐ 16)</a:t>
            </a:r>
          </a:p>
        </p:txBody>
      </p:sp>
      <p:sp>
        <p:nvSpPr>
          <p:cNvPr id="12291" name="Rectangle 3"/>
          <p:cNvSpPr>
            <a:spLocks noGrp="1" noChangeArrowheads="1"/>
          </p:cNvSpPr>
          <p:nvPr>
            <p:ph type="body" idx="1"/>
          </p:nvPr>
        </p:nvSpPr>
        <p:spPr>
          <a:xfrm>
            <a:off x="838200" y="1905000"/>
            <a:ext cx="7693025" cy="4953000"/>
          </a:xfrm>
        </p:spPr>
        <p:txBody>
          <a:bodyPr>
            <a:normAutofit fontScale="92500"/>
          </a:bodyPr>
          <a:lstStyle/>
          <a:p>
            <a:pPr eaLnBrk="1" hangingPunct="1">
              <a:lnSpc>
                <a:spcPct val="90000"/>
              </a:lnSpc>
            </a:pPr>
            <a:r>
              <a:rPr lang="en-US" altLang="vi-VN" smtClean="0"/>
              <a:t>Hệ nhị phân tuy tính toán đơn giản nhưng biểu diễn số rất dài. Hệ thập phân thì không thích hợp với máy tính. Người ta thường dùng hệ 16 (hexa) vì biểu diễn số ngắn mà chuyển đổi với hệ nhị phân rất đơn giản</a:t>
            </a:r>
          </a:p>
          <a:p>
            <a:pPr eaLnBrk="1" hangingPunct="1">
              <a:lnSpc>
                <a:spcPct val="90000"/>
              </a:lnSpc>
            </a:pPr>
            <a:r>
              <a:rPr lang="en-US" altLang="vi-VN" smtClean="0"/>
              <a:t>Hệ đếm cơ số 16 dùng các chữ số </a:t>
            </a:r>
            <a:br>
              <a:rPr lang="en-US" altLang="vi-VN" smtClean="0"/>
            </a:br>
            <a:r>
              <a:rPr lang="en-US" altLang="vi-VN" smtClean="0"/>
              <a:t>{ 0,1,2,3,4,5,6,7,8,9,A,B,C,D,E,F}</a:t>
            </a:r>
          </a:p>
          <a:p>
            <a:pPr eaLnBrk="1" hangingPunct="1">
              <a:lnSpc>
                <a:spcPct val="90000"/>
              </a:lnSpc>
            </a:pPr>
            <a:r>
              <a:rPr lang="en-US" altLang="vi-VN" smtClean="0"/>
              <a:t>Bảng cộng, nhân không hoàn toàn giống như trong hệ thập phân, ví dụ 5+6 = B nhưng cách thực hiện các phép toán số học cũng tương tự như hệ thập phân.</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3342900459"/>
      </p:ext>
    </p:extLst>
  </p:cSld>
  <p:clrMapOvr>
    <a:masterClrMapping/>
  </p:clrMapOvr>
  <p:transition spd="slow">
    <p:wipe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AutoShape 2"/>
          <p:cNvSpPr>
            <a:spLocks noGrp="1" noChangeArrowheads="1"/>
          </p:cNvSpPr>
          <p:nvPr>
            <p:ph type="title"/>
          </p:nvPr>
        </p:nvSpPr>
        <p:spPr/>
        <p:txBody>
          <a:bodyPr/>
          <a:lstStyle/>
          <a:p>
            <a:pPr eaLnBrk="1" hangingPunct="1"/>
            <a:r>
              <a:rPr lang="en-US" altLang="vi-VN" sz="3200" smtClean="0"/>
              <a:t>ĐỔI BIỂU DIỄN SỐ VỚI </a:t>
            </a:r>
            <a:br>
              <a:rPr lang="en-US" altLang="vi-VN" sz="3200" smtClean="0"/>
            </a:br>
            <a:r>
              <a:rPr lang="en-US" altLang="vi-VN" sz="3200" smtClean="0"/>
              <a:t>CÁC CƠ SỐ KHÁC NHAU</a:t>
            </a:r>
          </a:p>
        </p:txBody>
      </p:sp>
      <p:sp>
        <p:nvSpPr>
          <p:cNvPr id="13315" name="Rectangle 3"/>
          <p:cNvSpPr>
            <a:spLocks noGrp="1" noChangeArrowheads="1"/>
          </p:cNvSpPr>
          <p:nvPr>
            <p:ph type="body" idx="1"/>
          </p:nvPr>
        </p:nvSpPr>
        <p:spPr>
          <a:xfrm>
            <a:off x="381000" y="1905000"/>
            <a:ext cx="8763000" cy="4181475"/>
          </a:xfrm>
        </p:spPr>
        <p:txBody>
          <a:bodyPr>
            <a:normAutofit fontScale="92500" lnSpcReduction="20000"/>
          </a:bodyPr>
          <a:lstStyle/>
          <a:p>
            <a:pPr eaLnBrk="1" hangingPunct="1">
              <a:lnSpc>
                <a:spcPct val="80000"/>
              </a:lnSpc>
            </a:pPr>
            <a:r>
              <a:rPr lang="en-US" altLang="vi-VN" smtClean="0"/>
              <a:t>Giả sử có số nguyên n, trong một hệ đếm cơ số p nào đó, ta cần tìm biểu diễn của nó trong một hệ đếm cơ số b và</a:t>
            </a:r>
            <a:r>
              <a:rPr lang="en-US" altLang="vi-VN" sz="3200" smtClean="0"/>
              <a:t> </a:t>
            </a:r>
            <a:r>
              <a:rPr lang="en-US" altLang="vi-VN" smtClean="0"/>
              <a:t>giả sử biểu diễn đó là</a:t>
            </a:r>
            <a:r>
              <a:rPr lang="en-US" altLang="vi-VN" sz="3200" smtClean="0"/>
              <a:t> </a:t>
            </a:r>
            <a:r>
              <a:rPr lang="en-US" altLang="vi-VN" smtClean="0"/>
              <a:t>d</a:t>
            </a:r>
            <a:r>
              <a:rPr lang="en-US" altLang="vi-VN" baseline="-25000" smtClean="0"/>
              <a:t>k</a:t>
            </a:r>
            <a:r>
              <a:rPr lang="en-US" altLang="vi-VN" smtClean="0"/>
              <a:t>d</a:t>
            </a:r>
            <a:r>
              <a:rPr lang="en-US" altLang="vi-VN" baseline="-25000" smtClean="0"/>
              <a:t>k-1</a:t>
            </a:r>
            <a:r>
              <a:rPr lang="en-US" altLang="vi-VN" smtClean="0"/>
              <a:t>…d</a:t>
            </a:r>
            <a:r>
              <a:rPr lang="en-US" altLang="vi-VN" baseline="-25000" smtClean="0"/>
              <a:t>1</a:t>
            </a:r>
            <a:r>
              <a:rPr lang="en-US" altLang="vi-VN" smtClean="0"/>
              <a:t>a</a:t>
            </a:r>
            <a:r>
              <a:rPr lang="en-US" altLang="vi-VN" baseline="-25000" smtClean="0"/>
              <a:t>0</a:t>
            </a:r>
            <a:r>
              <a:rPr lang="en-US" altLang="vi-VN" smtClean="0"/>
              <a:t> </a:t>
            </a:r>
          </a:p>
          <a:p>
            <a:pPr algn="ctr" eaLnBrk="1" hangingPunct="1">
              <a:lnSpc>
                <a:spcPct val="80000"/>
              </a:lnSpc>
              <a:buFont typeface="Wingdings" panose="05000000000000000000" pitchFamily="2" charset="2"/>
              <a:buNone/>
            </a:pPr>
            <a:r>
              <a:rPr lang="en-US" altLang="vi-VN" smtClean="0"/>
              <a:t>N = d</a:t>
            </a:r>
            <a:r>
              <a:rPr lang="en-US" altLang="vi-VN" baseline="-25000" smtClean="0"/>
              <a:t>n</a:t>
            </a:r>
            <a:r>
              <a:rPr lang="en-US" altLang="vi-VN" smtClean="0"/>
              <a:t>.b</a:t>
            </a:r>
            <a:r>
              <a:rPr lang="en-US" altLang="vi-VN" baseline="30000" smtClean="0"/>
              <a:t>n</a:t>
            </a:r>
            <a:r>
              <a:rPr lang="en-US" altLang="vi-VN" smtClean="0"/>
              <a:t> + d</a:t>
            </a:r>
            <a:r>
              <a:rPr lang="en-US" altLang="vi-VN" baseline="-25000" smtClean="0"/>
              <a:t>n-1</a:t>
            </a:r>
            <a:r>
              <a:rPr lang="en-US" altLang="vi-VN" smtClean="0"/>
              <a:t>.b</a:t>
            </a:r>
            <a:r>
              <a:rPr lang="en-US" altLang="vi-VN" baseline="30000" smtClean="0"/>
              <a:t>n-1</a:t>
            </a:r>
            <a:r>
              <a:rPr lang="en-US" altLang="vi-VN" smtClean="0"/>
              <a:t> +…+ d</a:t>
            </a:r>
            <a:r>
              <a:rPr lang="en-US" altLang="vi-VN" baseline="-25000" smtClean="0"/>
              <a:t>1</a:t>
            </a:r>
            <a:r>
              <a:rPr lang="en-US" altLang="vi-VN" smtClean="0"/>
              <a:t>b</a:t>
            </a:r>
            <a:r>
              <a:rPr lang="en-US" altLang="vi-VN" baseline="30000" smtClean="0"/>
              <a:t>1</a:t>
            </a:r>
            <a:r>
              <a:rPr lang="en-US" altLang="vi-VN" smtClean="0"/>
              <a:t>+d</a:t>
            </a:r>
            <a:r>
              <a:rPr lang="en-US" altLang="vi-VN" baseline="-25000" smtClean="0"/>
              <a:t>0</a:t>
            </a:r>
            <a:r>
              <a:rPr lang="en-US" altLang="vi-VN" smtClean="0"/>
              <a:t> , 0≤ d</a:t>
            </a:r>
            <a:r>
              <a:rPr lang="en-US" altLang="vi-VN" baseline="-25000" smtClean="0"/>
              <a:t>i</a:t>
            </a:r>
            <a:r>
              <a:rPr lang="en-US" altLang="vi-VN" smtClean="0"/>
              <a:t>≤b-1</a:t>
            </a:r>
          </a:p>
          <a:p>
            <a:pPr eaLnBrk="1" hangingPunct="1">
              <a:lnSpc>
                <a:spcPct val="80000"/>
              </a:lnSpc>
            </a:pPr>
            <a:r>
              <a:rPr lang="en-US" altLang="vi-VN" smtClean="0"/>
              <a:t>Chia n cho b ta được số dư d</a:t>
            </a:r>
            <a:r>
              <a:rPr lang="en-US" altLang="vi-VN" baseline="-25000" smtClean="0"/>
              <a:t>0. </a:t>
            </a:r>
            <a:r>
              <a:rPr lang="en-US" altLang="vi-VN" smtClean="0"/>
              <a:t>và</a:t>
            </a:r>
            <a:r>
              <a:rPr lang="en-US" altLang="vi-VN" baseline="-25000" smtClean="0"/>
              <a:t> </a:t>
            </a:r>
            <a:r>
              <a:rPr lang="en-US" altLang="vi-VN" smtClean="0"/>
              <a:t>thương  </a:t>
            </a:r>
          </a:p>
          <a:p>
            <a:pPr algn="ctr" eaLnBrk="1" hangingPunct="1">
              <a:lnSpc>
                <a:spcPct val="80000"/>
              </a:lnSpc>
              <a:buFont typeface="Wingdings" panose="05000000000000000000" pitchFamily="2" charset="2"/>
              <a:buNone/>
            </a:pPr>
            <a:r>
              <a:rPr lang="en-US" altLang="vi-VN" smtClean="0"/>
              <a:t>N1= d</a:t>
            </a:r>
            <a:r>
              <a:rPr lang="en-US" altLang="vi-VN" baseline="-25000" smtClean="0"/>
              <a:t>n</a:t>
            </a:r>
            <a:r>
              <a:rPr lang="en-US" altLang="vi-VN" smtClean="0"/>
              <a:t>.b</a:t>
            </a:r>
            <a:r>
              <a:rPr lang="en-US" altLang="vi-VN" baseline="30000" smtClean="0"/>
              <a:t>n-1</a:t>
            </a:r>
            <a:r>
              <a:rPr lang="en-US" altLang="vi-VN" smtClean="0"/>
              <a:t> + d</a:t>
            </a:r>
            <a:r>
              <a:rPr lang="en-US" altLang="vi-VN" baseline="-25000" smtClean="0"/>
              <a:t>k-1</a:t>
            </a:r>
            <a:r>
              <a:rPr lang="en-US" altLang="vi-VN" smtClean="0"/>
              <a:t>.b</a:t>
            </a:r>
            <a:r>
              <a:rPr lang="en-US" altLang="vi-VN" baseline="30000" smtClean="0"/>
              <a:t>n-2</a:t>
            </a:r>
            <a:r>
              <a:rPr lang="en-US" altLang="vi-VN" smtClean="0"/>
              <a:t> +…+ d</a:t>
            </a:r>
            <a:r>
              <a:rPr lang="en-US" altLang="vi-VN" baseline="-25000" smtClean="0"/>
              <a:t>n</a:t>
            </a:r>
            <a:r>
              <a:rPr lang="en-US" altLang="vi-VN" smtClean="0"/>
              <a:t>b</a:t>
            </a:r>
            <a:r>
              <a:rPr lang="en-US" altLang="vi-VN" baseline="30000" smtClean="0"/>
              <a:t>1</a:t>
            </a:r>
            <a:r>
              <a:rPr lang="en-US" altLang="vi-VN" smtClean="0"/>
              <a:t>+d</a:t>
            </a:r>
            <a:r>
              <a:rPr lang="en-US" altLang="vi-VN" baseline="-25000" smtClean="0"/>
              <a:t>1</a:t>
            </a:r>
            <a:r>
              <a:rPr lang="en-US" altLang="vi-VN" smtClean="0"/>
              <a:t> </a:t>
            </a:r>
          </a:p>
          <a:p>
            <a:pPr eaLnBrk="1" hangingPunct="1">
              <a:lnSpc>
                <a:spcPct val="80000"/>
              </a:lnSpc>
            </a:pPr>
            <a:r>
              <a:rPr lang="en-US" altLang="vi-VN" smtClean="0"/>
              <a:t>Chia n1 cho b ta được số dư d1 và thương </a:t>
            </a:r>
            <a:br>
              <a:rPr lang="en-US" altLang="vi-VN" smtClean="0"/>
            </a:br>
            <a:r>
              <a:rPr lang="en-US" altLang="vi-VN" smtClean="0"/>
              <a:t>              N2 = d</a:t>
            </a:r>
            <a:r>
              <a:rPr lang="en-US" altLang="vi-VN" baseline="-25000" smtClean="0"/>
              <a:t>n</a:t>
            </a:r>
            <a:r>
              <a:rPr lang="en-US" altLang="vi-VN" smtClean="0"/>
              <a:t>.b</a:t>
            </a:r>
            <a:r>
              <a:rPr lang="en-US" altLang="vi-VN" baseline="30000" smtClean="0"/>
              <a:t>n-2</a:t>
            </a:r>
            <a:r>
              <a:rPr lang="en-US" altLang="vi-VN" smtClean="0"/>
              <a:t> + d</a:t>
            </a:r>
            <a:r>
              <a:rPr lang="en-US" altLang="vi-VN" baseline="-25000" smtClean="0"/>
              <a:t>n-1</a:t>
            </a:r>
            <a:r>
              <a:rPr lang="en-US" altLang="vi-VN" smtClean="0"/>
              <a:t>.b</a:t>
            </a:r>
            <a:r>
              <a:rPr lang="en-US" altLang="vi-VN" baseline="30000" smtClean="0"/>
              <a:t>n-3</a:t>
            </a:r>
            <a:r>
              <a:rPr lang="en-US" altLang="vi-VN" smtClean="0"/>
              <a:t> +…+ d</a:t>
            </a:r>
            <a:r>
              <a:rPr lang="en-US" altLang="vi-VN" baseline="-25000" smtClean="0"/>
              <a:t>3</a:t>
            </a:r>
            <a:r>
              <a:rPr lang="en-US" altLang="vi-VN" smtClean="0"/>
              <a:t>b</a:t>
            </a:r>
            <a:r>
              <a:rPr lang="en-US" altLang="vi-VN" baseline="30000" smtClean="0"/>
              <a:t>1</a:t>
            </a:r>
            <a:r>
              <a:rPr lang="en-US" altLang="vi-VN" smtClean="0"/>
              <a:t>+d</a:t>
            </a:r>
            <a:r>
              <a:rPr lang="en-US" altLang="vi-VN" baseline="-25000" smtClean="0"/>
              <a:t>2</a:t>
            </a:r>
          </a:p>
          <a:p>
            <a:pPr eaLnBrk="1" hangingPunct="1">
              <a:lnSpc>
                <a:spcPct val="80000"/>
              </a:lnSpc>
            </a:pPr>
            <a:r>
              <a:rPr lang="en-US" altLang="vi-VN" smtClean="0"/>
              <a:t>Như vậy bằng phép chia và tách số dư liên tiếp n cho cơ số b, ta lần lượt tách ra các số dư chính là các hệ số của biểu diễn số trong cơ số b. Quá trình sẽ dừng lại khi nào thương bằng 0</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211296748"/>
      </p:ext>
    </p:extLst>
  </p:cSld>
  <p:clrMapOvr>
    <a:masterClrMapping/>
  </p:clrMapOvr>
  <p:transition spd="slow">
    <p:wipe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2"/>
          <p:cNvSpPr>
            <a:spLocks noGrp="1" noChangeArrowheads="1"/>
          </p:cNvSpPr>
          <p:nvPr>
            <p:ph type="title"/>
          </p:nvPr>
        </p:nvSpPr>
        <p:spPr/>
        <p:txBody>
          <a:bodyPr>
            <a:normAutofit fontScale="90000"/>
          </a:bodyPr>
          <a:lstStyle/>
          <a:p>
            <a:pPr eaLnBrk="1" hangingPunct="1"/>
            <a:r>
              <a:rPr lang="en-US" altLang="vi-VN" sz="3200" smtClean="0"/>
              <a:t>QUY TẮC THỰC HÀNH ĐỔI BIỂU DIỄN SỐ V</a:t>
            </a:r>
            <a:r>
              <a:rPr lang="en-US" altLang="vi-VN" smtClean="0"/>
              <a:t>ỚI PHẦN NGUYÊN</a:t>
            </a:r>
          </a:p>
        </p:txBody>
      </p:sp>
      <p:sp>
        <p:nvSpPr>
          <p:cNvPr id="14339" name="Rectangle 3"/>
          <p:cNvSpPr>
            <a:spLocks noGrp="1" noChangeArrowheads="1"/>
          </p:cNvSpPr>
          <p:nvPr>
            <p:ph type="body" idx="1"/>
          </p:nvPr>
        </p:nvSpPr>
        <p:spPr>
          <a:xfrm>
            <a:off x="838200" y="1905000"/>
            <a:ext cx="8001000" cy="4181475"/>
          </a:xfrm>
        </p:spPr>
        <p:txBody>
          <a:bodyPr/>
          <a:lstStyle/>
          <a:p>
            <a:pPr eaLnBrk="1" hangingPunct="1">
              <a:buFont typeface="Wingdings" panose="05000000000000000000" pitchFamily="2" charset="2"/>
              <a:buNone/>
            </a:pPr>
            <a:r>
              <a:rPr lang="en-US" altLang="vi-VN" smtClean="0"/>
              <a:t>23</a:t>
            </a:r>
            <a:r>
              <a:rPr lang="en-US" altLang="vi-VN" baseline="-25000" smtClean="0">
                <a:solidFill>
                  <a:srgbClr val="CC3300"/>
                </a:solidFill>
              </a:rPr>
              <a:t>10</a:t>
            </a:r>
            <a:r>
              <a:rPr lang="en-US" altLang="vi-VN" smtClean="0"/>
              <a:t> = ?</a:t>
            </a:r>
            <a:r>
              <a:rPr lang="en-US" altLang="vi-VN" baseline="-25000" smtClean="0">
                <a:solidFill>
                  <a:srgbClr val="CC3300"/>
                </a:solidFill>
              </a:rPr>
              <a:t>2                                       </a:t>
            </a:r>
            <a:r>
              <a:rPr lang="en-US" altLang="vi-VN" smtClean="0">
                <a:solidFill>
                  <a:srgbClr val="CC3300"/>
                </a:solidFill>
              </a:rPr>
              <a:t> </a:t>
            </a:r>
            <a:r>
              <a:rPr lang="en-US" altLang="vi-VN" smtClean="0"/>
              <a:t>923</a:t>
            </a:r>
            <a:r>
              <a:rPr lang="en-US" altLang="vi-VN" baseline="-25000" smtClean="0">
                <a:solidFill>
                  <a:srgbClr val="CC3300"/>
                </a:solidFill>
              </a:rPr>
              <a:t>10</a:t>
            </a:r>
            <a:r>
              <a:rPr lang="en-US" altLang="vi-VN" smtClean="0">
                <a:solidFill>
                  <a:srgbClr val="CC3300"/>
                </a:solidFill>
              </a:rPr>
              <a:t>= </a:t>
            </a:r>
            <a:r>
              <a:rPr lang="en-US" altLang="vi-VN" smtClean="0"/>
              <a:t>?</a:t>
            </a:r>
            <a:r>
              <a:rPr lang="en-US" altLang="vi-VN" baseline="-25000" smtClean="0">
                <a:solidFill>
                  <a:srgbClr val="CC3300"/>
                </a:solidFill>
              </a:rPr>
              <a:t> 16</a:t>
            </a:r>
          </a:p>
        </p:txBody>
      </p:sp>
      <p:sp>
        <p:nvSpPr>
          <p:cNvPr id="429060" name="Text Box 4"/>
          <p:cNvSpPr txBox="1">
            <a:spLocks noChangeArrowheads="1"/>
          </p:cNvSpPr>
          <p:nvPr/>
        </p:nvSpPr>
        <p:spPr bwMode="auto">
          <a:xfrm>
            <a:off x="838200" y="2514600"/>
            <a:ext cx="685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23</a:t>
            </a:r>
          </a:p>
        </p:txBody>
      </p:sp>
      <p:grpSp>
        <p:nvGrpSpPr>
          <p:cNvPr id="2" name="Group 10"/>
          <p:cNvGrpSpPr>
            <a:grpSpLocks/>
          </p:cNvGrpSpPr>
          <p:nvPr/>
        </p:nvGrpSpPr>
        <p:grpSpPr bwMode="auto">
          <a:xfrm>
            <a:off x="1600200" y="2514600"/>
            <a:ext cx="533400" cy="914400"/>
            <a:chOff x="1008" y="1584"/>
            <a:chExt cx="336" cy="576"/>
          </a:xfrm>
        </p:grpSpPr>
        <p:grpSp>
          <p:nvGrpSpPr>
            <p:cNvPr id="14396" name="Group 9"/>
            <p:cNvGrpSpPr>
              <a:grpSpLocks/>
            </p:cNvGrpSpPr>
            <p:nvPr/>
          </p:nvGrpSpPr>
          <p:grpSpPr bwMode="auto">
            <a:xfrm>
              <a:off x="1008" y="1680"/>
              <a:ext cx="336" cy="480"/>
              <a:chOff x="1008" y="1680"/>
              <a:chExt cx="336" cy="480"/>
            </a:xfrm>
          </p:grpSpPr>
          <p:sp>
            <p:nvSpPr>
              <p:cNvPr id="14398" name="Line 5"/>
              <p:cNvSpPr>
                <a:spLocks noChangeShapeType="1"/>
              </p:cNvSpPr>
              <p:nvPr/>
            </p:nvSpPr>
            <p:spPr bwMode="auto">
              <a:xfrm>
                <a:off x="1008" y="1680"/>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14399" name="Line 6"/>
              <p:cNvSpPr>
                <a:spLocks noChangeShapeType="1"/>
              </p:cNvSpPr>
              <p:nvPr/>
            </p:nvSpPr>
            <p:spPr bwMode="auto">
              <a:xfrm>
                <a:off x="1008" y="1920"/>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grpSp>
        <p:sp>
          <p:nvSpPr>
            <p:cNvPr id="14397" name="Text Box 7"/>
            <p:cNvSpPr txBox="1">
              <a:spLocks noChangeArrowheads="1"/>
            </p:cNvSpPr>
            <p:nvPr/>
          </p:nvSpPr>
          <p:spPr bwMode="auto">
            <a:xfrm>
              <a:off x="1008" y="1584"/>
              <a:ext cx="3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2</a:t>
              </a:r>
            </a:p>
          </p:txBody>
        </p:sp>
      </p:grpSp>
      <p:sp>
        <p:nvSpPr>
          <p:cNvPr id="429067" name="Text Box 11"/>
          <p:cNvSpPr txBox="1">
            <a:spLocks noChangeArrowheads="1"/>
          </p:cNvSpPr>
          <p:nvPr/>
        </p:nvSpPr>
        <p:spPr bwMode="auto">
          <a:xfrm>
            <a:off x="1600200" y="3048000"/>
            <a:ext cx="685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11</a:t>
            </a:r>
          </a:p>
        </p:txBody>
      </p:sp>
      <p:grpSp>
        <p:nvGrpSpPr>
          <p:cNvPr id="4" name="Group 12"/>
          <p:cNvGrpSpPr>
            <a:grpSpLocks/>
          </p:cNvGrpSpPr>
          <p:nvPr/>
        </p:nvGrpSpPr>
        <p:grpSpPr bwMode="auto">
          <a:xfrm>
            <a:off x="2286000" y="2971800"/>
            <a:ext cx="533400" cy="914400"/>
            <a:chOff x="1008" y="1584"/>
            <a:chExt cx="336" cy="576"/>
          </a:xfrm>
        </p:grpSpPr>
        <p:grpSp>
          <p:nvGrpSpPr>
            <p:cNvPr id="14392" name="Group 13"/>
            <p:cNvGrpSpPr>
              <a:grpSpLocks/>
            </p:cNvGrpSpPr>
            <p:nvPr/>
          </p:nvGrpSpPr>
          <p:grpSpPr bwMode="auto">
            <a:xfrm>
              <a:off x="1008" y="1680"/>
              <a:ext cx="336" cy="480"/>
              <a:chOff x="1008" y="1680"/>
              <a:chExt cx="336" cy="480"/>
            </a:xfrm>
          </p:grpSpPr>
          <p:sp>
            <p:nvSpPr>
              <p:cNvPr id="14394" name="Line 14"/>
              <p:cNvSpPr>
                <a:spLocks noChangeShapeType="1"/>
              </p:cNvSpPr>
              <p:nvPr/>
            </p:nvSpPr>
            <p:spPr bwMode="auto">
              <a:xfrm>
                <a:off x="1008" y="1680"/>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14395" name="Line 15"/>
              <p:cNvSpPr>
                <a:spLocks noChangeShapeType="1"/>
              </p:cNvSpPr>
              <p:nvPr/>
            </p:nvSpPr>
            <p:spPr bwMode="auto">
              <a:xfrm>
                <a:off x="1008" y="1920"/>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grpSp>
        <p:sp>
          <p:nvSpPr>
            <p:cNvPr id="14393" name="Text Box 16"/>
            <p:cNvSpPr txBox="1">
              <a:spLocks noChangeArrowheads="1"/>
            </p:cNvSpPr>
            <p:nvPr/>
          </p:nvSpPr>
          <p:spPr bwMode="auto">
            <a:xfrm>
              <a:off x="1008" y="1584"/>
              <a:ext cx="3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2</a:t>
              </a:r>
            </a:p>
          </p:txBody>
        </p:sp>
      </p:grpSp>
      <p:sp>
        <p:nvSpPr>
          <p:cNvPr id="429073" name="Text Box 17"/>
          <p:cNvSpPr txBox="1">
            <a:spLocks noChangeArrowheads="1"/>
          </p:cNvSpPr>
          <p:nvPr/>
        </p:nvSpPr>
        <p:spPr bwMode="auto">
          <a:xfrm>
            <a:off x="1066800" y="2971800"/>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1</a:t>
            </a:r>
          </a:p>
        </p:txBody>
      </p:sp>
      <p:sp>
        <p:nvSpPr>
          <p:cNvPr id="429074" name="Text Box 18"/>
          <p:cNvSpPr txBox="1">
            <a:spLocks noChangeArrowheads="1"/>
          </p:cNvSpPr>
          <p:nvPr/>
        </p:nvSpPr>
        <p:spPr bwMode="auto">
          <a:xfrm>
            <a:off x="2209800" y="3505200"/>
            <a:ext cx="60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5</a:t>
            </a:r>
          </a:p>
        </p:txBody>
      </p:sp>
      <p:grpSp>
        <p:nvGrpSpPr>
          <p:cNvPr id="6" name="Group 19"/>
          <p:cNvGrpSpPr>
            <a:grpSpLocks/>
          </p:cNvGrpSpPr>
          <p:nvPr/>
        </p:nvGrpSpPr>
        <p:grpSpPr bwMode="auto">
          <a:xfrm>
            <a:off x="2895600" y="3429000"/>
            <a:ext cx="533400" cy="914400"/>
            <a:chOff x="1008" y="1584"/>
            <a:chExt cx="336" cy="576"/>
          </a:xfrm>
        </p:grpSpPr>
        <p:grpSp>
          <p:nvGrpSpPr>
            <p:cNvPr id="14388" name="Group 20"/>
            <p:cNvGrpSpPr>
              <a:grpSpLocks/>
            </p:cNvGrpSpPr>
            <p:nvPr/>
          </p:nvGrpSpPr>
          <p:grpSpPr bwMode="auto">
            <a:xfrm>
              <a:off x="1008" y="1680"/>
              <a:ext cx="336" cy="480"/>
              <a:chOff x="1008" y="1680"/>
              <a:chExt cx="336" cy="480"/>
            </a:xfrm>
          </p:grpSpPr>
          <p:sp>
            <p:nvSpPr>
              <p:cNvPr id="14390" name="Line 21"/>
              <p:cNvSpPr>
                <a:spLocks noChangeShapeType="1"/>
              </p:cNvSpPr>
              <p:nvPr/>
            </p:nvSpPr>
            <p:spPr bwMode="auto">
              <a:xfrm>
                <a:off x="1008" y="1680"/>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14391" name="Line 22"/>
              <p:cNvSpPr>
                <a:spLocks noChangeShapeType="1"/>
              </p:cNvSpPr>
              <p:nvPr/>
            </p:nvSpPr>
            <p:spPr bwMode="auto">
              <a:xfrm>
                <a:off x="1008" y="1920"/>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grpSp>
        <p:sp>
          <p:nvSpPr>
            <p:cNvPr id="14389" name="Text Box 23"/>
            <p:cNvSpPr txBox="1">
              <a:spLocks noChangeArrowheads="1"/>
            </p:cNvSpPr>
            <p:nvPr/>
          </p:nvSpPr>
          <p:spPr bwMode="auto">
            <a:xfrm>
              <a:off x="1008" y="1584"/>
              <a:ext cx="3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2</a:t>
              </a:r>
            </a:p>
          </p:txBody>
        </p:sp>
      </p:grpSp>
      <p:sp>
        <p:nvSpPr>
          <p:cNvPr id="429080" name="Text Box 24"/>
          <p:cNvSpPr txBox="1">
            <a:spLocks noChangeArrowheads="1"/>
          </p:cNvSpPr>
          <p:nvPr/>
        </p:nvSpPr>
        <p:spPr bwMode="auto">
          <a:xfrm>
            <a:off x="1828800" y="3505200"/>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1</a:t>
            </a:r>
          </a:p>
        </p:txBody>
      </p:sp>
      <p:sp>
        <p:nvSpPr>
          <p:cNvPr id="429081" name="Text Box 25"/>
          <p:cNvSpPr txBox="1">
            <a:spLocks noChangeArrowheads="1"/>
          </p:cNvSpPr>
          <p:nvPr/>
        </p:nvSpPr>
        <p:spPr bwMode="auto">
          <a:xfrm>
            <a:off x="2819400" y="3962400"/>
            <a:ext cx="60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2</a:t>
            </a:r>
          </a:p>
        </p:txBody>
      </p:sp>
      <p:grpSp>
        <p:nvGrpSpPr>
          <p:cNvPr id="8" name="Group 26"/>
          <p:cNvGrpSpPr>
            <a:grpSpLocks/>
          </p:cNvGrpSpPr>
          <p:nvPr/>
        </p:nvGrpSpPr>
        <p:grpSpPr bwMode="auto">
          <a:xfrm>
            <a:off x="3505200" y="3886200"/>
            <a:ext cx="533400" cy="914400"/>
            <a:chOff x="1008" y="1584"/>
            <a:chExt cx="336" cy="576"/>
          </a:xfrm>
        </p:grpSpPr>
        <p:grpSp>
          <p:nvGrpSpPr>
            <p:cNvPr id="14384" name="Group 27"/>
            <p:cNvGrpSpPr>
              <a:grpSpLocks/>
            </p:cNvGrpSpPr>
            <p:nvPr/>
          </p:nvGrpSpPr>
          <p:grpSpPr bwMode="auto">
            <a:xfrm>
              <a:off x="1008" y="1680"/>
              <a:ext cx="336" cy="480"/>
              <a:chOff x="1008" y="1680"/>
              <a:chExt cx="336" cy="480"/>
            </a:xfrm>
          </p:grpSpPr>
          <p:sp>
            <p:nvSpPr>
              <p:cNvPr id="14386" name="Line 28"/>
              <p:cNvSpPr>
                <a:spLocks noChangeShapeType="1"/>
              </p:cNvSpPr>
              <p:nvPr/>
            </p:nvSpPr>
            <p:spPr bwMode="auto">
              <a:xfrm>
                <a:off x="1008" y="1680"/>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14387" name="Line 29"/>
              <p:cNvSpPr>
                <a:spLocks noChangeShapeType="1"/>
              </p:cNvSpPr>
              <p:nvPr/>
            </p:nvSpPr>
            <p:spPr bwMode="auto">
              <a:xfrm>
                <a:off x="1008" y="1920"/>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grpSp>
        <p:sp>
          <p:nvSpPr>
            <p:cNvPr id="14385" name="Text Box 30"/>
            <p:cNvSpPr txBox="1">
              <a:spLocks noChangeArrowheads="1"/>
            </p:cNvSpPr>
            <p:nvPr/>
          </p:nvSpPr>
          <p:spPr bwMode="auto">
            <a:xfrm>
              <a:off x="1008" y="1584"/>
              <a:ext cx="3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2</a:t>
              </a:r>
            </a:p>
          </p:txBody>
        </p:sp>
      </p:grpSp>
      <p:sp>
        <p:nvSpPr>
          <p:cNvPr id="429087" name="Text Box 31"/>
          <p:cNvSpPr txBox="1">
            <a:spLocks noChangeArrowheads="1"/>
          </p:cNvSpPr>
          <p:nvPr/>
        </p:nvSpPr>
        <p:spPr bwMode="auto">
          <a:xfrm>
            <a:off x="3581400" y="4419600"/>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a:t>
            </a:r>
          </a:p>
        </p:txBody>
      </p:sp>
      <p:sp>
        <p:nvSpPr>
          <p:cNvPr id="429088" name="Text Box 32"/>
          <p:cNvSpPr txBox="1">
            <a:spLocks noChangeArrowheads="1"/>
          </p:cNvSpPr>
          <p:nvPr/>
        </p:nvSpPr>
        <p:spPr bwMode="auto">
          <a:xfrm>
            <a:off x="2438400" y="3962400"/>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1</a:t>
            </a:r>
          </a:p>
        </p:txBody>
      </p:sp>
      <p:sp>
        <p:nvSpPr>
          <p:cNvPr id="429089" name="Text Box 33"/>
          <p:cNvSpPr txBox="1">
            <a:spLocks noChangeArrowheads="1"/>
          </p:cNvSpPr>
          <p:nvPr/>
        </p:nvSpPr>
        <p:spPr bwMode="auto">
          <a:xfrm>
            <a:off x="3048000" y="4419600"/>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0</a:t>
            </a:r>
          </a:p>
        </p:txBody>
      </p:sp>
      <p:grpSp>
        <p:nvGrpSpPr>
          <p:cNvPr id="10" name="Group 34"/>
          <p:cNvGrpSpPr>
            <a:grpSpLocks/>
          </p:cNvGrpSpPr>
          <p:nvPr/>
        </p:nvGrpSpPr>
        <p:grpSpPr bwMode="auto">
          <a:xfrm>
            <a:off x="4114800" y="4267200"/>
            <a:ext cx="533400" cy="914400"/>
            <a:chOff x="1008" y="1584"/>
            <a:chExt cx="336" cy="576"/>
          </a:xfrm>
        </p:grpSpPr>
        <p:grpSp>
          <p:nvGrpSpPr>
            <p:cNvPr id="14380" name="Group 35"/>
            <p:cNvGrpSpPr>
              <a:grpSpLocks/>
            </p:cNvGrpSpPr>
            <p:nvPr/>
          </p:nvGrpSpPr>
          <p:grpSpPr bwMode="auto">
            <a:xfrm>
              <a:off x="1008" y="1680"/>
              <a:ext cx="336" cy="480"/>
              <a:chOff x="1008" y="1680"/>
              <a:chExt cx="336" cy="480"/>
            </a:xfrm>
          </p:grpSpPr>
          <p:sp>
            <p:nvSpPr>
              <p:cNvPr id="14382" name="Line 36"/>
              <p:cNvSpPr>
                <a:spLocks noChangeShapeType="1"/>
              </p:cNvSpPr>
              <p:nvPr/>
            </p:nvSpPr>
            <p:spPr bwMode="auto">
              <a:xfrm>
                <a:off x="1008" y="1680"/>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14383" name="Line 37"/>
              <p:cNvSpPr>
                <a:spLocks noChangeShapeType="1"/>
              </p:cNvSpPr>
              <p:nvPr/>
            </p:nvSpPr>
            <p:spPr bwMode="auto">
              <a:xfrm>
                <a:off x="1008" y="1920"/>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grpSp>
        <p:sp>
          <p:nvSpPr>
            <p:cNvPr id="14381" name="Text Box 38"/>
            <p:cNvSpPr txBox="1">
              <a:spLocks noChangeArrowheads="1"/>
            </p:cNvSpPr>
            <p:nvPr/>
          </p:nvSpPr>
          <p:spPr bwMode="auto">
            <a:xfrm>
              <a:off x="1008" y="1584"/>
              <a:ext cx="3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2</a:t>
              </a:r>
            </a:p>
          </p:txBody>
        </p:sp>
      </p:grpSp>
      <p:sp>
        <p:nvSpPr>
          <p:cNvPr id="429095" name="Text Box 39"/>
          <p:cNvSpPr txBox="1">
            <a:spLocks noChangeArrowheads="1"/>
          </p:cNvSpPr>
          <p:nvPr/>
        </p:nvSpPr>
        <p:spPr bwMode="auto">
          <a:xfrm>
            <a:off x="4191000" y="4800600"/>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0</a:t>
            </a:r>
          </a:p>
        </p:txBody>
      </p:sp>
      <p:sp>
        <p:nvSpPr>
          <p:cNvPr id="429096" name="Text Box 40"/>
          <p:cNvSpPr txBox="1">
            <a:spLocks noChangeArrowheads="1"/>
          </p:cNvSpPr>
          <p:nvPr/>
        </p:nvSpPr>
        <p:spPr bwMode="auto">
          <a:xfrm>
            <a:off x="3581400" y="4876800"/>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1</a:t>
            </a:r>
          </a:p>
        </p:txBody>
      </p:sp>
      <p:sp>
        <p:nvSpPr>
          <p:cNvPr id="429097" name="Text Box 41"/>
          <p:cNvSpPr txBox="1">
            <a:spLocks noChangeArrowheads="1"/>
          </p:cNvSpPr>
          <p:nvPr/>
        </p:nvSpPr>
        <p:spPr bwMode="auto">
          <a:xfrm>
            <a:off x="1066800" y="5715000"/>
            <a:ext cx="2895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2400">
                <a:solidFill>
                  <a:srgbClr val="CC3300"/>
                </a:solidFill>
              </a:rPr>
              <a:t>Lấy các số dư theo thứ tự ngược lại</a:t>
            </a:r>
          </a:p>
        </p:txBody>
      </p:sp>
      <p:sp>
        <p:nvSpPr>
          <p:cNvPr id="429098" name="Text Box 42"/>
          <p:cNvSpPr txBox="1">
            <a:spLocks noChangeArrowheads="1"/>
          </p:cNvSpPr>
          <p:nvPr/>
        </p:nvSpPr>
        <p:spPr bwMode="auto">
          <a:xfrm>
            <a:off x="4724400" y="2620963"/>
            <a:ext cx="1066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923</a:t>
            </a:r>
          </a:p>
        </p:txBody>
      </p:sp>
      <p:grpSp>
        <p:nvGrpSpPr>
          <p:cNvPr id="12" name="Group 43"/>
          <p:cNvGrpSpPr>
            <a:grpSpLocks/>
          </p:cNvGrpSpPr>
          <p:nvPr/>
        </p:nvGrpSpPr>
        <p:grpSpPr bwMode="auto">
          <a:xfrm>
            <a:off x="5867400" y="2620963"/>
            <a:ext cx="685800" cy="914400"/>
            <a:chOff x="1008" y="1584"/>
            <a:chExt cx="336" cy="576"/>
          </a:xfrm>
        </p:grpSpPr>
        <p:grpSp>
          <p:nvGrpSpPr>
            <p:cNvPr id="14376" name="Group 44"/>
            <p:cNvGrpSpPr>
              <a:grpSpLocks/>
            </p:cNvGrpSpPr>
            <p:nvPr/>
          </p:nvGrpSpPr>
          <p:grpSpPr bwMode="auto">
            <a:xfrm>
              <a:off x="1008" y="1680"/>
              <a:ext cx="336" cy="480"/>
              <a:chOff x="1008" y="1680"/>
              <a:chExt cx="336" cy="480"/>
            </a:xfrm>
          </p:grpSpPr>
          <p:sp>
            <p:nvSpPr>
              <p:cNvPr id="14378" name="Line 45"/>
              <p:cNvSpPr>
                <a:spLocks noChangeShapeType="1"/>
              </p:cNvSpPr>
              <p:nvPr/>
            </p:nvSpPr>
            <p:spPr bwMode="auto">
              <a:xfrm>
                <a:off x="1008" y="1680"/>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14379" name="Line 46"/>
              <p:cNvSpPr>
                <a:spLocks noChangeShapeType="1"/>
              </p:cNvSpPr>
              <p:nvPr/>
            </p:nvSpPr>
            <p:spPr bwMode="auto">
              <a:xfrm>
                <a:off x="1008" y="1920"/>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grpSp>
        <p:sp>
          <p:nvSpPr>
            <p:cNvPr id="14377" name="Text Box 47"/>
            <p:cNvSpPr txBox="1">
              <a:spLocks noChangeArrowheads="1"/>
            </p:cNvSpPr>
            <p:nvPr/>
          </p:nvSpPr>
          <p:spPr bwMode="auto">
            <a:xfrm>
              <a:off x="1008" y="1584"/>
              <a:ext cx="3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16</a:t>
              </a:r>
            </a:p>
          </p:txBody>
        </p:sp>
      </p:grpSp>
      <p:sp>
        <p:nvSpPr>
          <p:cNvPr id="429104" name="Text Box 48"/>
          <p:cNvSpPr txBox="1">
            <a:spLocks noChangeArrowheads="1"/>
          </p:cNvSpPr>
          <p:nvPr/>
        </p:nvSpPr>
        <p:spPr bwMode="auto">
          <a:xfrm>
            <a:off x="5867400" y="3154363"/>
            <a:ext cx="685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57</a:t>
            </a:r>
          </a:p>
        </p:txBody>
      </p:sp>
      <p:grpSp>
        <p:nvGrpSpPr>
          <p:cNvPr id="14" name="Group 49"/>
          <p:cNvGrpSpPr>
            <a:grpSpLocks/>
          </p:cNvGrpSpPr>
          <p:nvPr/>
        </p:nvGrpSpPr>
        <p:grpSpPr bwMode="auto">
          <a:xfrm>
            <a:off x="6553200" y="3078163"/>
            <a:ext cx="762000" cy="914400"/>
            <a:chOff x="1008" y="1584"/>
            <a:chExt cx="336" cy="576"/>
          </a:xfrm>
        </p:grpSpPr>
        <p:grpSp>
          <p:nvGrpSpPr>
            <p:cNvPr id="14372" name="Group 50"/>
            <p:cNvGrpSpPr>
              <a:grpSpLocks/>
            </p:cNvGrpSpPr>
            <p:nvPr/>
          </p:nvGrpSpPr>
          <p:grpSpPr bwMode="auto">
            <a:xfrm>
              <a:off x="1008" y="1680"/>
              <a:ext cx="336" cy="480"/>
              <a:chOff x="1008" y="1680"/>
              <a:chExt cx="336" cy="480"/>
            </a:xfrm>
          </p:grpSpPr>
          <p:sp>
            <p:nvSpPr>
              <p:cNvPr id="14374" name="Line 51"/>
              <p:cNvSpPr>
                <a:spLocks noChangeShapeType="1"/>
              </p:cNvSpPr>
              <p:nvPr/>
            </p:nvSpPr>
            <p:spPr bwMode="auto">
              <a:xfrm>
                <a:off x="1008" y="1680"/>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14375" name="Line 52"/>
              <p:cNvSpPr>
                <a:spLocks noChangeShapeType="1"/>
              </p:cNvSpPr>
              <p:nvPr/>
            </p:nvSpPr>
            <p:spPr bwMode="auto">
              <a:xfrm>
                <a:off x="1008" y="1920"/>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grpSp>
        <p:sp>
          <p:nvSpPr>
            <p:cNvPr id="14373" name="Text Box 53"/>
            <p:cNvSpPr txBox="1">
              <a:spLocks noChangeArrowheads="1"/>
            </p:cNvSpPr>
            <p:nvPr/>
          </p:nvSpPr>
          <p:spPr bwMode="auto">
            <a:xfrm>
              <a:off x="1008" y="1584"/>
              <a:ext cx="3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16</a:t>
              </a:r>
            </a:p>
          </p:txBody>
        </p:sp>
      </p:grpSp>
      <p:sp>
        <p:nvSpPr>
          <p:cNvPr id="429110" name="Text Box 54"/>
          <p:cNvSpPr txBox="1">
            <a:spLocks noChangeArrowheads="1"/>
          </p:cNvSpPr>
          <p:nvPr/>
        </p:nvSpPr>
        <p:spPr bwMode="auto">
          <a:xfrm>
            <a:off x="4953000" y="3048000"/>
            <a:ext cx="838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11</a:t>
            </a:r>
          </a:p>
        </p:txBody>
      </p:sp>
      <p:sp>
        <p:nvSpPr>
          <p:cNvPr id="429111" name="Text Box 55"/>
          <p:cNvSpPr txBox="1">
            <a:spLocks noChangeArrowheads="1"/>
          </p:cNvSpPr>
          <p:nvPr/>
        </p:nvSpPr>
        <p:spPr bwMode="auto">
          <a:xfrm>
            <a:off x="6477000" y="3611563"/>
            <a:ext cx="609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3</a:t>
            </a:r>
          </a:p>
        </p:txBody>
      </p:sp>
      <p:grpSp>
        <p:nvGrpSpPr>
          <p:cNvPr id="16" name="Group 56"/>
          <p:cNvGrpSpPr>
            <a:grpSpLocks/>
          </p:cNvGrpSpPr>
          <p:nvPr/>
        </p:nvGrpSpPr>
        <p:grpSpPr bwMode="auto">
          <a:xfrm>
            <a:off x="7162800" y="3535363"/>
            <a:ext cx="685800" cy="914400"/>
            <a:chOff x="1008" y="1584"/>
            <a:chExt cx="336" cy="576"/>
          </a:xfrm>
        </p:grpSpPr>
        <p:grpSp>
          <p:nvGrpSpPr>
            <p:cNvPr id="14368" name="Group 57"/>
            <p:cNvGrpSpPr>
              <a:grpSpLocks/>
            </p:cNvGrpSpPr>
            <p:nvPr/>
          </p:nvGrpSpPr>
          <p:grpSpPr bwMode="auto">
            <a:xfrm>
              <a:off x="1008" y="1680"/>
              <a:ext cx="336" cy="480"/>
              <a:chOff x="1008" y="1680"/>
              <a:chExt cx="336" cy="480"/>
            </a:xfrm>
          </p:grpSpPr>
          <p:sp>
            <p:nvSpPr>
              <p:cNvPr id="14370" name="Line 58"/>
              <p:cNvSpPr>
                <a:spLocks noChangeShapeType="1"/>
              </p:cNvSpPr>
              <p:nvPr/>
            </p:nvSpPr>
            <p:spPr bwMode="auto">
              <a:xfrm>
                <a:off x="1008" y="1680"/>
                <a:ext cx="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sp>
            <p:nvSpPr>
              <p:cNvPr id="14371" name="Line 59"/>
              <p:cNvSpPr>
                <a:spLocks noChangeShapeType="1"/>
              </p:cNvSpPr>
              <p:nvPr/>
            </p:nvSpPr>
            <p:spPr bwMode="auto">
              <a:xfrm>
                <a:off x="1008" y="1920"/>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vi-VN"/>
              </a:p>
            </p:txBody>
          </p:sp>
        </p:grpSp>
        <p:sp>
          <p:nvSpPr>
            <p:cNvPr id="14369" name="Text Box 60"/>
            <p:cNvSpPr txBox="1">
              <a:spLocks noChangeArrowheads="1"/>
            </p:cNvSpPr>
            <p:nvPr/>
          </p:nvSpPr>
          <p:spPr bwMode="auto">
            <a:xfrm>
              <a:off x="1008" y="1584"/>
              <a:ext cx="33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16</a:t>
              </a:r>
            </a:p>
          </p:txBody>
        </p:sp>
      </p:grpSp>
      <p:sp>
        <p:nvSpPr>
          <p:cNvPr id="429117" name="Text Box 61"/>
          <p:cNvSpPr txBox="1">
            <a:spLocks noChangeArrowheads="1"/>
          </p:cNvSpPr>
          <p:nvPr/>
        </p:nvSpPr>
        <p:spPr bwMode="auto">
          <a:xfrm>
            <a:off x="6096000" y="3611563"/>
            <a:ext cx="457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9</a:t>
            </a:r>
          </a:p>
        </p:txBody>
      </p:sp>
      <p:sp>
        <p:nvSpPr>
          <p:cNvPr id="429118" name="Text Box 62"/>
          <p:cNvSpPr txBox="1">
            <a:spLocks noChangeArrowheads="1"/>
          </p:cNvSpPr>
          <p:nvPr/>
        </p:nvSpPr>
        <p:spPr bwMode="auto">
          <a:xfrm>
            <a:off x="7086600" y="4068763"/>
            <a:ext cx="609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t>0</a:t>
            </a:r>
          </a:p>
        </p:txBody>
      </p:sp>
      <p:sp>
        <p:nvSpPr>
          <p:cNvPr id="429125" name="Text Box 69"/>
          <p:cNvSpPr txBox="1">
            <a:spLocks noChangeArrowheads="1"/>
          </p:cNvSpPr>
          <p:nvPr/>
        </p:nvSpPr>
        <p:spPr bwMode="auto">
          <a:xfrm>
            <a:off x="6705600" y="4068763"/>
            <a:ext cx="4572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3</a:t>
            </a:r>
          </a:p>
        </p:txBody>
      </p:sp>
      <p:sp>
        <p:nvSpPr>
          <p:cNvPr id="429133" name="Text Box 77"/>
          <p:cNvSpPr txBox="1">
            <a:spLocks noChangeArrowheads="1"/>
          </p:cNvSpPr>
          <p:nvPr/>
        </p:nvSpPr>
        <p:spPr bwMode="auto">
          <a:xfrm>
            <a:off x="5257800" y="3505200"/>
            <a:ext cx="457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B</a:t>
            </a:r>
          </a:p>
        </p:txBody>
      </p:sp>
      <p:sp>
        <p:nvSpPr>
          <p:cNvPr id="3" name="Footer Placeholder 2"/>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447842843"/>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42906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9067"/>
                                        </p:tgtEl>
                                        <p:attrNameLst>
                                          <p:attrName>style.visibility</p:attrName>
                                        </p:attrNameLst>
                                      </p:cBhvr>
                                      <p:to>
                                        <p:strVal val="visible"/>
                                      </p:to>
                                    </p:set>
                                  </p:childTnLst>
                                </p:cTn>
                              </p:par>
                            </p:childTnLst>
                          </p:cTn>
                        </p:par>
                        <p:par>
                          <p:cTn id="15" fill="hold" nodeType="afterGroup">
                            <p:stCondLst>
                              <p:cond delay="0"/>
                            </p:stCondLst>
                            <p:childTnLst>
                              <p:par>
                                <p:cTn id="16" presetID="1" presetClass="entr" presetSubtype="0" fill="hold" grpId="0" nodeType="afterEffect">
                                  <p:stCondLst>
                                    <p:cond delay="0"/>
                                  </p:stCondLst>
                                  <p:childTnLst>
                                    <p:set>
                                      <p:cBhvr>
                                        <p:cTn id="17" dur="1" fill="hold">
                                          <p:stCondLst>
                                            <p:cond delay="0"/>
                                          </p:stCondLst>
                                        </p:cTn>
                                        <p:tgtEl>
                                          <p:spTgt spid="429073"/>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429074"/>
                                        </p:tgtEl>
                                        <p:attrNameLst>
                                          <p:attrName>style.visibility</p:attrName>
                                        </p:attrNameLst>
                                      </p:cBhvr>
                                      <p:to>
                                        <p:strVal val="visible"/>
                                      </p:to>
                                    </p:set>
                                  </p:childTnLst>
                                </p:cTn>
                              </p:par>
                            </p:childTnLst>
                          </p:cTn>
                        </p:par>
                        <p:par>
                          <p:cTn id="26" fill="hold" nodeType="afterGroup">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429080"/>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9081"/>
                                        </p:tgtEl>
                                        <p:attrNameLst>
                                          <p:attrName>style.visibility</p:attrName>
                                        </p:attrNameLst>
                                      </p:cBhvr>
                                      <p:to>
                                        <p:strVal val="visible"/>
                                      </p:to>
                                    </p:set>
                                  </p:childTnLst>
                                </p:cTn>
                              </p:par>
                            </p:childTnLst>
                          </p:cTn>
                        </p:par>
                        <p:par>
                          <p:cTn id="37" fill="hold" nodeType="afterGroup">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429088"/>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nodeType="clickEffect">
                                  <p:stCondLst>
                                    <p:cond delay="0"/>
                                  </p:stCondLst>
                                  <p:childTnLst>
                                    <p:set>
                                      <p:cBhvr>
                                        <p:cTn id="43" dur="1" fill="hold">
                                          <p:stCondLst>
                                            <p:cond delay="0"/>
                                          </p:stCondLst>
                                        </p:cTn>
                                        <p:tgtEl>
                                          <p:spTgt spid="8"/>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429087"/>
                                        </p:tgtEl>
                                        <p:attrNameLst>
                                          <p:attrName>style.visibility</p:attrName>
                                        </p:attrNameLst>
                                      </p:cBhvr>
                                      <p:to>
                                        <p:strVal val="visible"/>
                                      </p:to>
                                    </p:set>
                                  </p:childTnLst>
                                </p:cTn>
                              </p:par>
                            </p:childTnLst>
                          </p:cTn>
                        </p:par>
                        <p:par>
                          <p:cTn id="48" fill="hold" nodeType="afterGroup">
                            <p:stCondLst>
                              <p:cond delay="0"/>
                            </p:stCondLst>
                            <p:childTnLst>
                              <p:par>
                                <p:cTn id="49" presetID="1" presetClass="entr" presetSubtype="0" fill="hold" grpId="0" nodeType="afterEffect">
                                  <p:stCondLst>
                                    <p:cond delay="0"/>
                                  </p:stCondLst>
                                  <p:childTnLst>
                                    <p:set>
                                      <p:cBhvr>
                                        <p:cTn id="50" dur="1" fill="hold">
                                          <p:stCondLst>
                                            <p:cond delay="0"/>
                                          </p:stCondLst>
                                        </p:cTn>
                                        <p:tgtEl>
                                          <p:spTgt spid="429089"/>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29095"/>
                                        </p:tgtEl>
                                        <p:attrNameLst>
                                          <p:attrName>style.visibility</p:attrName>
                                        </p:attrNameLst>
                                      </p:cBhvr>
                                      <p:to>
                                        <p:strVal val="visible"/>
                                      </p:to>
                                    </p:set>
                                  </p:childTnLst>
                                </p:cTn>
                              </p:par>
                            </p:childTnLst>
                          </p:cTn>
                        </p:par>
                        <p:par>
                          <p:cTn id="59" fill="hold" nodeType="afterGroup">
                            <p:stCondLst>
                              <p:cond delay="0"/>
                            </p:stCondLst>
                            <p:childTnLst>
                              <p:par>
                                <p:cTn id="60" presetID="1" presetClass="entr" presetSubtype="0" fill="hold" grpId="0" nodeType="afterEffect">
                                  <p:stCondLst>
                                    <p:cond delay="0"/>
                                  </p:stCondLst>
                                  <p:childTnLst>
                                    <p:set>
                                      <p:cBhvr>
                                        <p:cTn id="61" dur="1" fill="hold">
                                          <p:stCondLst>
                                            <p:cond delay="0"/>
                                          </p:stCondLst>
                                        </p:cTn>
                                        <p:tgtEl>
                                          <p:spTgt spid="429096"/>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429097"/>
                                        </p:tgtEl>
                                        <p:attrNameLst>
                                          <p:attrName>style.visibility</p:attrName>
                                        </p:attrNameLst>
                                      </p:cBhvr>
                                      <p:to>
                                        <p:strVal val="visible"/>
                                      </p:to>
                                    </p:set>
                                    <p:anim calcmode="lin" valueType="num">
                                      <p:cBhvr additive="base">
                                        <p:cTn id="66" dur="500" fill="hold"/>
                                        <p:tgtEl>
                                          <p:spTgt spid="429097"/>
                                        </p:tgtEl>
                                        <p:attrNameLst>
                                          <p:attrName>ppt_x</p:attrName>
                                        </p:attrNameLst>
                                      </p:cBhvr>
                                      <p:tavLst>
                                        <p:tav tm="0">
                                          <p:val>
                                            <p:strVal val="#ppt_x"/>
                                          </p:val>
                                        </p:tav>
                                        <p:tav tm="100000">
                                          <p:val>
                                            <p:strVal val="#ppt_x"/>
                                          </p:val>
                                        </p:tav>
                                      </p:tavLst>
                                    </p:anim>
                                    <p:anim calcmode="lin" valueType="num">
                                      <p:cBhvr additive="base">
                                        <p:cTn id="67" dur="500" fill="hold"/>
                                        <p:tgtEl>
                                          <p:spTgt spid="429097"/>
                                        </p:tgtEl>
                                        <p:attrNameLst>
                                          <p:attrName>ppt_y</p:attrName>
                                        </p:attrNameLst>
                                      </p:cBhvr>
                                      <p:tavLst>
                                        <p:tav tm="0">
                                          <p:val>
                                            <p:strVal val="1+#ppt_h/2"/>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56" presetClass="path" presetSubtype="0" accel="50000" decel="50000" fill="hold" grpId="1" nodeType="clickEffect">
                                  <p:stCondLst>
                                    <p:cond delay="0"/>
                                  </p:stCondLst>
                                  <p:childTnLst>
                                    <p:animMotion origin="layout" path="M 3.33333E-6 5.78035E-8 L -0.11667 -0.41942 " pathEditMode="relative" rAng="0" ptsTypes="AA">
                                      <p:cBhvr>
                                        <p:cTn id="71" dur="500" fill="hold"/>
                                        <p:tgtEl>
                                          <p:spTgt spid="429096"/>
                                        </p:tgtEl>
                                        <p:attrNameLst>
                                          <p:attrName>ppt_x</p:attrName>
                                          <p:attrName>ppt_y</p:attrName>
                                        </p:attrNameLst>
                                      </p:cBhvr>
                                      <p:rCtr x="-5833" y="-20971"/>
                                    </p:animMotion>
                                  </p:childTnLst>
                                </p:cTn>
                              </p:par>
                            </p:childTnLst>
                          </p:cTn>
                        </p:par>
                        <p:par>
                          <p:cTn id="72" fill="hold" nodeType="afterGroup">
                            <p:stCondLst>
                              <p:cond delay="500"/>
                            </p:stCondLst>
                            <p:childTnLst>
                              <p:par>
                                <p:cTn id="73" presetID="56" presetClass="path" presetSubtype="0" accel="50000" decel="50000" fill="hold" grpId="1" nodeType="afterEffect">
                                  <p:stCondLst>
                                    <p:cond delay="0"/>
                                  </p:stCondLst>
                                  <p:childTnLst>
                                    <p:animMotion origin="layout" path="M -3.33333E-6 -3.46821E-7 L -0.00833 -0.35283 " pathEditMode="relative" rAng="0" ptsTypes="AA">
                                      <p:cBhvr>
                                        <p:cTn id="74" dur="1000" fill="hold"/>
                                        <p:tgtEl>
                                          <p:spTgt spid="429089"/>
                                        </p:tgtEl>
                                        <p:attrNameLst>
                                          <p:attrName>ppt_x</p:attrName>
                                          <p:attrName>ppt_y</p:attrName>
                                        </p:attrNameLst>
                                      </p:cBhvr>
                                      <p:rCtr x="-417" y="-17642"/>
                                    </p:animMotion>
                                  </p:childTnLst>
                                </p:cTn>
                              </p:par>
                            </p:childTnLst>
                          </p:cTn>
                        </p:par>
                        <p:par>
                          <p:cTn id="75" fill="hold" nodeType="afterGroup">
                            <p:stCondLst>
                              <p:cond delay="1500"/>
                            </p:stCondLst>
                            <p:childTnLst>
                              <p:par>
                                <p:cTn id="76" presetID="56" presetClass="path" presetSubtype="0" accel="50000" decel="50000" fill="hold" grpId="1" nodeType="afterEffect">
                                  <p:stCondLst>
                                    <p:cond delay="0"/>
                                  </p:stCondLst>
                                  <p:childTnLst>
                                    <p:animMotion origin="layout" path="M 3.33333E-6 -7.51445E-7 L 0.1 -0.28624 " pathEditMode="relative" rAng="0" ptsTypes="AA">
                                      <p:cBhvr>
                                        <p:cTn id="77" dur="1000" fill="hold"/>
                                        <p:tgtEl>
                                          <p:spTgt spid="429088"/>
                                        </p:tgtEl>
                                        <p:attrNameLst>
                                          <p:attrName>ppt_x</p:attrName>
                                          <p:attrName>ppt_y</p:attrName>
                                        </p:attrNameLst>
                                      </p:cBhvr>
                                      <p:rCtr x="5000" y="-14312"/>
                                    </p:animMotion>
                                  </p:childTnLst>
                                </p:cTn>
                              </p:par>
                            </p:childTnLst>
                          </p:cTn>
                        </p:par>
                        <p:par>
                          <p:cTn id="78" fill="hold" nodeType="afterGroup">
                            <p:stCondLst>
                              <p:cond delay="2500"/>
                            </p:stCondLst>
                            <p:childTnLst>
                              <p:par>
                                <p:cTn id="79" presetID="56" presetClass="path" presetSubtype="0" accel="50000" decel="50000" fill="hold" grpId="1" nodeType="afterEffect">
                                  <p:stCondLst>
                                    <p:cond delay="0"/>
                                  </p:stCondLst>
                                  <p:childTnLst>
                                    <p:animMotion origin="layout" path="M 2.77556E-17 -1.15607E-6 L 0.20833 -0.21965 " pathEditMode="relative" rAng="0" ptsTypes="AA">
                                      <p:cBhvr>
                                        <p:cTn id="80" dur="1000" fill="hold"/>
                                        <p:tgtEl>
                                          <p:spTgt spid="429080"/>
                                        </p:tgtEl>
                                        <p:attrNameLst>
                                          <p:attrName>ppt_x</p:attrName>
                                          <p:attrName>ppt_y</p:attrName>
                                        </p:attrNameLst>
                                      </p:cBhvr>
                                      <p:rCtr x="10417" y="-10983"/>
                                    </p:animMotion>
                                  </p:childTnLst>
                                </p:cTn>
                              </p:par>
                            </p:childTnLst>
                          </p:cTn>
                        </p:par>
                        <p:par>
                          <p:cTn id="81" fill="hold" nodeType="afterGroup">
                            <p:stCondLst>
                              <p:cond delay="3500"/>
                            </p:stCondLst>
                            <p:childTnLst>
                              <p:par>
                                <p:cTn id="82" presetID="56" presetClass="path" presetSubtype="0" accel="50000" decel="50000" fill="hold" grpId="1" nodeType="afterEffect">
                                  <p:stCondLst>
                                    <p:cond delay="0"/>
                                  </p:stCondLst>
                                  <p:childTnLst>
                                    <p:animMotion origin="layout" path="M 3.33333E-6 -3.2948E-6 L 0.325 -0.14196 " pathEditMode="relative" rAng="0" ptsTypes="AA">
                                      <p:cBhvr>
                                        <p:cTn id="83" dur="1000" fill="hold"/>
                                        <p:tgtEl>
                                          <p:spTgt spid="429073"/>
                                        </p:tgtEl>
                                        <p:attrNameLst>
                                          <p:attrName>ppt_x</p:attrName>
                                          <p:attrName>ppt_y</p:attrName>
                                        </p:attrNameLst>
                                      </p:cBhvr>
                                      <p:rCtr x="16250" y="-7098"/>
                                    </p:animMotion>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429098"/>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1" presetClass="entr" presetSubtype="0" fill="hold" nodeType="clickEffect">
                                  <p:stCondLst>
                                    <p:cond delay="0"/>
                                  </p:stCondLst>
                                  <p:childTnLst>
                                    <p:set>
                                      <p:cBhvr>
                                        <p:cTn id="91" dur="1" fill="hold">
                                          <p:stCondLst>
                                            <p:cond delay="0"/>
                                          </p:stCondLst>
                                        </p:cTn>
                                        <p:tgtEl>
                                          <p:spTgt spid="12"/>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429104"/>
                                        </p:tgtEl>
                                        <p:attrNameLst>
                                          <p:attrName>style.visibility</p:attrName>
                                        </p:attrNameLst>
                                      </p:cBhvr>
                                      <p:to>
                                        <p:strVal val="visible"/>
                                      </p:to>
                                    </p:set>
                                  </p:childTnLst>
                                </p:cTn>
                              </p:par>
                            </p:childTnLst>
                          </p:cTn>
                        </p:par>
                        <p:par>
                          <p:cTn id="96" fill="hold" nodeType="afterGroup">
                            <p:stCondLst>
                              <p:cond delay="0"/>
                            </p:stCondLst>
                            <p:childTnLst>
                              <p:par>
                                <p:cTn id="97" presetID="1" presetClass="entr" presetSubtype="0" fill="hold" grpId="0" nodeType="afterEffect">
                                  <p:stCondLst>
                                    <p:cond delay="0"/>
                                  </p:stCondLst>
                                  <p:childTnLst>
                                    <p:set>
                                      <p:cBhvr>
                                        <p:cTn id="98" dur="1" fill="hold">
                                          <p:stCondLst>
                                            <p:cond delay="0"/>
                                          </p:stCondLst>
                                        </p:cTn>
                                        <p:tgtEl>
                                          <p:spTgt spid="429110"/>
                                        </p:tgtEl>
                                        <p:attrNameLst>
                                          <p:attrName>style.visibility</p:attrName>
                                        </p:attrNameLst>
                                      </p:cBhvr>
                                      <p:to>
                                        <p:strVal val="visible"/>
                                      </p:to>
                                    </p:se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 presetClass="entr" presetSubtype="0" fill="hold" nodeType="clickEffect">
                                  <p:stCondLst>
                                    <p:cond delay="0"/>
                                  </p:stCondLst>
                                  <p:childTnLst>
                                    <p:set>
                                      <p:cBhvr>
                                        <p:cTn id="102" dur="1" fill="hold">
                                          <p:stCondLst>
                                            <p:cond delay="0"/>
                                          </p:stCondLst>
                                        </p:cTn>
                                        <p:tgtEl>
                                          <p:spTgt spid="14"/>
                                        </p:tgtEl>
                                        <p:attrNameLst>
                                          <p:attrName>style.visibility</p:attrName>
                                        </p:attrNameLst>
                                      </p:cBhvr>
                                      <p:to>
                                        <p:strVal val="visibl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 presetClass="entr" presetSubtype="0" fill="hold" nodeType="clickEffect">
                                  <p:stCondLst>
                                    <p:cond delay="0"/>
                                  </p:stCondLst>
                                  <p:childTnLst>
                                    <p:set>
                                      <p:cBhvr>
                                        <p:cTn id="106" dur="1" fill="hold">
                                          <p:stCondLst>
                                            <p:cond delay="0"/>
                                          </p:stCondLst>
                                        </p:cTn>
                                        <p:tgtEl>
                                          <p:spTgt spid="429111"/>
                                        </p:tgtEl>
                                        <p:attrNameLst>
                                          <p:attrName>style.visibility</p:attrName>
                                        </p:attrNameLst>
                                      </p:cBhvr>
                                      <p:to>
                                        <p:strVal val="visible"/>
                                      </p:to>
                                    </p:set>
                                  </p:childTnLst>
                                </p:cTn>
                              </p:par>
                            </p:childTnLst>
                          </p:cTn>
                        </p:par>
                        <p:par>
                          <p:cTn id="107" fill="hold" nodeType="afterGroup">
                            <p:stCondLst>
                              <p:cond delay="0"/>
                            </p:stCondLst>
                            <p:childTnLst>
                              <p:par>
                                <p:cTn id="108" presetID="1" presetClass="entr" presetSubtype="0" fill="hold" grpId="0" nodeType="afterEffect">
                                  <p:stCondLst>
                                    <p:cond delay="0"/>
                                  </p:stCondLst>
                                  <p:childTnLst>
                                    <p:set>
                                      <p:cBhvr>
                                        <p:cTn id="109" dur="1" fill="hold">
                                          <p:stCondLst>
                                            <p:cond delay="0"/>
                                          </p:stCondLst>
                                        </p:cTn>
                                        <p:tgtEl>
                                          <p:spTgt spid="429117"/>
                                        </p:tgtEl>
                                        <p:attrNameLst>
                                          <p:attrName>style.visibility</p:attrName>
                                        </p:attrNameLst>
                                      </p:cBhvr>
                                      <p:to>
                                        <p:strVal val="visible"/>
                                      </p:to>
                                    </p:se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 presetClass="entr" presetSubtype="0" fill="hold" nodeType="clickEffect">
                                  <p:stCondLst>
                                    <p:cond delay="0"/>
                                  </p:stCondLst>
                                  <p:childTnLst>
                                    <p:set>
                                      <p:cBhvr>
                                        <p:cTn id="113" dur="1" fill="hold">
                                          <p:stCondLst>
                                            <p:cond delay="0"/>
                                          </p:stCondLst>
                                        </p:cTn>
                                        <p:tgtEl>
                                          <p:spTgt spid="16"/>
                                        </p:tgtEl>
                                        <p:attrNameLst>
                                          <p:attrName>style.visibility</p:attrName>
                                        </p:attrNameLst>
                                      </p:cBhvr>
                                      <p:to>
                                        <p:strVal val="visible"/>
                                      </p:to>
                                    </p:se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429118"/>
                                        </p:tgtEl>
                                        <p:attrNameLst>
                                          <p:attrName>style.visibility</p:attrName>
                                        </p:attrNameLst>
                                      </p:cBhvr>
                                      <p:to>
                                        <p:strVal val="visible"/>
                                      </p:to>
                                    </p:set>
                                  </p:childTnLst>
                                </p:cTn>
                              </p:par>
                            </p:childTnLst>
                          </p:cTn>
                        </p:par>
                        <p:par>
                          <p:cTn id="118" fill="hold" nodeType="afterGroup">
                            <p:stCondLst>
                              <p:cond delay="0"/>
                            </p:stCondLst>
                            <p:childTnLst>
                              <p:par>
                                <p:cTn id="119" presetID="1" presetClass="entr" presetSubtype="0" fill="hold" grpId="0" nodeType="afterEffect">
                                  <p:stCondLst>
                                    <p:cond delay="0"/>
                                  </p:stCondLst>
                                  <p:childTnLst>
                                    <p:set>
                                      <p:cBhvr>
                                        <p:cTn id="120" dur="1" fill="hold">
                                          <p:stCondLst>
                                            <p:cond delay="0"/>
                                          </p:stCondLst>
                                        </p:cTn>
                                        <p:tgtEl>
                                          <p:spTgt spid="429125"/>
                                        </p:tgtEl>
                                        <p:attrNameLst>
                                          <p:attrName>style.visibility</p:attrName>
                                        </p:attrNameLst>
                                      </p:cBhvr>
                                      <p:to>
                                        <p:strVal val="visible"/>
                                      </p:to>
                                    </p:set>
                                  </p:childTnLst>
                                </p:cTn>
                              </p:par>
                            </p:childTnLst>
                          </p:cTn>
                        </p:par>
                        <p:par>
                          <p:cTn id="121" fill="hold" nodeType="afterGroup">
                            <p:stCondLst>
                              <p:cond delay="0"/>
                            </p:stCondLst>
                            <p:childTnLst>
                              <p:par>
                                <p:cTn id="122" presetID="1" presetClass="entr" presetSubtype="0" fill="hold" grpId="0" nodeType="afterEffect">
                                  <p:stCondLst>
                                    <p:cond delay="0"/>
                                  </p:stCondLst>
                                  <p:childTnLst>
                                    <p:set>
                                      <p:cBhvr>
                                        <p:cTn id="123" dur="1" fill="hold">
                                          <p:stCondLst>
                                            <p:cond delay="0"/>
                                          </p:stCondLst>
                                        </p:cTn>
                                        <p:tgtEl>
                                          <p:spTgt spid="429133"/>
                                        </p:tgtEl>
                                        <p:attrNameLst>
                                          <p:attrName>style.visibility</p:attrName>
                                        </p:attrNameLst>
                                      </p:cBhvr>
                                      <p:to>
                                        <p:strVal val="visible"/>
                                      </p:to>
                                    </p:set>
                                  </p:childTnLst>
                                </p:cTn>
                              </p:par>
                            </p:childTnLst>
                          </p:cTn>
                        </p:par>
                        <p:par>
                          <p:cTn id="124" fill="hold" nodeType="afterGroup">
                            <p:stCondLst>
                              <p:cond delay="0"/>
                            </p:stCondLst>
                            <p:childTnLst>
                              <p:par>
                                <p:cTn id="125" presetID="56" presetClass="path" presetSubtype="0" accel="50000" decel="50000" fill="hold" grpId="1" nodeType="afterEffect">
                                  <p:stCondLst>
                                    <p:cond delay="0"/>
                                  </p:stCondLst>
                                  <p:childTnLst>
                                    <p:animMotion origin="layout" path="M -3.33333E-6 -2.08092E-6 L -0.00833 -0.32393 " pathEditMode="relative" rAng="0" ptsTypes="AA">
                                      <p:cBhvr>
                                        <p:cTn id="126" dur="1000" fill="hold"/>
                                        <p:tgtEl>
                                          <p:spTgt spid="429125"/>
                                        </p:tgtEl>
                                        <p:attrNameLst>
                                          <p:attrName>ppt_x</p:attrName>
                                          <p:attrName>ppt_y</p:attrName>
                                        </p:attrNameLst>
                                      </p:cBhvr>
                                      <p:rCtr x="-417" y="-16208"/>
                                    </p:animMotion>
                                  </p:childTnLst>
                                </p:cTn>
                              </p:par>
                            </p:childTnLst>
                          </p:cTn>
                        </p:par>
                        <p:par>
                          <p:cTn id="127" fill="hold" nodeType="afterGroup">
                            <p:stCondLst>
                              <p:cond delay="1000"/>
                            </p:stCondLst>
                            <p:childTnLst>
                              <p:par>
                                <p:cTn id="128" presetID="56" presetClass="path" presetSubtype="0" accel="50000" decel="50000" fill="hold" grpId="1" nodeType="afterEffect">
                                  <p:stCondLst>
                                    <p:cond delay="0"/>
                                  </p:stCondLst>
                                  <p:childTnLst>
                                    <p:animMotion origin="layout" path="M 3.33333E-6 -2.48555E-6 L 0.09166 -0.25734 " pathEditMode="relative" rAng="0" ptsTypes="AA">
                                      <p:cBhvr>
                                        <p:cTn id="129" dur="1000" fill="hold"/>
                                        <p:tgtEl>
                                          <p:spTgt spid="429117"/>
                                        </p:tgtEl>
                                        <p:attrNameLst>
                                          <p:attrName>ppt_x</p:attrName>
                                          <p:attrName>ppt_y</p:attrName>
                                        </p:attrNameLst>
                                      </p:cBhvr>
                                      <p:rCtr x="4583" y="-12879"/>
                                    </p:animMotion>
                                  </p:childTnLst>
                                </p:cTn>
                              </p:par>
                            </p:childTnLst>
                          </p:cTn>
                        </p:par>
                        <p:par>
                          <p:cTn id="130" fill="hold" nodeType="afterGroup">
                            <p:stCondLst>
                              <p:cond delay="2000"/>
                            </p:stCondLst>
                            <p:childTnLst>
                              <p:par>
                                <p:cTn id="131" presetID="56" presetClass="path" presetSubtype="0" accel="50000" decel="50000" fill="hold" grpId="1" nodeType="afterEffect">
                                  <p:stCondLst>
                                    <p:cond delay="0"/>
                                  </p:stCondLst>
                                  <p:childTnLst>
                                    <p:animMotion origin="layout" path="M 1.11022E-16 -1.15607E-6 L 0.21667 -0.24185 " pathEditMode="relative" rAng="0" ptsTypes="AA">
                                      <p:cBhvr>
                                        <p:cTn id="132" dur="500" fill="hold"/>
                                        <p:tgtEl>
                                          <p:spTgt spid="429133"/>
                                        </p:tgtEl>
                                        <p:attrNameLst>
                                          <p:attrName>ppt_x</p:attrName>
                                          <p:attrName>ppt_y</p:attrName>
                                        </p:attrNameLst>
                                      </p:cBhvr>
                                      <p:rCtr x="10833" y="-1209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60" grpId="0"/>
      <p:bldP spid="429067" grpId="0"/>
      <p:bldP spid="429073" grpId="0"/>
      <p:bldP spid="429073" grpId="1"/>
      <p:bldP spid="429080" grpId="0"/>
      <p:bldP spid="429080" grpId="1"/>
      <p:bldP spid="429081" grpId="0"/>
      <p:bldP spid="429087" grpId="0"/>
      <p:bldP spid="429088" grpId="0"/>
      <p:bldP spid="429088" grpId="1"/>
      <p:bldP spid="429089" grpId="0"/>
      <p:bldP spid="429089" grpId="1"/>
      <p:bldP spid="429095" grpId="0"/>
      <p:bldP spid="429096" grpId="0"/>
      <p:bldP spid="429096" grpId="1"/>
      <p:bldP spid="429097" grpId="0"/>
      <p:bldP spid="429098" grpId="0"/>
      <p:bldP spid="429104" grpId="0"/>
      <p:bldP spid="429110" grpId="0"/>
      <p:bldP spid="429117" grpId="0"/>
      <p:bldP spid="429117" grpId="1"/>
      <p:bldP spid="429118" grpId="0"/>
      <p:bldP spid="429125" grpId="0"/>
      <p:bldP spid="429125" grpId="1"/>
      <p:bldP spid="429133" grpId="0"/>
      <p:bldP spid="429133"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AutoShape 2"/>
          <p:cNvSpPr>
            <a:spLocks noGrp="1" noChangeArrowheads="1"/>
          </p:cNvSpPr>
          <p:nvPr>
            <p:ph type="title"/>
          </p:nvPr>
        </p:nvSpPr>
        <p:spPr/>
        <p:txBody>
          <a:bodyPr>
            <a:normAutofit fontScale="90000"/>
          </a:bodyPr>
          <a:lstStyle/>
          <a:p>
            <a:pPr eaLnBrk="1" hangingPunct="1"/>
            <a:r>
              <a:rPr lang="en-US" altLang="vi-VN" sz="3200" smtClean="0"/>
              <a:t>ĐỔI BIỂU DIỄN SỐ CHO PHẦN LẺ</a:t>
            </a:r>
            <a:r>
              <a:rPr lang="en-US" altLang="vi-VN" smtClean="0"/>
              <a:t> </a:t>
            </a:r>
            <a:r>
              <a:rPr lang="en-US" altLang="vi-VN" sz="3200" smtClean="0"/>
              <a:t>VỚI </a:t>
            </a:r>
            <a:br>
              <a:rPr lang="en-US" altLang="vi-VN" sz="3200" smtClean="0"/>
            </a:br>
            <a:r>
              <a:rPr lang="en-US" altLang="vi-VN" sz="3200" smtClean="0"/>
              <a:t>CÁC CƠ SỐ KHÁC NHAU</a:t>
            </a:r>
          </a:p>
        </p:txBody>
      </p:sp>
      <p:sp>
        <p:nvSpPr>
          <p:cNvPr id="15363" name="Rectangle 3"/>
          <p:cNvSpPr>
            <a:spLocks noGrp="1" noChangeArrowheads="1"/>
          </p:cNvSpPr>
          <p:nvPr>
            <p:ph type="body" idx="1"/>
          </p:nvPr>
        </p:nvSpPr>
        <p:spPr>
          <a:xfrm>
            <a:off x="838200" y="1905000"/>
            <a:ext cx="7924800" cy="4181475"/>
          </a:xfrm>
        </p:spPr>
        <p:txBody>
          <a:bodyPr>
            <a:normAutofit lnSpcReduction="10000"/>
          </a:bodyPr>
          <a:lstStyle/>
          <a:p>
            <a:pPr eaLnBrk="1" hangingPunct="1"/>
            <a:r>
              <a:rPr lang="en-US" altLang="vi-VN" sz="2400" smtClean="0"/>
              <a:t>Có số x &lt; 1, cần đổi ra phần lẻ trong biểu diễn cơ số b</a:t>
            </a:r>
          </a:p>
          <a:p>
            <a:pPr algn="ctr" eaLnBrk="1" hangingPunct="1">
              <a:buFont typeface="Wingdings" panose="05000000000000000000" pitchFamily="2" charset="2"/>
              <a:buNone/>
            </a:pPr>
            <a:r>
              <a:rPr lang="en-US" altLang="vi-VN" sz="2400" smtClean="0"/>
              <a:t>x = d</a:t>
            </a:r>
            <a:r>
              <a:rPr lang="en-US" altLang="vi-VN" sz="2400" baseline="-25000" smtClean="0"/>
              <a:t>-1</a:t>
            </a:r>
            <a:r>
              <a:rPr lang="en-US" altLang="vi-VN" sz="2400" smtClean="0"/>
              <a:t>.b</a:t>
            </a:r>
            <a:r>
              <a:rPr lang="en-US" altLang="vi-VN" sz="2400" baseline="30000" smtClean="0"/>
              <a:t>-1</a:t>
            </a:r>
            <a:r>
              <a:rPr lang="en-US" altLang="vi-VN" sz="2400" smtClean="0"/>
              <a:t> + d</a:t>
            </a:r>
            <a:r>
              <a:rPr lang="en-US" altLang="vi-VN" sz="2400" baseline="-25000" smtClean="0"/>
              <a:t>-2</a:t>
            </a:r>
            <a:r>
              <a:rPr lang="en-US" altLang="vi-VN" sz="2400" smtClean="0"/>
              <a:t>.b</a:t>
            </a:r>
            <a:r>
              <a:rPr lang="en-US" altLang="vi-VN" sz="2400" baseline="30000" smtClean="0"/>
              <a:t>-2</a:t>
            </a:r>
            <a:r>
              <a:rPr lang="en-US" altLang="vi-VN" sz="2400" smtClean="0"/>
              <a:t> +…+ d</a:t>
            </a:r>
            <a:r>
              <a:rPr lang="en-US" altLang="vi-VN" sz="2400" baseline="-25000" smtClean="0"/>
              <a:t>-m</a:t>
            </a:r>
            <a:r>
              <a:rPr lang="en-US" altLang="vi-VN" sz="2400" smtClean="0"/>
              <a:t>b</a:t>
            </a:r>
            <a:r>
              <a:rPr lang="en-US" altLang="vi-VN" sz="2400" baseline="30000" smtClean="0"/>
              <a:t>-m</a:t>
            </a:r>
            <a:r>
              <a:rPr lang="en-US" altLang="vi-VN" sz="2400" smtClean="0"/>
              <a:t>+….</a:t>
            </a:r>
          </a:p>
          <a:p>
            <a:pPr eaLnBrk="1" hangingPunct="1"/>
            <a:r>
              <a:rPr lang="en-US" altLang="vi-VN" sz="2400" smtClean="0"/>
              <a:t>Nếu nhân x với b, d</a:t>
            </a:r>
            <a:r>
              <a:rPr lang="en-US" altLang="vi-VN" sz="2400" baseline="-25000" smtClean="0"/>
              <a:t>-1</a:t>
            </a:r>
            <a:r>
              <a:rPr lang="en-US" altLang="vi-VN" sz="2400" smtClean="0"/>
              <a:t> sẽ chuyển sang phần nguyên và phần lẻ sẽ là</a:t>
            </a:r>
          </a:p>
          <a:p>
            <a:pPr algn="ctr" eaLnBrk="1" hangingPunct="1">
              <a:buFont typeface="Wingdings" panose="05000000000000000000" pitchFamily="2" charset="2"/>
              <a:buNone/>
            </a:pPr>
            <a:r>
              <a:rPr lang="en-US" altLang="vi-VN" sz="2400" smtClean="0"/>
              <a:t>x2= d</a:t>
            </a:r>
            <a:r>
              <a:rPr lang="en-US" altLang="vi-VN" sz="2400" baseline="-25000" smtClean="0"/>
              <a:t>-2</a:t>
            </a:r>
            <a:r>
              <a:rPr lang="en-US" altLang="vi-VN" sz="2400" smtClean="0"/>
              <a:t>.b</a:t>
            </a:r>
            <a:r>
              <a:rPr lang="en-US" altLang="vi-VN" sz="2400" baseline="30000" smtClean="0"/>
              <a:t>-1</a:t>
            </a:r>
            <a:r>
              <a:rPr lang="en-US" altLang="vi-VN" sz="2400" smtClean="0"/>
              <a:t> + d</a:t>
            </a:r>
            <a:r>
              <a:rPr lang="en-US" altLang="vi-VN" sz="2400" baseline="-25000" smtClean="0"/>
              <a:t>-3</a:t>
            </a:r>
            <a:r>
              <a:rPr lang="en-US" altLang="vi-VN" sz="2400" smtClean="0"/>
              <a:t>.b</a:t>
            </a:r>
            <a:r>
              <a:rPr lang="en-US" altLang="vi-VN" sz="2400" baseline="30000" smtClean="0"/>
              <a:t>-2</a:t>
            </a:r>
            <a:r>
              <a:rPr lang="en-US" altLang="vi-VN" sz="2400" smtClean="0"/>
              <a:t> …+ d</a:t>
            </a:r>
            <a:r>
              <a:rPr lang="en-US" altLang="vi-VN" sz="2400" baseline="-25000" smtClean="0"/>
              <a:t>-m</a:t>
            </a:r>
            <a:r>
              <a:rPr lang="en-US" altLang="vi-VN" sz="2400" smtClean="0"/>
              <a:t>b</a:t>
            </a:r>
            <a:r>
              <a:rPr lang="en-US" altLang="vi-VN" sz="2400" baseline="30000" smtClean="0"/>
              <a:t>-m+1</a:t>
            </a:r>
            <a:r>
              <a:rPr lang="en-US" altLang="vi-VN" sz="2400" smtClean="0"/>
              <a:t>+….</a:t>
            </a:r>
          </a:p>
          <a:p>
            <a:pPr eaLnBrk="1" hangingPunct="1"/>
            <a:r>
              <a:rPr lang="en-US" altLang="vi-VN" sz="2400" smtClean="0"/>
              <a:t>Nếu nhân x2 với b, d</a:t>
            </a:r>
            <a:r>
              <a:rPr lang="en-US" altLang="vi-VN" sz="2400" baseline="-25000" smtClean="0"/>
              <a:t>-2</a:t>
            </a:r>
            <a:r>
              <a:rPr lang="en-US" altLang="vi-VN" sz="2400" smtClean="0"/>
              <a:t> sẽ chuyển sang phần nguyên và phần lẻ sẽ là</a:t>
            </a:r>
          </a:p>
          <a:p>
            <a:pPr algn="ctr" eaLnBrk="1" hangingPunct="1">
              <a:buFont typeface="Wingdings" panose="05000000000000000000" pitchFamily="2" charset="2"/>
              <a:buNone/>
            </a:pPr>
            <a:r>
              <a:rPr lang="en-US" altLang="vi-VN" sz="2400" smtClean="0"/>
              <a:t>x3= d</a:t>
            </a:r>
            <a:r>
              <a:rPr lang="en-US" altLang="vi-VN" sz="2400" baseline="-25000" smtClean="0"/>
              <a:t>-3</a:t>
            </a:r>
            <a:r>
              <a:rPr lang="en-US" altLang="vi-VN" sz="2400" smtClean="0"/>
              <a:t>.b</a:t>
            </a:r>
            <a:r>
              <a:rPr lang="en-US" altLang="vi-VN" sz="2400" baseline="30000" smtClean="0"/>
              <a:t>-1</a:t>
            </a:r>
            <a:r>
              <a:rPr lang="en-US" altLang="vi-VN" sz="2400" smtClean="0"/>
              <a:t> + d</a:t>
            </a:r>
            <a:r>
              <a:rPr lang="en-US" altLang="vi-VN" sz="2400" baseline="-25000" smtClean="0"/>
              <a:t>-4</a:t>
            </a:r>
            <a:r>
              <a:rPr lang="en-US" altLang="vi-VN" sz="2400" smtClean="0"/>
              <a:t>.b</a:t>
            </a:r>
            <a:r>
              <a:rPr lang="en-US" altLang="vi-VN" sz="2400" baseline="30000" smtClean="0"/>
              <a:t>-2</a:t>
            </a:r>
            <a:r>
              <a:rPr lang="en-US" altLang="vi-VN" sz="2400" smtClean="0"/>
              <a:t> …+ a</a:t>
            </a:r>
            <a:r>
              <a:rPr lang="en-US" altLang="vi-VN" sz="2400" baseline="-25000" smtClean="0"/>
              <a:t>-m</a:t>
            </a:r>
            <a:r>
              <a:rPr lang="en-US" altLang="vi-VN" sz="2400" smtClean="0"/>
              <a:t>d</a:t>
            </a:r>
            <a:r>
              <a:rPr lang="en-US" altLang="vi-VN" sz="2400" baseline="30000" smtClean="0"/>
              <a:t>-m+2</a:t>
            </a:r>
            <a:r>
              <a:rPr lang="en-US" altLang="vi-VN" sz="2400" smtClean="0"/>
              <a:t>+….</a:t>
            </a:r>
          </a:p>
          <a:p>
            <a:pPr eaLnBrk="1" hangingPunct="1"/>
            <a:r>
              <a:rPr lang="en-US" altLang="vi-VN" sz="2400" smtClean="0"/>
              <a:t>Do đó có thể tách các số chữ số bằng nhân liên tiếp phần lẻ với b và tách lấy phần nguyên</a:t>
            </a:r>
          </a:p>
          <a:p>
            <a:pPr algn="ctr" eaLnBrk="1" hangingPunct="1">
              <a:buFont typeface="Wingdings" panose="05000000000000000000" pitchFamily="2" charset="2"/>
              <a:buNone/>
            </a:pPr>
            <a:endParaRPr lang="en-US" altLang="vi-VN" sz="2400" smtClean="0"/>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976939637"/>
      </p:ext>
    </p:extLst>
  </p:cSld>
  <p:clrMapOvr>
    <a:masterClrMapping/>
  </p:clrMapOvr>
  <p:transition spd="slow">
    <p:wipe di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AutoShape 2"/>
          <p:cNvSpPr>
            <a:spLocks noGrp="1" noChangeArrowheads="1"/>
          </p:cNvSpPr>
          <p:nvPr>
            <p:ph type="title"/>
          </p:nvPr>
        </p:nvSpPr>
        <p:spPr/>
        <p:txBody>
          <a:bodyPr/>
          <a:lstStyle/>
          <a:p>
            <a:pPr eaLnBrk="1" hangingPunct="1"/>
            <a:r>
              <a:rPr lang="en-US" altLang="vi-VN" sz="3200" smtClean="0"/>
              <a:t>QUY TẮC THỰC HÀNH ĐỔI BIỂU DIỄN SỐ VỚI PHẦN LẺ</a:t>
            </a:r>
          </a:p>
        </p:txBody>
      </p:sp>
      <p:sp>
        <p:nvSpPr>
          <p:cNvPr id="430083" name="Rectangle 3"/>
          <p:cNvSpPr>
            <a:spLocks noGrp="1" noChangeArrowheads="1"/>
          </p:cNvSpPr>
          <p:nvPr>
            <p:ph type="body" idx="1"/>
          </p:nvPr>
        </p:nvSpPr>
        <p:spPr>
          <a:xfrm>
            <a:off x="838200" y="1905000"/>
            <a:ext cx="3962400" cy="3733800"/>
          </a:xfrm>
        </p:spPr>
        <p:txBody>
          <a:bodyPr/>
          <a:lstStyle/>
          <a:p>
            <a:pPr eaLnBrk="1" hangingPunct="1"/>
            <a:r>
              <a:rPr lang="en-US" altLang="vi-VN" smtClean="0"/>
              <a:t> 0,427</a:t>
            </a:r>
            <a:r>
              <a:rPr lang="en-US" altLang="vi-VN" baseline="-25000" smtClean="0">
                <a:solidFill>
                  <a:srgbClr val="CC3300"/>
                </a:solidFill>
              </a:rPr>
              <a:t>10</a:t>
            </a:r>
            <a:r>
              <a:rPr lang="en-US" altLang="vi-VN" smtClean="0"/>
              <a:t> = 0,? </a:t>
            </a:r>
            <a:r>
              <a:rPr lang="en-US" altLang="vi-VN" baseline="-25000" smtClean="0">
                <a:solidFill>
                  <a:srgbClr val="CC3300"/>
                </a:solidFill>
              </a:rPr>
              <a:t>2</a:t>
            </a:r>
          </a:p>
          <a:p>
            <a:pPr eaLnBrk="1" hangingPunct="1">
              <a:buFont typeface="Wingdings" panose="05000000000000000000" pitchFamily="2" charset="2"/>
              <a:buNone/>
            </a:pPr>
            <a:r>
              <a:rPr lang="en-US" altLang="vi-VN" smtClean="0">
                <a:solidFill>
                  <a:srgbClr val="CC3300"/>
                </a:solidFill>
              </a:rPr>
              <a:t>0.  </a:t>
            </a:r>
            <a:r>
              <a:rPr lang="en-US" altLang="vi-VN" smtClean="0"/>
              <a:t>427     x 2</a:t>
            </a:r>
          </a:p>
          <a:p>
            <a:pPr eaLnBrk="1" hangingPunct="1">
              <a:buFont typeface="Wingdings" panose="05000000000000000000" pitchFamily="2" charset="2"/>
              <a:buNone/>
            </a:pPr>
            <a:r>
              <a:rPr lang="en-US" altLang="vi-VN" smtClean="0">
                <a:solidFill>
                  <a:srgbClr val="CC3300"/>
                </a:solidFill>
              </a:rPr>
              <a:t>0.  </a:t>
            </a:r>
            <a:r>
              <a:rPr lang="en-US" altLang="vi-VN" smtClean="0"/>
              <a:t>854     x 2</a:t>
            </a:r>
          </a:p>
          <a:p>
            <a:pPr eaLnBrk="1" hangingPunct="1">
              <a:buFont typeface="Wingdings" panose="05000000000000000000" pitchFamily="2" charset="2"/>
              <a:buNone/>
            </a:pPr>
            <a:r>
              <a:rPr lang="en-US" altLang="vi-VN" smtClean="0">
                <a:solidFill>
                  <a:srgbClr val="CC3300"/>
                </a:solidFill>
              </a:rPr>
              <a:t>1.  </a:t>
            </a:r>
            <a:r>
              <a:rPr lang="en-US" altLang="vi-VN" smtClean="0"/>
              <a:t>708     x 2</a:t>
            </a:r>
          </a:p>
          <a:p>
            <a:pPr eaLnBrk="1" hangingPunct="1">
              <a:buFont typeface="Wingdings" panose="05000000000000000000" pitchFamily="2" charset="2"/>
              <a:buNone/>
            </a:pPr>
            <a:r>
              <a:rPr lang="en-US" altLang="vi-VN" smtClean="0">
                <a:solidFill>
                  <a:srgbClr val="CC3300"/>
                </a:solidFill>
              </a:rPr>
              <a:t>1.  </a:t>
            </a:r>
            <a:r>
              <a:rPr lang="en-US" altLang="vi-VN" smtClean="0"/>
              <a:t>416     x 2</a:t>
            </a:r>
          </a:p>
          <a:p>
            <a:pPr eaLnBrk="1" hangingPunct="1">
              <a:buFont typeface="Wingdings" panose="05000000000000000000" pitchFamily="2" charset="2"/>
              <a:buNone/>
            </a:pPr>
            <a:r>
              <a:rPr lang="en-US" altLang="vi-VN" smtClean="0">
                <a:solidFill>
                  <a:srgbClr val="CC3300"/>
                </a:solidFill>
              </a:rPr>
              <a:t>0.  </a:t>
            </a:r>
            <a:r>
              <a:rPr lang="en-US" altLang="vi-VN" smtClean="0"/>
              <a:t>832     ….</a:t>
            </a:r>
          </a:p>
        </p:txBody>
      </p:sp>
      <p:sp>
        <p:nvSpPr>
          <p:cNvPr id="430090" name="Text Box 10"/>
          <p:cNvSpPr txBox="1">
            <a:spLocks noChangeArrowheads="1"/>
          </p:cNvSpPr>
          <p:nvPr/>
        </p:nvSpPr>
        <p:spPr bwMode="auto">
          <a:xfrm>
            <a:off x="838200" y="5837238"/>
            <a:ext cx="48006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2000">
                <a:solidFill>
                  <a:srgbClr val="CC3300"/>
                </a:solidFill>
              </a:rPr>
              <a:t>Một số hữu hạn ở một cơ số này có thể là một số vô hạn trong một cơ số khác</a:t>
            </a:r>
          </a:p>
        </p:txBody>
      </p:sp>
      <p:sp>
        <p:nvSpPr>
          <p:cNvPr id="16389" name="Line 13"/>
          <p:cNvSpPr>
            <a:spLocks noChangeShapeType="1"/>
          </p:cNvSpPr>
          <p:nvPr/>
        </p:nvSpPr>
        <p:spPr bwMode="auto">
          <a:xfrm>
            <a:off x="1295400" y="2514600"/>
            <a:ext cx="0" cy="2971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vi-VN"/>
          </a:p>
        </p:txBody>
      </p:sp>
      <p:sp>
        <p:nvSpPr>
          <p:cNvPr id="16390" name="Line 19"/>
          <p:cNvSpPr>
            <a:spLocks noChangeShapeType="1"/>
          </p:cNvSpPr>
          <p:nvPr/>
        </p:nvSpPr>
        <p:spPr bwMode="auto">
          <a:xfrm>
            <a:off x="5334000" y="2590800"/>
            <a:ext cx="0" cy="29718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vi-VN"/>
          </a:p>
        </p:txBody>
      </p:sp>
      <p:sp>
        <p:nvSpPr>
          <p:cNvPr id="430100" name="Rectangle 20"/>
          <p:cNvSpPr>
            <a:spLocks noChangeArrowheads="1"/>
          </p:cNvSpPr>
          <p:nvPr/>
        </p:nvSpPr>
        <p:spPr bwMode="auto">
          <a:xfrm>
            <a:off x="4876800" y="1905000"/>
            <a:ext cx="42672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eaLnBrk="1" hangingPunct="1"/>
            <a:r>
              <a:rPr lang="en-US" altLang="vi-VN" sz="2800"/>
              <a:t> 0,42</a:t>
            </a:r>
            <a:r>
              <a:rPr lang="en-US" altLang="vi-VN" sz="2800" baseline="-25000">
                <a:solidFill>
                  <a:srgbClr val="CC3300"/>
                </a:solidFill>
              </a:rPr>
              <a:t>10</a:t>
            </a:r>
            <a:r>
              <a:rPr lang="en-US" altLang="vi-VN" sz="2800"/>
              <a:t> = 0,? </a:t>
            </a:r>
            <a:r>
              <a:rPr lang="en-US" altLang="vi-VN" sz="2800" baseline="-25000">
                <a:solidFill>
                  <a:srgbClr val="CC3300"/>
                </a:solidFill>
              </a:rPr>
              <a:t>16</a:t>
            </a:r>
          </a:p>
          <a:p>
            <a:pPr eaLnBrk="1" hangingPunct="1">
              <a:buFont typeface="Wingdings" panose="05000000000000000000" pitchFamily="2" charset="2"/>
              <a:buNone/>
            </a:pPr>
            <a:r>
              <a:rPr lang="en-US" altLang="vi-VN" sz="2800">
                <a:solidFill>
                  <a:srgbClr val="CC3300"/>
                </a:solidFill>
              </a:rPr>
              <a:t>0.  </a:t>
            </a:r>
            <a:r>
              <a:rPr lang="en-US" altLang="vi-VN" sz="2800"/>
              <a:t>42     x 16</a:t>
            </a:r>
          </a:p>
          <a:p>
            <a:pPr eaLnBrk="1" hangingPunct="1">
              <a:buFont typeface="Wingdings" panose="05000000000000000000" pitchFamily="2" charset="2"/>
              <a:buNone/>
            </a:pPr>
            <a:r>
              <a:rPr lang="en-US" altLang="vi-VN" sz="2800">
                <a:solidFill>
                  <a:srgbClr val="CC3300"/>
                </a:solidFill>
              </a:rPr>
              <a:t>6.  </a:t>
            </a:r>
            <a:r>
              <a:rPr lang="en-US" altLang="vi-VN" sz="2800"/>
              <a:t>72     x 16</a:t>
            </a:r>
          </a:p>
          <a:p>
            <a:pPr eaLnBrk="1" hangingPunct="1">
              <a:buFont typeface="Wingdings" panose="05000000000000000000" pitchFamily="2" charset="2"/>
              <a:buNone/>
            </a:pPr>
            <a:r>
              <a:rPr lang="en-US" altLang="vi-VN" sz="2800">
                <a:solidFill>
                  <a:srgbClr val="CC3300"/>
                </a:solidFill>
              </a:rPr>
              <a:t>11.</a:t>
            </a:r>
            <a:r>
              <a:rPr lang="en-US" altLang="vi-VN" sz="2800"/>
              <a:t>52     x 16</a:t>
            </a:r>
          </a:p>
          <a:p>
            <a:pPr eaLnBrk="1" hangingPunct="1">
              <a:buFont typeface="Wingdings" panose="05000000000000000000" pitchFamily="2" charset="2"/>
              <a:buNone/>
            </a:pPr>
            <a:r>
              <a:rPr lang="en-US" altLang="vi-VN" sz="2800">
                <a:solidFill>
                  <a:srgbClr val="CC3300"/>
                </a:solidFill>
              </a:rPr>
              <a:t>8.  </a:t>
            </a:r>
            <a:r>
              <a:rPr lang="en-US" altLang="vi-VN" sz="2800"/>
              <a:t>32     x 16</a:t>
            </a:r>
          </a:p>
          <a:p>
            <a:pPr eaLnBrk="1" hangingPunct="1">
              <a:buFont typeface="Wingdings" panose="05000000000000000000" pitchFamily="2" charset="2"/>
              <a:buNone/>
            </a:pPr>
            <a:r>
              <a:rPr lang="en-US" altLang="vi-VN" sz="2800">
                <a:solidFill>
                  <a:srgbClr val="CC3300"/>
                </a:solidFill>
              </a:rPr>
              <a:t>5.  </a:t>
            </a:r>
            <a:r>
              <a:rPr lang="en-US" altLang="vi-VN" sz="2800"/>
              <a:t>12     ….</a:t>
            </a:r>
          </a:p>
        </p:txBody>
      </p:sp>
      <p:sp>
        <p:nvSpPr>
          <p:cNvPr id="430101" name="Rectangle 21"/>
          <p:cNvSpPr>
            <a:spLocks noChangeArrowheads="1"/>
          </p:cNvSpPr>
          <p:nvPr/>
        </p:nvSpPr>
        <p:spPr bwMode="auto">
          <a:xfrm>
            <a:off x="3276600" y="1981200"/>
            <a:ext cx="838200" cy="533400"/>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eaLnBrk="1" hangingPunct="1"/>
            <a:endParaRPr lang="vi-VN" altLang="vi-VN"/>
          </a:p>
        </p:txBody>
      </p:sp>
      <p:sp>
        <p:nvSpPr>
          <p:cNvPr id="430084" name="Text Box 4"/>
          <p:cNvSpPr txBox="1">
            <a:spLocks noChangeArrowheads="1"/>
          </p:cNvSpPr>
          <p:nvPr/>
        </p:nvSpPr>
        <p:spPr bwMode="auto">
          <a:xfrm>
            <a:off x="700088" y="4419600"/>
            <a:ext cx="53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0</a:t>
            </a:r>
          </a:p>
        </p:txBody>
      </p:sp>
      <p:sp>
        <p:nvSpPr>
          <p:cNvPr id="430085" name="Text Box 5"/>
          <p:cNvSpPr txBox="1">
            <a:spLocks noChangeArrowheads="1"/>
          </p:cNvSpPr>
          <p:nvPr/>
        </p:nvSpPr>
        <p:spPr bwMode="auto">
          <a:xfrm>
            <a:off x="714375" y="2886075"/>
            <a:ext cx="53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0</a:t>
            </a:r>
          </a:p>
        </p:txBody>
      </p:sp>
      <p:sp>
        <p:nvSpPr>
          <p:cNvPr id="16395" name="Text Box 6"/>
          <p:cNvSpPr txBox="1">
            <a:spLocks noChangeArrowheads="1"/>
          </p:cNvSpPr>
          <p:nvPr/>
        </p:nvSpPr>
        <p:spPr bwMode="auto">
          <a:xfrm>
            <a:off x="700088" y="2362200"/>
            <a:ext cx="53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0</a:t>
            </a:r>
          </a:p>
        </p:txBody>
      </p:sp>
      <p:sp>
        <p:nvSpPr>
          <p:cNvPr id="430088" name="Text Box 8"/>
          <p:cNvSpPr txBox="1">
            <a:spLocks noChangeArrowheads="1"/>
          </p:cNvSpPr>
          <p:nvPr/>
        </p:nvSpPr>
        <p:spPr bwMode="auto">
          <a:xfrm>
            <a:off x="685800" y="3886200"/>
            <a:ext cx="53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1</a:t>
            </a:r>
          </a:p>
        </p:txBody>
      </p:sp>
      <p:sp>
        <p:nvSpPr>
          <p:cNvPr id="430089" name="Text Box 9"/>
          <p:cNvSpPr txBox="1">
            <a:spLocks noChangeArrowheads="1"/>
          </p:cNvSpPr>
          <p:nvPr/>
        </p:nvSpPr>
        <p:spPr bwMode="auto">
          <a:xfrm>
            <a:off x="700088" y="3414713"/>
            <a:ext cx="5334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algn="r" eaLnBrk="1" hangingPunct="1">
              <a:spcBef>
                <a:spcPct val="50000"/>
              </a:spcBef>
              <a:buClrTx/>
              <a:buSzTx/>
              <a:buFontTx/>
              <a:buNone/>
            </a:pPr>
            <a:r>
              <a:rPr lang="en-US" altLang="vi-VN" sz="3200">
                <a:solidFill>
                  <a:srgbClr val="CC3300"/>
                </a:solidFill>
              </a:rPr>
              <a:t>1</a:t>
            </a:r>
          </a:p>
        </p:txBody>
      </p:sp>
      <p:sp>
        <p:nvSpPr>
          <p:cNvPr id="430102" name="Text Box 22"/>
          <p:cNvSpPr txBox="1">
            <a:spLocks noChangeArrowheads="1"/>
          </p:cNvSpPr>
          <p:nvPr/>
        </p:nvSpPr>
        <p:spPr bwMode="auto">
          <a:xfrm>
            <a:off x="6781800" y="1905000"/>
            <a:ext cx="2362200" cy="519113"/>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en-US" altLang="vi-VN" sz="2800">
                <a:solidFill>
                  <a:srgbClr val="CC3300"/>
                </a:solidFill>
              </a:rPr>
              <a:t>0,6B85…</a:t>
            </a:r>
            <a:r>
              <a:rPr lang="en-US" altLang="vi-VN" sz="2800" baseline="-25000">
                <a:solidFill>
                  <a:srgbClr val="CC3300"/>
                </a:solidFill>
              </a:rPr>
              <a:t>16</a:t>
            </a:r>
          </a:p>
        </p:txBody>
      </p:sp>
      <p:sp>
        <p:nvSpPr>
          <p:cNvPr id="16399" name="Line 23"/>
          <p:cNvSpPr>
            <a:spLocks noChangeShapeType="1"/>
          </p:cNvSpPr>
          <p:nvPr/>
        </p:nvSpPr>
        <p:spPr bwMode="auto">
          <a:xfrm>
            <a:off x="1295400" y="2438400"/>
            <a:ext cx="0" cy="25908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6400" name="Line 24"/>
          <p:cNvSpPr>
            <a:spLocks noChangeShapeType="1"/>
          </p:cNvSpPr>
          <p:nvPr/>
        </p:nvSpPr>
        <p:spPr bwMode="auto">
          <a:xfrm>
            <a:off x="5410200" y="2438400"/>
            <a:ext cx="0" cy="2590800"/>
          </a:xfrm>
          <a:prstGeom prst="line">
            <a:avLst/>
          </a:prstGeom>
          <a:noFill/>
          <a:ln w="9525">
            <a:solidFill>
              <a:srgbClr val="CC3300"/>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039169799"/>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1" nodeType="clickEffect">
                                  <p:stCondLst>
                                    <p:cond delay="0"/>
                                  </p:stCondLst>
                                  <p:childTnLst>
                                    <p:set>
                                      <p:cBhvr>
                                        <p:cTn id="6" dur="1" fill="hold">
                                          <p:stCondLst>
                                            <p:cond delay="0"/>
                                          </p:stCondLst>
                                        </p:cTn>
                                        <p:tgtEl>
                                          <p:spTgt spid="430102"/>
                                        </p:tgtEl>
                                        <p:attrNameLst>
                                          <p:attrName>style.visibility</p:attrName>
                                        </p:attrNameLst>
                                      </p:cBhvr>
                                      <p:to>
                                        <p:strVal val="hidden"/>
                                      </p:to>
                                    </p:set>
                                  </p:childTnLst>
                                </p:cTn>
                              </p:par>
                              <p:par>
                                <p:cTn id="7" presetID="1" presetClass="exit" presetSubtype="0" fill="hold" grpId="1" nodeType="withEffect">
                                  <p:stCondLst>
                                    <p:cond delay="0"/>
                                  </p:stCondLst>
                                  <p:childTnLst>
                                    <p:set>
                                      <p:cBhvr>
                                        <p:cTn id="8" dur="1" fill="hold">
                                          <p:stCondLst>
                                            <p:cond delay="0"/>
                                          </p:stCondLst>
                                        </p:cTn>
                                        <p:tgtEl>
                                          <p:spTgt spid="430085"/>
                                        </p:tgtEl>
                                        <p:attrNameLst>
                                          <p:attrName>style.visibility</p:attrName>
                                        </p:attrNameLst>
                                      </p:cBhvr>
                                      <p:to>
                                        <p:strVal val="hidden"/>
                                      </p:to>
                                    </p:set>
                                  </p:childTnLst>
                                </p:cTn>
                              </p:par>
                              <p:par>
                                <p:cTn id="9" presetID="1" presetClass="exit" presetSubtype="0" fill="hold" grpId="1" nodeType="withEffect">
                                  <p:stCondLst>
                                    <p:cond delay="0"/>
                                  </p:stCondLst>
                                  <p:childTnLst>
                                    <p:set>
                                      <p:cBhvr>
                                        <p:cTn id="10" dur="1" fill="hold">
                                          <p:stCondLst>
                                            <p:cond delay="0"/>
                                          </p:stCondLst>
                                        </p:cTn>
                                        <p:tgtEl>
                                          <p:spTgt spid="430089"/>
                                        </p:tgtEl>
                                        <p:attrNameLst>
                                          <p:attrName>style.visibility</p:attrName>
                                        </p:attrNameLst>
                                      </p:cBhvr>
                                      <p:to>
                                        <p:strVal val="hidden"/>
                                      </p:to>
                                    </p:set>
                                  </p:childTnLst>
                                </p:cTn>
                              </p:par>
                              <p:par>
                                <p:cTn id="11" presetID="1" presetClass="exit" presetSubtype="0" fill="hold" grpId="1" nodeType="withEffect">
                                  <p:stCondLst>
                                    <p:cond delay="0"/>
                                  </p:stCondLst>
                                  <p:childTnLst>
                                    <p:set>
                                      <p:cBhvr>
                                        <p:cTn id="12" dur="1" fill="hold">
                                          <p:stCondLst>
                                            <p:cond delay="0"/>
                                          </p:stCondLst>
                                        </p:cTn>
                                        <p:tgtEl>
                                          <p:spTgt spid="430088"/>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430084"/>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30083">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30083">
                                            <p:txEl>
                                              <p:pRg st="2" end="2"/>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30083">
                                            <p:txEl>
                                              <p:pRg st="3" end="3"/>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30083">
                                            <p:txEl>
                                              <p:pRg st="4" end="4"/>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30083">
                                            <p:txEl>
                                              <p:pRg st="5" end="5"/>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2" nodeType="clickEffect">
                                  <p:stCondLst>
                                    <p:cond delay="0"/>
                                  </p:stCondLst>
                                  <p:childTnLst>
                                    <p:set>
                                      <p:cBhvr>
                                        <p:cTn id="38" dur="1" fill="hold">
                                          <p:stCondLst>
                                            <p:cond delay="0"/>
                                          </p:stCondLst>
                                        </p:cTn>
                                        <p:tgtEl>
                                          <p:spTgt spid="430085"/>
                                        </p:tgtEl>
                                        <p:attrNameLst>
                                          <p:attrName>style.visibility</p:attrName>
                                        </p:attrNameLst>
                                      </p:cBhvr>
                                      <p:to>
                                        <p:strVal val="visible"/>
                                      </p:to>
                                    </p:set>
                                  </p:childTnLst>
                                </p:cTn>
                              </p:par>
                              <p:par>
                                <p:cTn id="39" presetID="1" presetClass="entr" presetSubtype="0" fill="hold" grpId="2" nodeType="withEffect">
                                  <p:stCondLst>
                                    <p:cond delay="0"/>
                                  </p:stCondLst>
                                  <p:childTnLst>
                                    <p:set>
                                      <p:cBhvr>
                                        <p:cTn id="40" dur="1" fill="hold">
                                          <p:stCondLst>
                                            <p:cond delay="0"/>
                                          </p:stCondLst>
                                        </p:cTn>
                                        <p:tgtEl>
                                          <p:spTgt spid="430089"/>
                                        </p:tgtEl>
                                        <p:attrNameLst>
                                          <p:attrName>style.visibility</p:attrName>
                                        </p:attrNameLst>
                                      </p:cBhvr>
                                      <p:to>
                                        <p:strVal val="visible"/>
                                      </p:to>
                                    </p:set>
                                  </p:childTnLst>
                                </p:cTn>
                              </p:par>
                              <p:par>
                                <p:cTn id="41" presetID="1" presetClass="entr" presetSubtype="0" fill="hold" grpId="2" nodeType="withEffect">
                                  <p:stCondLst>
                                    <p:cond delay="0"/>
                                  </p:stCondLst>
                                  <p:childTnLst>
                                    <p:set>
                                      <p:cBhvr>
                                        <p:cTn id="42" dur="1" fill="hold">
                                          <p:stCondLst>
                                            <p:cond delay="0"/>
                                          </p:stCondLst>
                                        </p:cTn>
                                        <p:tgtEl>
                                          <p:spTgt spid="430088"/>
                                        </p:tgtEl>
                                        <p:attrNameLst>
                                          <p:attrName>style.visibility</p:attrName>
                                        </p:attrNameLst>
                                      </p:cBhvr>
                                      <p:to>
                                        <p:strVal val="visible"/>
                                      </p:to>
                                    </p:set>
                                  </p:childTnLst>
                                </p:cTn>
                              </p:par>
                              <p:par>
                                <p:cTn id="43" presetID="1" presetClass="entr" presetSubtype="0" fill="hold" grpId="2" nodeType="withEffect">
                                  <p:stCondLst>
                                    <p:cond delay="0"/>
                                  </p:stCondLst>
                                  <p:childTnLst>
                                    <p:set>
                                      <p:cBhvr>
                                        <p:cTn id="44" dur="1" fill="hold">
                                          <p:stCondLst>
                                            <p:cond delay="0"/>
                                          </p:stCondLst>
                                        </p:cTn>
                                        <p:tgtEl>
                                          <p:spTgt spid="430084"/>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30101"/>
                                        </p:tgtEl>
                                        <p:attrNameLst>
                                          <p:attrName>style.visibility</p:attrName>
                                        </p:attrNameLst>
                                      </p:cBhvr>
                                      <p:to>
                                        <p:strVal val="visible"/>
                                      </p:to>
                                    </p:set>
                                  </p:childTnLst>
                                </p:cTn>
                              </p:par>
                            </p:childTnLst>
                          </p:cTn>
                        </p:par>
                        <p:par>
                          <p:cTn id="49" fill="hold" nodeType="afterGroup">
                            <p:stCondLst>
                              <p:cond delay="0"/>
                            </p:stCondLst>
                            <p:childTnLst>
                              <p:par>
                                <p:cTn id="50" presetID="56" presetClass="path" presetSubtype="0" accel="50000" decel="50000" fill="hold" grpId="0" nodeType="afterEffect">
                                  <p:stCondLst>
                                    <p:cond delay="0"/>
                                  </p:stCondLst>
                                  <p:childTnLst>
                                    <p:animMotion origin="layout" path="M 8.33333E-7 1.32948E-6 L 0.29427 -0.15376 " pathEditMode="relative" rAng="0" ptsTypes="AA">
                                      <p:cBhvr>
                                        <p:cTn id="51" dur="500" fill="hold"/>
                                        <p:tgtEl>
                                          <p:spTgt spid="430085"/>
                                        </p:tgtEl>
                                        <p:attrNameLst>
                                          <p:attrName>ppt_x</p:attrName>
                                          <p:attrName>ppt_y</p:attrName>
                                        </p:attrNameLst>
                                      </p:cBhvr>
                                      <p:rCtr x="14705" y="-7699"/>
                                    </p:animMotion>
                                  </p:childTnLst>
                                </p:cTn>
                              </p:par>
                            </p:childTnLst>
                          </p:cTn>
                        </p:par>
                        <p:par>
                          <p:cTn id="52" fill="hold" nodeType="afterGroup">
                            <p:stCondLst>
                              <p:cond delay="500"/>
                            </p:stCondLst>
                            <p:childTnLst>
                              <p:par>
                                <p:cTn id="53" presetID="56" presetClass="path" presetSubtype="0" accel="50000" decel="50000" fill="hold" grpId="0" nodeType="afterEffect">
                                  <p:stCondLst>
                                    <p:cond delay="0"/>
                                  </p:stCondLst>
                                  <p:childTnLst>
                                    <p:animMotion origin="layout" path="M -2.5E-6 -4.68208E-6 L 0.31719 -0.22728 " pathEditMode="relative" rAng="0" ptsTypes="AA">
                                      <p:cBhvr>
                                        <p:cTn id="54" dur="500" fill="hold"/>
                                        <p:tgtEl>
                                          <p:spTgt spid="430089"/>
                                        </p:tgtEl>
                                        <p:attrNameLst>
                                          <p:attrName>ppt_x</p:attrName>
                                          <p:attrName>ppt_y</p:attrName>
                                        </p:attrNameLst>
                                      </p:cBhvr>
                                      <p:rCtr x="15851" y="-11376"/>
                                    </p:animMotion>
                                  </p:childTnLst>
                                </p:cTn>
                              </p:par>
                            </p:childTnLst>
                          </p:cTn>
                        </p:par>
                        <p:par>
                          <p:cTn id="55" fill="hold" nodeType="afterGroup">
                            <p:stCondLst>
                              <p:cond delay="1000"/>
                            </p:stCondLst>
                            <p:childTnLst>
                              <p:par>
                                <p:cTn id="56" presetID="56" presetClass="path" presetSubtype="0" accel="50000" decel="50000" fill="hold" grpId="0" nodeType="afterEffect">
                                  <p:stCondLst>
                                    <p:cond delay="0"/>
                                  </p:stCondLst>
                                  <p:childTnLst>
                                    <p:animMotion origin="layout" path="M -3.33333E-6 -2.48555E-6 L 0.34584 -0.29734 " pathEditMode="relative" rAng="0" ptsTypes="AA">
                                      <p:cBhvr>
                                        <p:cTn id="57" dur="500" fill="hold"/>
                                        <p:tgtEl>
                                          <p:spTgt spid="430088"/>
                                        </p:tgtEl>
                                        <p:attrNameLst>
                                          <p:attrName>ppt_x</p:attrName>
                                          <p:attrName>ppt_y</p:attrName>
                                        </p:attrNameLst>
                                      </p:cBhvr>
                                      <p:rCtr x="17292" y="-14867"/>
                                    </p:animMotion>
                                  </p:childTnLst>
                                </p:cTn>
                              </p:par>
                            </p:childTnLst>
                          </p:cTn>
                        </p:par>
                        <p:par>
                          <p:cTn id="58" fill="hold" nodeType="afterGroup">
                            <p:stCondLst>
                              <p:cond delay="1500"/>
                            </p:stCondLst>
                            <p:childTnLst>
                              <p:par>
                                <p:cTn id="59" presetID="56" presetClass="path" presetSubtype="0" accel="50000" decel="50000" fill="hold" grpId="0" nodeType="afterEffect">
                                  <p:stCondLst>
                                    <p:cond delay="0"/>
                                  </p:stCondLst>
                                  <p:childTnLst>
                                    <p:animMotion origin="layout" path="M 3.33333E-6 -3.46821E-7 L 0.3625 -0.37503 " pathEditMode="relative" rAng="0" ptsTypes="AA">
                                      <p:cBhvr>
                                        <p:cTn id="60" dur="500" fill="hold"/>
                                        <p:tgtEl>
                                          <p:spTgt spid="430084"/>
                                        </p:tgtEl>
                                        <p:attrNameLst>
                                          <p:attrName>ppt_x</p:attrName>
                                          <p:attrName>ppt_y</p:attrName>
                                        </p:attrNameLst>
                                      </p:cBhvr>
                                      <p:rCtr x="18125" y="-18751"/>
                                    </p:animMotion>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30090"/>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0"/>
                                          </p:stCondLst>
                                        </p:cTn>
                                        <p:tgtEl>
                                          <p:spTgt spid="430100">
                                            <p:txEl>
                                              <p:pRg st="1" end="1"/>
                                            </p:txEl>
                                          </p:spTgt>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0"/>
                                          </p:stCondLst>
                                        </p:cTn>
                                        <p:tgtEl>
                                          <p:spTgt spid="430100">
                                            <p:txEl>
                                              <p:pRg st="2" end="2"/>
                                            </p:txEl>
                                          </p:spTgt>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nodeType="clickEffect">
                                  <p:stCondLst>
                                    <p:cond delay="0"/>
                                  </p:stCondLst>
                                  <p:childTnLst>
                                    <p:set>
                                      <p:cBhvr>
                                        <p:cTn id="76" dur="1" fill="hold">
                                          <p:stCondLst>
                                            <p:cond delay="0"/>
                                          </p:stCondLst>
                                        </p:cTn>
                                        <p:tgtEl>
                                          <p:spTgt spid="430100">
                                            <p:txEl>
                                              <p:pRg st="3" end="3"/>
                                            </p:txEl>
                                          </p:spTgt>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nodeType="clickEffect">
                                  <p:stCondLst>
                                    <p:cond delay="0"/>
                                  </p:stCondLst>
                                  <p:childTnLst>
                                    <p:set>
                                      <p:cBhvr>
                                        <p:cTn id="80" dur="1" fill="hold">
                                          <p:stCondLst>
                                            <p:cond delay="0"/>
                                          </p:stCondLst>
                                        </p:cTn>
                                        <p:tgtEl>
                                          <p:spTgt spid="430100">
                                            <p:txEl>
                                              <p:pRg st="4" end="4"/>
                                            </p:txEl>
                                          </p:spTgt>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0"/>
                                          </p:stCondLst>
                                        </p:cTn>
                                        <p:tgtEl>
                                          <p:spTgt spid="430100">
                                            <p:txEl>
                                              <p:pRg st="5" end="5"/>
                                            </p:txEl>
                                          </p:spTgt>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1" presetClass="entr" presetSubtype="0" fill="hold" grpId="2" nodeType="clickEffect">
                                  <p:stCondLst>
                                    <p:cond delay="0"/>
                                  </p:stCondLst>
                                  <p:childTnLst>
                                    <p:set>
                                      <p:cBhvr>
                                        <p:cTn id="88" dur="1" fill="hold">
                                          <p:stCondLst>
                                            <p:cond delay="0"/>
                                          </p:stCondLst>
                                        </p:cTn>
                                        <p:tgtEl>
                                          <p:spTgt spid="430102"/>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56" presetClass="path" presetSubtype="0" accel="50000" decel="50000" fill="hold" grpId="0" nodeType="clickEffect">
                                  <p:stCondLst>
                                    <p:cond delay="0"/>
                                  </p:stCondLst>
                                  <p:childTnLst>
                                    <p:animMotion origin="layout" path="M -0.27864 0.21226 L -3.33333E-6 0.00625 " pathEditMode="relative" rAng="0" ptsTypes="AA">
                                      <p:cBhvr>
                                        <p:cTn id="92" dur="2000" fill="hold"/>
                                        <p:tgtEl>
                                          <p:spTgt spid="430102"/>
                                        </p:tgtEl>
                                        <p:attrNameLst>
                                          <p:attrName>ppt_x</p:attrName>
                                          <p:attrName>ppt_y</p:attrName>
                                        </p:attrNameLst>
                                      </p:cBhvr>
                                      <p:rCtr x="13924" y="-1031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90" grpId="0"/>
      <p:bldP spid="430101" grpId="0" animBg="1"/>
      <p:bldP spid="430084" grpId="0"/>
      <p:bldP spid="430084" grpId="1"/>
      <p:bldP spid="430084" grpId="2"/>
      <p:bldP spid="430085" grpId="0"/>
      <p:bldP spid="430085" grpId="1"/>
      <p:bldP spid="430085" grpId="2"/>
      <p:bldP spid="430088" grpId="0"/>
      <p:bldP spid="430088" grpId="1"/>
      <p:bldP spid="430088" grpId="2"/>
      <p:bldP spid="430089" grpId="0"/>
      <p:bldP spid="430089" grpId="1"/>
      <p:bldP spid="430089" grpId="2"/>
      <p:bldP spid="430102" grpId="0" animBg="1"/>
      <p:bldP spid="430102" grpId="1" animBg="1"/>
      <p:bldP spid="430102" grpId="2"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2"/>
          <p:cNvSpPr>
            <a:spLocks noGrp="1" noChangeArrowheads="1"/>
          </p:cNvSpPr>
          <p:nvPr>
            <p:ph type="title"/>
          </p:nvPr>
        </p:nvSpPr>
        <p:spPr/>
        <p:txBody>
          <a:bodyPr>
            <a:normAutofit fontScale="90000"/>
          </a:bodyPr>
          <a:lstStyle/>
          <a:p>
            <a:pPr eaLnBrk="1" hangingPunct="1"/>
            <a:r>
              <a:rPr lang="en-US" altLang="vi-VN" sz="3200" smtClean="0"/>
              <a:t>ĐỔI BIỂU DIỄN SỐ</a:t>
            </a:r>
            <a:r>
              <a:rPr lang="en-US" altLang="vi-VN" smtClean="0"/>
              <a:t> </a:t>
            </a:r>
            <a:r>
              <a:rPr lang="en-US" altLang="vi-VN" sz="3200" smtClean="0"/>
              <a:t>VỚI </a:t>
            </a:r>
            <a:br>
              <a:rPr lang="en-US" altLang="vi-VN" sz="3200" smtClean="0"/>
            </a:br>
            <a:r>
              <a:rPr lang="en-US" altLang="vi-VN" sz="3200" smtClean="0"/>
              <a:t>CÁC CƠ SỐ KHÁC NHAU</a:t>
            </a:r>
          </a:p>
        </p:txBody>
      </p:sp>
      <p:sp>
        <p:nvSpPr>
          <p:cNvPr id="17411" name="Rectangle 3"/>
          <p:cNvSpPr>
            <a:spLocks noGrp="1" noChangeArrowheads="1"/>
          </p:cNvSpPr>
          <p:nvPr>
            <p:ph type="body" idx="1"/>
          </p:nvPr>
        </p:nvSpPr>
        <p:spPr/>
        <p:txBody>
          <a:bodyPr>
            <a:normAutofit lnSpcReduction="10000"/>
          </a:bodyPr>
          <a:lstStyle/>
          <a:p>
            <a:pPr eaLnBrk="1" hangingPunct="1"/>
            <a:r>
              <a:rPr lang="en-US" altLang="vi-VN" smtClean="0"/>
              <a:t>Cách đổi như đã nêu trên được sử dụng để đổi một số trong hệ thập phân sang một hệ đếm bất kỳ</a:t>
            </a:r>
          </a:p>
          <a:p>
            <a:pPr eaLnBrk="1" hangingPunct="1"/>
            <a:r>
              <a:rPr lang="en-US" altLang="vi-VN" smtClean="0"/>
              <a:t>Để đổi từ một hệ đếm bất kỳ sang hệ thập phân có thể tính trực tiếp giá trị của đa thức</a:t>
            </a:r>
          </a:p>
          <a:p>
            <a:pPr algn="ctr" eaLnBrk="1" hangingPunct="1">
              <a:buFont typeface="Wingdings" panose="05000000000000000000" pitchFamily="2" charset="2"/>
              <a:buNone/>
            </a:pPr>
            <a:r>
              <a:rPr lang="en-US" altLang="vi-VN" smtClean="0"/>
              <a:t>P = a</a:t>
            </a:r>
            <a:r>
              <a:rPr lang="en-US" altLang="vi-VN" baseline="-25000" smtClean="0"/>
              <a:t>k</a:t>
            </a:r>
            <a:r>
              <a:rPr lang="en-US" altLang="vi-VN" smtClean="0"/>
              <a:t>.b</a:t>
            </a:r>
            <a:r>
              <a:rPr lang="en-US" altLang="vi-VN" baseline="30000" smtClean="0"/>
              <a:t>k</a:t>
            </a:r>
            <a:r>
              <a:rPr lang="en-US" altLang="vi-VN" smtClean="0"/>
              <a:t> + a</a:t>
            </a:r>
            <a:r>
              <a:rPr lang="en-US" altLang="vi-VN" baseline="-25000" smtClean="0"/>
              <a:t>k-1</a:t>
            </a:r>
            <a:r>
              <a:rPr lang="en-US" altLang="vi-VN" smtClean="0"/>
              <a:t>.b</a:t>
            </a:r>
            <a:r>
              <a:rPr lang="en-US" altLang="vi-VN" baseline="30000" smtClean="0"/>
              <a:t>k-1</a:t>
            </a:r>
            <a:r>
              <a:rPr lang="en-US" altLang="vi-VN" smtClean="0"/>
              <a:t> +…+ a</a:t>
            </a:r>
            <a:r>
              <a:rPr lang="en-US" altLang="vi-VN" baseline="-25000" smtClean="0"/>
              <a:t>1</a:t>
            </a:r>
            <a:r>
              <a:rPr lang="en-US" altLang="vi-VN" smtClean="0"/>
              <a:t>b</a:t>
            </a:r>
            <a:r>
              <a:rPr lang="en-US" altLang="vi-VN" baseline="30000" smtClean="0"/>
              <a:t>1</a:t>
            </a:r>
            <a:r>
              <a:rPr lang="en-US" altLang="vi-VN" smtClean="0"/>
              <a:t>+a</a:t>
            </a:r>
            <a:r>
              <a:rPr lang="en-US" altLang="vi-VN" baseline="-25000" smtClean="0"/>
              <a:t>0</a:t>
            </a:r>
            <a:r>
              <a:rPr lang="en-US" altLang="vi-VN" smtClean="0"/>
              <a:t>….</a:t>
            </a:r>
          </a:p>
          <a:p>
            <a:pPr algn="ctr" eaLnBrk="1" hangingPunct="1">
              <a:buFont typeface="Wingdings" panose="05000000000000000000" pitchFamily="2" charset="2"/>
              <a:buNone/>
            </a:pPr>
            <a:r>
              <a:rPr lang="en-US" altLang="vi-VN" smtClean="0"/>
              <a:t>Cách tính tiết kiệm là sử dụng lược đồ Horner</a:t>
            </a:r>
          </a:p>
          <a:p>
            <a:pPr algn="ctr" eaLnBrk="1" hangingPunct="1">
              <a:buFont typeface="Wingdings" panose="05000000000000000000" pitchFamily="2" charset="2"/>
              <a:buNone/>
            </a:pPr>
            <a:r>
              <a:rPr lang="en-US" altLang="vi-VN" smtClean="0"/>
              <a:t>P = a</a:t>
            </a:r>
            <a:r>
              <a:rPr lang="en-US" altLang="vi-VN" baseline="-25000" smtClean="0"/>
              <a:t>0 </a:t>
            </a:r>
            <a:r>
              <a:rPr lang="en-US" altLang="vi-VN" smtClean="0"/>
              <a:t>+ b(a</a:t>
            </a:r>
            <a:r>
              <a:rPr lang="en-US" altLang="vi-VN" baseline="-25000" smtClean="0"/>
              <a:t>1 </a:t>
            </a:r>
            <a:r>
              <a:rPr lang="en-US" altLang="vi-VN" smtClean="0"/>
              <a:t>+ b(a</a:t>
            </a:r>
            <a:r>
              <a:rPr lang="en-US" altLang="vi-VN" baseline="-25000" smtClean="0"/>
              <a:t> 2 </a:t>
            </a:r>
            <a:r>
              <a:rPr lang="en-US" altLang="vi-VN" smtClean="0"/>
              <a:t>+b(…)))))</a:t>
            </a:r>
          </a:p>
          <a:p>
            <a:pPr eaLnBrk="1" hangingPunct="1"/>
            <a:endParaRPr lang="en-US" altLang="vi-VN" smtClean="0"/>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869993575"/>
      </p:ext>
    </p:extLst>
  </p:cSld>
  <p:clrMapOvr>
    <a:masterClrMapping/>
  </p:clrMapOvr>
  <p:transition spd="slow">
    <p:wipe di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AutoShape 2"/>
          <p:cNvSpPr>
            <a:spLocks noGrp="1" noChangeArrowheads="1"/>
          </p:cNvSpPr>
          <p:nvPr>
            <p:ph type="title"/>
          </p:nvPr>
        </p:nvSpPr>
        <p:spPr/>
        <p:txBody>
          <a:bodyPr>
            <a:normAutofit fontScale="90000"/>
          </a:bodyPr>
          <a:lstStyle/>
          <a:p>
            <a:pPr eaLnBrk="1" hangingPunct="1"/>
            <a:r>
              <a:rPr lang="en-US" altLang="vi-VN" sz="3200" smtClean="0"/>
              <a:t>ĐỔI BIỂU DIỄN SỐ</a:t>
            </a:r>
            <a:r>
              <a:rPr lang="en-US" altLang="vi-VN" smtClean="0"/>
              <a:t> </a:t>
            </a:r>
            <a:r>
              <a:rPr lang="en-US" altLang="vi-VN" sz="3200" smtClean="0"/>
              <a:t>VỚI </a:t>
            </a:r>
            <a:br>
              <a:rPr lang="en-US" altLang="vi-VN" sz="3200" smtClean="0"/>
            </a:br>
            <a:r>
              <a:rPr lang="en-US" altLang="vi-VN" sz="3200" smtClean="0"/>
              <a:t>CÁC CƠ SỐ KHÁC NHAU</a:t>
            </a:r>
          </a:p>
        </p:txBody>
      </p:sp>
      <p:sp>
        <p:nvSpPr>
          <p:cNvPr id="18435" name="Rectangle 3"/>
          <p:cNvSpPr>
            <a:spLocks noGrp="1" noChangeArrowheads="1"/>
          </p:cNvSpPr>
          <p:nvPr>
            <p:ph type="body" idx="1"/>
          </p:nvPr>
        </p:nvSpPr>
        <p:spPr>
          <a:xfrm>
            <a:off x="838200" y="1905000"/>
            <a:ext cx="8001000" cy="4724400"/>
          </a:xfrm>
        </p:spPr>
        <p:txBody>
          <a:bodyPr>
            <a:normAutofit lnSpcReduction="10000"/>
          </a:bodyPr>
          <a:lstStyle/>
          <a:p>
            <a:pPr eaLnBrk="1" hangingPunct="1">
              <a:lnSpc>
                <a:spcPct val="90000"/>
              </a:lnSpc>
            </a:pPr>
            <a:r>
              <a:rPr lang="en-US" altLang="vi-VN" smtClean="0"/>
              <a:t>Để đổi một số có cả phần nguyên và phần lẻ thì đổi riêng phần nguyên và phần lẻ rồi ghép lại</a:t>
            </a:r>
          </a:p>
          <a:p>
            <a:pPr eaLnBrk="1" hangingPunct="1">
              <a:lnSpc>
                <a:spcPct val="90000"/>
              </a:lnSpc>
            </a:pPr>
            <a:r>
              <a:rPr lang="en-US" altLang="vi-VN" smtClean="0"/>
              <a:t>Để đổi một số âm thì đổi giá trị tuyệt đối sau đó thêm dấu</a:t>
            </a:r>
          </a:p>
          <a:p>
            <a:pPr eaLnBrk="1" hangingPunct="1">
              <a:lnSpc>
                <a:spcPct val="90000"/>
              </a:lnSpc>
            </a:pPr>
            <a:r>
              <a:rPr lang="en-US" altLang="vi-VN" smtClean="0"/>
              <a:t>Điều khó khăn đối với hai cơ số bất kỳ khác 10 là ta không quen tính các phép tính số học trong hệ đếm cơ số khác 10. Vì thể có thể chọn hệ đếm thập phân làm trung gian trong tính toán:</a:t>
            </a:r>
          </a:p>
          <a:p>
            <a:pPr algn="ctr" eaLnBrk="1" hangingPunct="1">
              <a:lnSpc>
                <a:spcPct val="90000"/>
              </a:lnSpc>
              <a:buFont typeface="Wingdings" panose="05000000000000000000" pitchFamily="2" charset="2"/>
              <a:buNone/>
            </a:pPr>
            <a:r>
              <a:rPr lang="en-US" altLang="vi-VN" smtClean="0"/>
              <a:t>X</a:t>
            </a:r>
            <a:r>
              <a:rPr lang="en-US" altLang="vi-VN" baseline="-25000" smtClean="0"/>
              <a:t>p</a:t>
            </a:r>
            <a:r>
              <a:rPr lang="en-US" altLang="vi-VN" smtClean="0"/>
              <a:t>   →  Y</a:t>
            </a:r>
            <a:r>
              <a:rPr lang="en-US" altLang="vi-VN" baseline="-25000" smtClean="0"/>
              <a:t>10</a:t>
            </a:r>
            <a:r>
              <a:rPr lang="en-US" altLang="vi-VN" smtClean="0"/>
              <a:t>    →    Z </a:t>
            </a:r>
            <a:r>
              <a:rPr lang="en-US" altLang="vi-VN" baseline="-25000" smtClean="0"/>
              <a:t>q</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824420390"/>
      </p:ext>
    </p:extLst>
  </p:cSld>
  <p:clrMapOvr>
    <a:masterClrMapping/>
  </p:clrMapOvr>
  <p:transition spd="slow">
    <p:wipe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2"/>
          <p:cNvSpPr>
            <a:spLocks noGrp="1" noChangeArrowheads="1"/>
          </p:cNvSpPr>
          <p:nvPr>
            <p:ph type="title"/>
          </p:nvPr>
        </p:nvSpPr>
        <p:spPr/>
        <p:txBody>
          <a:bodyPr/>
          <a:lstStyle/>
          <a:p>
            <a:pPr eaLnBrk="1" hangingPunct="1"/>
            <a:r>
              <a:rPr lang="en-US" altLang="vi-VN" sz="2800" smtClean="0"/>
              <a:t>ĐỔI BIỂU DIỄN SỐ TRONG TRƯỜNG HỢP </a:t>
            </a:r>
            <a:br>
              <a:rPr lang="en-US" altLang="vi-VN" sz="2800" smtClean="0"/>
            </a:br>
            <a:r>
              <a:rPr lang="en-US" altLang="vi-VN" sz="2800" smtClean="0"/>
              <a:t>CƠ SỐ LÀ LUỸ THỪA CỦA NHAU</a:t>
            </a:r>
          </a:p>
        </p:txBody>
      </p:sp>
      <p:sp>
        <p:nvSpPr>
          <p:cNvPr id="19459" name="Rectangle 3"/>
          <p:cNvSpPr>
            <a:spLocks noGrp="1" noChangeArrowheads="1"/>
          </p:cNvSpPr>
          <p:nvPr>
            <p:ph type="body" idx="1"/>
          </p:nvPr>
        </p:nvSpPr>
        <p:spPr/>
        <p:txBody>
          <a:bodyPr/>
          <a:lstStyle/>
          <a:p>
            <a:pPr eaLnBrk="1" hangingPunct="1">
              <a:lnSpc>
                <a:spcPct val="80000"/>
              </a:lnSpc>
            </a:pPr>
            <a:r>
              <a:rPr lang="en-US" altLang="vi-VN" sz="2400" smtClean="0"/>
              <a:t> Nếu đổi x</a:t>
            </a:r>
            <a:r>
              <a:rPr lang="en-US" altLang="vi-VN" sz="2400" baseline="-25000" smtClean="0">
                <a:solidFill>
                  <a:srgbClr val="CC3300"/>
                </a:solidFill>
              </a:rPr>
              <a:t>p</a:t>
            </a:r>
            <a:r>
              <a:rPr lang="en-US" altLang="vi-VN" sz="2400" smtClean="0"/>
              <a:t> → y</a:t>
            </a:r>
            <a:r>
              <a:rPr lang="en-US" altLang="vi-VN" sz="2400" baseline="-25000" smtClean="0">
                <a:solidFill>
                  <a:srgbClr val="CC3300"/>
                </a:solidFill>
              </a:rPr>
              <a:t>q </a:t>
            </a:r>
            <a:r>
              <a:rPr lang="en-US" altLang="vi-VN" sz="2400" smtClean="0"/>
              <a:t>mà</a:t>
            </a:r>
            <a:r>
              <a:rPr lang="vi-VN" altLang="vi-VN" sz="2400" smtClean="0"/>
              <a:t> p=q</a:t>
            </a:r>
            <a:r>
              <a:rPr lang="vi-VN" altLang="vi-VN" sz="2400" baseline="30000" smtClean="0"/>
              <a:t>k  </a:t>
            </a:r>
            <a:r>
              <a:rPr lang="vi-VN" altLang="vi-VN" sz="2400" smtClean="0"/>
              <a:t>th</a:t>
            </a:r>
            <a:r>
              <a:rPr lang="en-US" altLang="vi-VN" sz="2400" smtClean="0"/>
              <a:t>ì</a:t>
            </a:r>
            <a:r>
              <a:rPr lang="vi-VN" altLang="vi-VN" sz="2400" smtClean="0"/>
              <a:t> p s</a:t>
            </a:r>
            <a:r>
              <a:rPr lang="en-US" altLang="vi-VN" sz="2400" smtClean="0"/>
              <a:t>ẽ</a:t>
            </a:r>
            <a:r>
              <a:rPr lang="vi-VN" altLang="vi-VN" sz="2400" smtClean="0"/>
              <a:t> c</a:t>
            </a:r>
            <a:r>
              <a:rPr lang="en-US" altLang="vi-VN" sz="2400" smtClean="0"/>
              <a:t>ó</a:t>
            </a:r>
            <a:r>
              <a:rPr lang="vi-VN" altLang="vi-VN" sz="2400" smtClean="0"/>
              <a:t> bi</a:t>
            </a:r>
            <a:r>
              <a:rPr lang="en-US" altLang="vi-VN" sz="2400" smtClean="0"/>
              <a:t>ể</a:t>
            </a:r>
            <a:r>
              <a:rPr lang="vi-VN" altLang="vi-VN" sz="2400" smtClean="0"/>
              <a:t>u di</a:t>
            </a:r>
            <a:r>
              <a:rPr lang="en-US" altLang="vi-VN" sz="2400" smtClean="0"/>
              <a:t>ê</a:t>
            </a:r>
            <a:r>
              <a:rPr lang="vi-VN" altLang="vi-VN" sz="2400" smtClean="0"/>
              <a:t>n l</a:t>
            </a:r>
            <a:r>
              <a:rPr lang="en-US" altLang="vi-VN" sz="2400" smtClean="0"/>
              <a:t>à</a:t>
            </a:r>
            <a:r>
              <a:rPr lang="vi-VN" altLang="vi-VN" sz="2400" smtClean="0"/>
              <a:t> 100....0 (k ch</a:t>
            </a:r>
            <a:r>
              <a:rPr lang="en-US" altLang="vi-VN" sz="2400" smtClean="0"/>
              <a:t>ữ</a:t>
            </a:r>
            <a:r>
              <a:rPr lang="vi-VN" altLang="vi-VN" sz="2400" smtClean="0"/>
              <a:t> s</a:t>
            </a:r>
            <a:r>
              <a:rPr lang="en-US" altLang="vi-VN" sz="2400" smtClean="0"/>
              <a:t>ố</a:t>
            </a:r>
            <a:r>
              <a:rPr lang="vi-VN" altLang="vi-VN" sz="2400" smtClean="0"/>
              <a:t> 0). Khi </a:t>
            </a:r>
            <a:r>
              <a:rPr lang="en-US" altLang="vi-VN" sz="2400" smtClean="0"/>
              <a:t>đó</a:t>
            </a:r>
            <a:r>
              <a:rPr lang="vi-VN" altLang="vi-VN" sz="2400" smtClean="0"/>
              <a:t> ph</a:t>
            </a:r>
            <a:r>
              <a:rPr lang="en-US" altLang="vi-VN" sz="2400" smtClean="0"/>
              <a:t>é</a:t>
            </a:r>
            <a:r>
              <a:rPr lang="vi-VN" altLang="vi-VN" sz="2400" smtClean="0"/>
              <a:t>p nh</a:t>
            </a:r>
            <a:r>
              <a:rPr lang="en-US" altLang="vi-VN" sz="2400" smtClean="0"/>
              <a:t>â</a:t>
            </a:r>
            <a:r>
              <a:rPr lang="vi-VN" altLang="vi-VN" sz="2400" smtClean="0"/>
              <a:t>n để tách phần nguyên v</a:t>
            </a:r>
            <a:r>
              <a:rPr lang="en-US" altLang="vi-VN" sz="2400" smtClean="0"/>
              <a:t>à</a:t>
            </a:r>
            <a:r>
              <a:rPr lang="vi-VN" altLang="vi-VN" sz="2400" smtClean="0"/>
              <a:t> chia để tách phần dư n</a:t>
            </a:r>
            <a:r>
              <a:rPr lang="en-US" altLang="vi-VN" sz="2400" smtClean="0"/>
              <a:t>ó</a:t>
            </a:r>
            <a:r>
              <a:rPr lang="vi-VN" altLang="vi-VN" sz="2400" smtClean="0"/>
              <a:t>i trong ph</a:t>
            </a:r>
            <a:r>
              <a:rPr lang="en-US" altLang="vi-VN" sz="2400" smtClean="0"/>
              <a:t>ầ</a:t>
            </a:r>
            <a:r>
              <a:rPr lang="vi-VN" altLang="vi-VN" sz="2400" smtClean="0"/>
              <a:t>n </a:t>
            </a:r>
            <a:r>
              <a:rPr lang="en-US" altLang="vi-VN" sz="2400" smtClean="0"/>
              <a:t>đổ</a:t>
            </a:r>
            <a:r>
              <a:rPr lang="vi-VN" altLang="vi-VN" sz="2400" smtClean="0"/>
              <a:t>i biểu diễn nói trên th</a:t>
            </a:r>
            <a:r>
              <a:rPr lang="en-US" altLang="vi-VN" sz="2400" smtClean="0"/>
              <a:t>ự</a:t>
            </a:r>
            <a:r>
              <a:rPr lang="vi-VN" altLang="vi-VN" sz="2400" smtClean="0"/>
              <a:t>c ch</a:t>
            </a:r>
            <a:r>
              <a:rPr lang="en-US" altLang="vi-VN" sz="2400" smtClean="0"/>
              <a:t>ấ</a:t>
            </a:r>
            <a:r>
              <a:rPr lang="vi-VN" altLang="vi-VN" sz="2400" smtClean="0"/>
              <a:t>t l</a:t>
            </a:r>
            <a:r>
              <a:rPr lang="en-US" altLang="vi-VN" sz="2400" smtClean="0"/>
              <a:t>à</a:t>
            </a:r>
            <a:r>
              <a:rPr lang="vi-VN" altLang="vi-VN" sz="2400" smtClean="0"/>
              <a:t> t</a:t>
            </a:r>
            <a:r>
              <a:rPr lang="en-US" altLang="vi-VN" sz="2400" smtClean="0"/>
              <a:t>á</a:t>
            </a:r>
            <a:r>
              <a:rPr lang="vi-VN" altLang="vi-VN" sz="2400" smtClean="0"/>
              <a:t>ch bi</a:t>
            </a:r>
            <a:r>
              <a:rPr lang="en-US" altLang="vi-VN" sz="2400" smtClean="0"/>
              <a:t>ể</a:t>
            </a:r>
            <a:r>
              <a:rPr lang="vi-VN" altLang="vi-VN" sz="2400" smtClean="0"/>
              <a:t>u di</a:t>
            </a:r>
            <a:r>
              <a:rPr lang="en-US" altLang="vi-VN" sz="2400" smtClean="0"/>
              <a:t>ễ</a:t>
            </a:r>
            <a:r>
              <a:rPr lang="vi-VN" altLang="vi-VN" sz="2400" smtClean="0"/>
              <a:t>n số trong hệ đếm cơ số q th</a:t>
            </a:r>
            <a:r>
              <a:rPr lang="en-US" altLang="vi-VN" sz="2400" smtClean="0"/>
              <a:t>à</a:t>
            </a:r>
            <a:r>
              <a:rPr lang="vi-VN" altLang="vi-VN" sz="2400" smtClean="0"/>
              <a:t>nh c</a:t>
            </a:r>
            <a:r>
              <a:rPr lang="en-US" altLang="vi-VN" sz="2400" smtClean="0"/>
              <a:t>á</a:t>
            </a:r>
            <a:r>
              <a:rPr lang="vi-VN" altLang="vi-VN" sz="2400" smtClean="0"/>
              <a:t>c nh</a:t>
            </a:r>
            <a:r>
              <a:rPr lang="en-US" altLang="vi-VN" sz="2400" smtClean="0"/>
              <a:t>ó</a:t>
            </a:r>
            <a:r>
              <a:rPr lang="vi-VN" altLang="vi-VN" sz="2400" smtClean="0"/>
              <a:t>m k ch</a:t>
            </a:r>
            <a:r>
              <a:rPr lang="en-US" altLang="vi-VN" sz="2400" smtClean="0"/>
              <a:t>ữ</a:t>
            </a:r>
            <a:r>
              <a:rPr lang="vi-VN" altLang="vi-VN" sz="2400" smtClean="0"/>
              <a:t> s</a:t>
            </a:r>
            <a:r>
              <a:rPr lang="en-US" altLang="vi-VN" sz="2400" smtClean="0"/>
              <a:t>ố</a:t>
            </a:r>
            <a:r>
              <a:rPr lang="vi-VN" altLang="vi-VN" sz="2400" smtClean="0"/>
              <a:t> t</a:t>
            </a:r>
            <a:r>
              <a:rPr lang="en-US" altLang="vi-VN" sz="2400" smtClean="0"/>
              <a:t>í</a:t>
            </a:r>
            <a:r>
              <a:rPr lang="vi-VN" altLang="vi-VN" sz="2400" smtClean="0"/>
              <a:t>nh t</a:t>
            </a:r>
            <a:r>
              <a:rPr lang="en-US" altLang="vi-VN" sz="2400" smtClean="0"/>
              <a:t>ừ</a:t>
            </a:r>
            <a:r>
              <a:rPr lang="vi-VN" altLang="vi-VN" sz="2400" smtClean="0"/>
              <a:t> d</a:t>
            </a:r>
            <a:r>
              <a:rPr lang="en-US" altLang="vi-VN" sz="2400" smtClean="0"/>
              <a:t>ấu</a:t>
            </a:r>
            <a:r>
              <a:rPr lang="vi-VN" altLang="vi-VN" sz="2400" smtClean="0"/>
              <a:t> ph</a:t>
            </a:r>
            <a:r>
              <a:rPr lang="en-US" altLang="vi-VN" sz="2400" smtClean="0"/>
              <a:t>ả</a:t>
            </a:r>
            <a:r>
              <a:rPr lang="vi-VN" altLang="vi-VN" sz="2400" smtClean="0"/>
              <a:t>y ng</a:t>
            </a:r>
            <a:r>
              <a:rPr lang="en-US" altLang="vi-VN" sz="2400" smtClean="0"/>
              <a:t>ă</a:t>
            </a:r>
            <a:r>
              <a:rPr lang="vi-VN" altLang="vi-VN" sz="2400" smtClean="0"/>
              <a:t>n c</a:t>
            </a:r>
            <a:r>
              <a:rPr lang="en-US" altLang="vi-VN" sz="2400" smtClean="0"/>
              <a:t>á</a:t>
            </a:r>
            <a:r>
              <a:rPr lang="vi-VN" altLang="vi-VN" sz="2400" smtClean="0"/>
              <a:t>ch ph</a:t>
            </a:r>
            <a:r>
              <a:rPr lang="en-US" altLang="vi-VN" sz="2400" smtClean="0"/>
              <a:t>ầ</a:t>
            </a:r>
            <a:r>
              <a:rPr lang="vi-VN" altLang="vi-VN" sz="2400" smtClean="0"/>
              <a:t>n nguy</a:t>
            </a:r>
            <a:r>
              <a:rPr lang="en-US" altLang="vi-VN" sz="2400" smtClean="0"/>
              <a:t>ê</a:t>
            </a:r>
            <a:r>
              <a:rPr lang="vi-VN" altLang="vi-VN" sz="2400" smtClean="0"/>
              <a:t>n v</a:t>
            </a:r>
            <a:r>
              <a:rPr lang="en-US" altLang="vi-VN" sz="2400" smtClean="0"/>
              <a:t>à</a:t>
            </a:r>
            <a:r>
              <a:rPr lang="vi-VN" altLang="vi-VN" sz="2400" smtClean="0"/>
              <a:t> ph</a:t>
            </a:r>
            <a:r>
              <a:rPr lang="en-US" altLang="vi-VN" sz="2400" smtClean="0"/>
              <a:t>ầ</a:t>
            </a:r>
            <a:r>
              <a:rPr lang="vi-VN" altLang="vi-VN" sz="2400" smtClean="0"/>
              <a:t>n l</a:t>
            </a:r>
            <a:r>
              <a:rPr lang="en-US" altLang="vi-VN" sz="2400" smtClean="0"/>
              <a:t>ẻ</a:t>
            </a:r>
            <a:r>
              <a:rPr lang="vi-VN" altLang="vi-VN" sz="2400" smtClean="0"/>
              <a:t> v</a:t>
            </a:r>
            <a:r>
              <a:rPr lang="en-US" altLang="vi-VN" sz="2400" smtClean="0"/>
              <a:t>ề</a:t>
            </a:r>
            <a:r>
              <a:rPr lang="vi-VN" altLang="vi-VN" sz="2400" smtClean="0"/>
              <a:t> hai ph</a:t>
            </a:r>
            <a:r>
              <a:rPr lang="en-US" altLang="vi-VN" sz="2400" smtClean="0"/>
              <a:t>ía</a:t>
            </a:r>
            <a:r>
              <a:rPr lang="vi-VN" altLang="vi-VN" sz="2400" smtClean="0"/>
              <a:t>. Mỗi nhóm k chữ số của hệ đếm cơ số q cho giá trị của một chữ số trong hệ đếm cơ số p</a:t>
            </a:r>
          </a:p>
          <a:p>
            <a:pPr eaLnBrk="1" hangingPunct="1">
              <a:lnSpc>
                <a:spcPct val="80000"/>
              </a:lnSpc>
            </a:pPr>
            <a:r>
              <a:rPr lang="vi-VN" altLang="vi-VN" sz="2400" smtClean="0"/>
              <a:t>T</a:t>
            </a:r>
            <a:r>
              <a:rPr lang="en-US" altLang="vi-VN" sz="2400" smtClean="0"/>
              <a:t>ừ</a:t>
            </a:r>
            <a:r>
              <a:rPr lang="vi-VN" altLang="vi-VN" sz="2400" smtClean="0"/>
              <a:t> </a:t>
            </a:r>
            <a:r>
              <a:rPr lang="en-US" altLang="vi-VN" sz="2400" smtClean="0"/>
              <a:t>đó</a:t>
            </a:r>
            <a:r>
              <a:rPr lang="vi-VN" altLang="vi-VN" sz="2400" smtClean="0"/>
              <a:t> c</a:t>
            </a:r>
            <a:r>
              <a:rPr lang="en-US" altLang="vi-VN" sz="2400" smtClean="0"/>
              <a:t>ó</a:t>
            </a:r>
            <a:r>
              <a:rPr lang="vi-VN" altLang="vi-VN" sz="2400" smtClean="0"/>
              <a:t> quy t</a:t>
            </a:r>
            <a:r>
              <a:rPr lang="en-US" altLang="vi-VN" sz="2400" smtClean="0"/>
              <a:t>ắ</a:t>
            </a:r>
            <a:r>
              <a:rPr lang="vi-VN" altLang="vi-VN" sz="2400" smtClean="0"/>
              <a:t>c th</a:t>
            </a:r>
            <a:r>
              <a:rPr lang="en-US" altLang="vi-VN" sz="2400" smtClean="0"/>
              <a:t>ự</a:t>
            </a:r>
            <a:r>
              <a:rPr lang="vi-VN" altLang="vi-VN" sz="2400" smtClean="0"/>
              <a:t>c h</a:t>
            </a:r>
            <a:r>
              <a:rPr lang="en-US" altLang="vi-VN" sz="2400" smtClean="0"/>
              <a:t>à</a:t>
            </a:r>
            <a:r>
              <a:rPr lang="vi-VN" altLang="vi-VN" sz="2400" smtClean="0"/>
              <a:t>nh nh</a:t>
            </a:r>
            <a:r>
              <a:rPr lang="en-US" altLang="vi-VN" sz="2400" smtClean="0"/>
              <a:t>ư</a:t>
            </a:r>
            <a:r>
              <a:rPr lang="vi-VN" altLang="vi-VN" sz="2400" smtClean="0"/>
              <a:t> sau:</a:t>
            </a:r>
          </a:p>
          <a:p>
            <a:pPr eaLnBrk="1" hangingPunct="1">
              <a:lnSpc>
                <a:spcPct val="80000"/>
              </a:lnSpc>
              <a:buFont typeface="Wingdings" panose="05000000000000000000" pitchFamily="2" charset="2"/>
              <a:buNone/>
            </a:pPr>
            <a:r>
              <a:rPr lang="vi-VN" altLang="vi-VN" sz="2400" smtClean="0"/>
              <a:t>    Nhóm c</a:t>
            </a:r>
            <a:r>
              <a:rPr lang="en-US" altLang="vi-VN" sz="2400" smtClean="0"/>
              <a:t>á</a:t>
            </a:r>
            <a:r>
              <a:rPr lang="vi-VN" altLang="vi-VN" sz="2400" smtClean="0"/>
              <a:t>c ch</a:t>
            </a:r>
            <a:r>
              <a:rPr lang="en-US" altLang="vi-VN" sz="2400" smtClean="0"/>
              <a:t>ữ</a:t>
            </a:r>
            <a:r>
              <a:rPr lang="vi-VN" altLang="vi-VN" sz="2400" smtClean="0"/>
              <a:t> s</a:t>
            </a:r>
            <a:r>
              <a:rPr lang="en-US" altLang="vi-VN" sz="2400" smtClean="0"/>
              <a:t>ố</a:t>
            </a:r>
            <a:r>
              <a:rPr lang="vi-VN" altLang="vi-VN" sz="2400" smtClean="0"/>
              <a:t> c</a:t>
            </a:r>
            <a:r>
              <a:rPr lang="en-US" altLang="vi-VN" sz="2400" smtClean="0"/>
              <a:t>ủa</a:t>
            </a:r>
            <a:r>
              <a:rPr lang="vi-VN" altLang="vi-VN" sz="2400" smtClean="0"/>
              <a:t> s</a:t>
            </a:r>
            <a:r>
              <a:rPr lang="en-US" altLang="vi-VN" sz="2400" smtClean="0"/>
              <a:t>ố</a:t>
            </a:r>
            <a:r>
              <a:rPr lang="vi-VN" altLang="vi-VN" sz="2400" smtClean="0"/>
              <a:t> trong  bi</a:t>
            </a:r>
            <a:r>
              <a:rPr lang="en-US" altLang="vi-VN" sz="2400" smtClean="0"/>
              <a:t>ể</a:t>
            </a:r>
            <a:r>
              <a:rPr lang="vi-VN" altLang="vi-VN" sz="2400" smtClean="0"/>
              <a:t>u di</a:t>
            </a:r>
            <a:r>
              <a:rPr lang="en-US" altLang="vi-VN" sz="2400" smtClean="0"/>
              <a:t>ễ</a:t>
            </a:r>
            <a:r>
              <a:rPr lang="vi-VN" altLang="vi-VN" sz="2400" smtClean="0"/>
              <a:t>n h</a:t>
            </a:r>
            <a:r>
              <a:rPr lang="en-US" altLang="vi-VN" sz="2400" smtClean="0"/>
              <a:t>ệ</a:t>
            </a:r>
            <a:r>
              <a:rPr lang="vi-VN" altLang="vi-VN" sz="2400" smtClean="0"/>
              <a:t> </a:t>
            </a:r>
            <a:r>
              <a:rPr lang="en-US" altLang="vi-VN" sz="2400" smtClean="0"/>
              <a:t>đế</a:t>
            </a:r>
            <a:r>
              <a:rPr lang="vi-VN" altLang="vi-VN" sz="2400" smtClean="0"/>
              <a:t>m c</a:t>
            </a:r>
            <a:r>
              <a:rPr lang="en-US" altLang="vi-VN" sz="2400" smtClean="0"/>
              <a:t>ơ</a:t>
            </a:r>
            <a:r>
              <a:rPr lang="vi-VN" altLang="vi-VN" sz="2400" smtClean="0"/>
              <a:t> s</a:t>
            </a:r>
            <a:r>
              <a:rPr lang="en-US" altLang="vi-VN" sz="2400" smtClean="0"/>
              <a:t>ố</a:t>
            </a:r>
            <a:r>
              <a:rPr lang="vi-VN" altLang="vi-VN" sz="2400" smtClean="0"/>
              <a:t> q th</a:t>
            </a:r>
            <a:r>
              <a:rPr lang="en-US" altLang="vi-VN" sz="2400" smtClean="0"/>
              <a:t>à</a:t>
            </a:r>
            <a:r>
              <a:rPr lang="vi-VN" altLang="vi-VN" sz="2400" smtClean="0"/>
              <a:t>nh t</a:t>
            </a:r>
            <a:r>
              <a:rPr lang="en-US" altLang="vi-VN" sz="2400" smtClean="0"/>
              <a:t>ừ</a:t>
            </a:r>
            <a:r>
              <a:rPr lang="vi-VN" altLang="vi-VN" sz="2400" smtClean="0"/>
              <a:t>ng nh</a:t>
            </a:r>
            <a:r>
              <a:rPr lang="en-US" altLang="vi-VN" sz="2400" smtClean="0"/>
              <a:t>ó</a:t>
            </a:r>
            <a:r>
              <a:rPr lang="vi-VN" altLang="vi-VN" sz="2400" smtClean="0"/>
              <a:t>m </a:t>
            </a:r>
            <a:r>
              <a:rPr lang="en-US" altLang="vi-VN" sz="2400" smtClean="0"/>
              <a:t>đủ</a:t>
            </a:r>
            <a:r>
              <a:rPr lang="vi-VN" altLang="vi-VN" sz="2400" smtClean="0"/>
              <a:t> k ch</a:t>
            </a:r>
            <a:r>
              <a:rPr lang="en-US" altLang="vi-VN" sz="2400" smtClean="0"/>
              <a:t>ữ</a:t>
            </a:r>
            <a:r>
              <a:rPr lang="vi-VN" altLang="vi-VN" sz="2400" smtClean="0"/>
              <a:t> s</a:t>
            </a:r>
            <a:r>
              <a:rPr lang="en-US" altLang="vi-VN" sz="2400" smtClean="0"/>
              <a:t>ố</a:t>
            </a:r>
            <a:r>
              <a:rPr lang="vi-VN" altLang="vi-VN" sz="2400" smtClean="0"/>
              <a:t> t</a:t>
            </a:r>
            <a:r>
              <a:rPr lang="en-US" altLang="vi-VN" sz="2400" smtClean="0"/>
              <a:t>ính</a:t>
            </a:r>
            <a:r>
              <a:rPr lang="vi-VN" altLang="vi-VN" sz="2400" smtClean="0"/>
              <a:t> t</a:t>
            </a:r>
            <a:r>
              <a:rPr lang="en-US" altLang="vi-VN" sz="2400" smtClean="0"/>
              <a:t>ừ</a:t>
            </a:r>
            <a:r>
              <a:rPr lang="vi-VN" altLang="vi-VN" sz="2400" smtClean="0"/>
              <a:t> d</a:t>
            </a:r>
            <a:r>
              <a:rPr lang="en-US" altLang="vi-VN" sz="2400" smtClean="0"/>
              <a:t>ấu</a:t>
            </a:r>
            <a:r>
              <a:rPr lang="vi-VN" altLang="vi-VN" sz="2400" smtClean="0"/>
              <a:t> ph</a:t>
            </a:r>
            <a:r>
              <a:rPr lang="en-US" altLang="vi-VN" sz="2400" smtClean="0"/>
              <a:t>ả</a:t>
            </a:r>
            <a:r>
              <a:rPr lang="vi-VN" altLang="vi-VN" sz="2400" smtClean="0"/>
              <a:t>y. Sau </a:t>
            </a:r>
            <a:r>
              <a:rPr lang="en-US" altLang="vi-VN" sz="2400" smtClean="0"/>
              <a:t>đó</a:t>
            </a:r>
            <a:r>
              <a:rPr lang="vi-VN" altLang="vi-VN" sz="2400" smtClean="0"/>
              <a:t> thay m</a:t>
            </a:r>
            <a:r>
              <a:rPr lang="en-US" altLang="vi-VN" sz="2400" smtClean="0"/>
              <a:t>ỗi</a:t>
            </a:r>
            <a:r>
              <a:rPr lang="vi-VN" altLang="vi-VN" sz="2400" smtClean="0"/>
              <a:t> nh</a:t>
            </a:r>
            <a:r>
              <a:rPr lang="en-US" altLang="vi-VN" sz="2400" smtClean="0"/>
              <a:t>ó</a:t>
            </a:r>
            <a:r>
              <a:rPr lang="vi-VN" altLang="vi-VN" sz="2400" smtClean="0"/>
              <a:t>m n</a:t>
            </a:r>
            <a:r>
              <a:rPr lang="en-US" altLang="vi-VN" sz="2400" smtClean="0"/>
              <a:t>ày</a:t>
            </a:r>
            <a:r>
              <a:rPr lang="vi-VN" altLang="vi-VN" sz="2400" smtClean="0"/>
              <a:t> b</a:t>
            </a:r>
            <a:r>
              <a:rPr lang="en-US" altLang="vi-VN" sz="2400" smtClean="0"/>
              <a:t>ằ</a:t>
            </a:r>
            <a:r>
              <a:rPr lang="vi-VN" altLang="vi-VN" sz="2400" smtClean="0"/>
              <a:t>ng m</a:t>
            </a:r>
            <a:r>
              <a:rPr lang="en-US" altLang="vi-VN" sz="2400" smtClean="0"/>
              <a:t>ột</a:t>
            </a:r>
            <a:r>
              <a:rPr lang="vi-VN" altLang="vi-VN" sz="2400" smtClean="0"/>
              <a:t> ch</a:t>
            </a:r>
            <a:r>
              <a:rPr lang="en-US" altLang="vi-VN" sz="2400" smtClean="0"/>
              <a:t>ữ</a:t>
            </a:r>
            <a:r>
              <a:rPr lang="vi-VN" altLang="vi-VN" sz="2400" smtClean="0"/>
              <a:t> s</a:t>
            </a:r>
            <a:r>
              <a:rPr lang="en-US" altLang="vi-VN" sz="2400" smtClean="0"/>
              <a:t>ố</a:t>
            </a:r>
            <a:r>
              <a:rPr lang="vi-VN" altLang="vi-VN" sz="2400" smtClean="0"/>
              <a:t> t</a:t>
            </a:r>
            <a:r>
              <a:rPr lang="en-US" altLang="vi-VN" sz="2400" smtClean="0"/>
              <a:t>ươ</a:t>
            </a:r>
            <a:r>
              <a:rPr lang="vi-VN" altLang="vi-VN" sz="2400" smtClean="0"/>
              <a:t>ng </a:t>
            </a:r>
            <a:r>
              <a:rPr lang="en-US" altLang="vi-VN" sz="2400" smtClean="0"/>
              <a:t>ứ</a:t>
            </a:r>
            <a:r>
              <a:rPr lang="vi-VN" altLang="vi-VN" sz="2400" smtClean="0"/>
              <a:t>ng c</a:t>
            </a:r>
            <a:r>
              <a:rPr lang="en-US" altLang="vi-VN" sz="2400" smtClean="0"/>
              <a:t>ủa</a:t>
            </a:r>
            <a:r>
              <a:rPr lang="vi-VN" altLang="vi-VN" sz="2400" smtClean="0"/>
              <a:t> h</a:t>
            </a:r>
            <a:r>
              <a:rPr lang="en-US" altLang="vi-VN" sz="2400" smtClean="0"/>
              <a:t>ệ</a:t>
            </a:r>
            <a:r>
              <a:rPr lang="vi-VN" altLang="vi-VN" sz="2400" smtClean="0"/>
              <a:t> </a:t>
            </a:r>
            <a:r>
              <a:rPr lang="en-US" altLang="vi-VN" sz="2400" smtClean="0"/>
              <a:t>đế</a:t>
            </a:r>
            <a:r>
              <a:rPr lang="vi-VN" altLang="vi-VN" sz="2400" smtClean="0"/>
              <a:t>m c</a:t>
            </a:r>
            <a:r>
              <a:rPr lang="en-US" altLang="vi-VN" sz="2400" smtClean="0"/>
              <a:t>ơ</a:t>
            </a:r>
            <a:r>
              <a:rPr lang="vi-VN" altLang="vi-VN" sz="2400" smtClean="0"/>
              <a:t> s</a:t>
            </a:r>
            <a:r>
              <a:rPr lang="en-US" altLang="vi-VN" sz="2400" smtClean="0"/>
              <a:t>ố</a:t>
            </a:r>
            <a:r>
              <a:rPr lang="vi-VN" altLang="vi-VN" sz="2400" smtClean="0"/>
              <a:t> p</a:t>
            </a:r>
            <a:endParaRPr lang="en-US" altLang="vi-VN" sz="2400" smtClean="0"/>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3453730402"/>
      </p:ext>
    </p:extLst>
  </p:cSld>
  <p:clrMapOvr>
    <a:masterClrMapping/>
  </p:clrMapOvr>
  <p:transition spd="slow">
    <p:wipe di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p:cNvSpPr>
            <a:spLocks noGrp="1" noChangeArrowheads="1"/>
          </p:cNvSpPr>
          <p:nvPr>
            <p:ph type="title"/>
          </p:nvPr>
        </p:nvSpPr>
        <p:spPr/>
        <p:txBody>
          <a:bodyPr/>
          <a:lstStyle/>
          <a:p>
            <a:pPr eaLnBrk="1" hangingPunct="1"/>
            <a:r>
              <a:rPr lang="vi-VN" altLang="vi-VN" sz="2400" smtClean="0"/>
              <a:t>B</a:t>
            </a:r>
            <a:r>
              <a:rPr lang="en-US" altLang="vi-VN" sz="2400" smtClean="0"/>
              <a:t>Ả</a:t>
            </a:r>
            <a:r>
              <a:rPr lang="vi-VN" altLang="vi-VN" sz="2400" smtClean="0"/>
              <a:t>NG T</a:t>
            </a:r>
            <a:r>
              <a:rPr lang="en-US" altLang="vi-VN" sz="2400" smtClean="0"/>
              <a:t>ƯƠ</a:t>
            </a:r>
            <a:r>
              <a:rPr lang="vi-VN" altLang="vi-VN" sz="2400" smtClean="0"/>
              <a:t>NG </a:t>
            </a:r>
            <a:r>
              <a:rPr lang="en-US" altLang="vi-VN" sz="2400" smtClean="0"/>
              <a:t>Ứ</a:t>
            </a:r>
            <a:r>
              <a:rPr lang="vi-VN" altLang="vi-VN" sz="2400" smtClean="0"/>
              <a:t>NG GI</a:t>
            </a:r>
            <a:r>
              <a:rPr lang="en-US" altLang="vi-VN" sz="2400" smtClean="0"/>
              <a:t>Á</a:t>
            </a:r>
            <a:r>
              <a:rPr lang="vi-VN" altLang="vi-VN" sz="2400" smtClean="0"/>
              <a:t> TR</a:t>
            </a:r>
            <a:r>
              <a:rPr lang="en-US" altLang="vi-VN" sz="2400" smtClean="0"/>
              <a:t>Ị</a:t>
            </a:r>
            <a:r>
              <a:rPr lang="vi-VN" altLang="vi-VN" sz="2400" smtClean="0"/>
              <a:t> C</a:t>
            </a:r>
            <a:r>
              <a:rPr lang="en-US" altLang="vi-VN" sz="2400" smtClean="0"/>
              <a:t>ỦA</a:t>
            </a:r>
            <a:r>
              <a:rPr lang="vi-VN" altLang="vi-VN" sz="2400" smtClean="0"/>
              <a:t> C</a:t>
            </a:r>
            <a:r>
              <a:rPr lang="en-US" altLang="vi-VN" sz="2400" smtClean="0"/>
              <a:t>Á</a:t>
            </a:r>
            <a:r>
              <a:rPr lang="vi-VN" altLang="vi-VN" sz="2400" smtClean="0"/>
              <a:t>C CH</a:t>
            </a:r>
            <a:r>
              <a:rPr lang="en-US" altLang="vi-VN" sz="2400" smtClean="0"/>
              <a:t>Ữ</a:t>
            </a:r>
            <a:r>
              <a:rPr lang="vi-VN" altLang="vi-VN" sz="2400" smtClean="0"/>
              <a:t> S</a:t>
            </a:r>
            <a:r>
              <a:rPr lang="en-US" altLang="vi-VN" sz="2400" smtClean="0"/>
              <a:t>Ố</a:t>
            </a:r>
            <a:r>
              <a:rPr lang="vi-VN" altLang="vi-VN" sz="2400" smtClean="0"/>
              <a:t> TRONG H</a:t>
            </a:r>
            <a:r>
              <a:rPr lang="en-US" altLang="vi-VN" sz="2400" smtClean="0"/>
              <a:t>Ệ</a:t>
            </a:r>
            <a:r>
              <a:rPr lang="vi-VN" altLang="vi-VN" sz="2400" smtClean="0"/>
              <a:t> 16 TRONG H</a:t>
            </a:r>
            <a:r>
              <a:rPr lang="en-US" altLang="vi-VN" sz="2400" smtClean="0"/>
              <a:t>Ệ</a:t>
            </a:r>
            <a:r>
              <a:rPr lang="vi-VN" altLang="vi-VN" sz="2400" smtClean="0"/>
              <a:t> </a:t>
            </a:r>
            <a:r>
              <a:rPr lang="en-US" altLang="vi-VN" sz="2400" smtClean="0"/>
              <a:t>ĐẾM</a:t>
            </a:r>
            <a:r>
              <a:rPr lang="vi-VN" altLang="vi-VN" sz="2400" smtClean="0"/>
              <a:t> C</a:t>
            </a:r>
            <a:r>
              <a:rPr lang="en-US" altLang="vi-VN" sz="2400" smtClean="0"/>
              <a:t>Ơ</a:t>
            </a:r>
            <a:r>
              <a:rPr lang="vi-VN" altLang="vi-VN" sz="2400" smtClean="0"/>
              <a:t> S</a:t>
            </a:r>
            <a:r>
              <a:rPr lang="en-US" altLang="vi-VN" sz="2400" smtClean="0"/>
              <a:t>Ố</a:t>
            </a:r>
            <a:r>
              <a:rPr lang="vi-VN" altLang="vi-VN" sz="2400" smtClean="0"/>
              <a:t> 2</a:t>
            </a:r>
            <a:endParaRPr lang="en-US" altLang="vi-VN" sz="2400" smtClean="0"/>
          </a:p>
        </p:txBody>
      </p:sp>
      <p:sp>
        <p:nvSpPr>
          <p:cNvPr id="20483" name="Rectangle 3"/>
          <p:cNvSpPr>
            <a:spLocks noGrp="1" noChangeArrowheads="1"/>
          </p:cNvSpPr>
          <p:nvPr>
            <p:ph type="body" sz="half" idx="1"/>
          </p:nvPr>
        </p:nvSpPr>
        <p:spPr/>
        <p:txBody>
          <a:bodyPr/>
          <a:lstStyle/>
          <a:p>
            <a:pPr eaLnBrk="1" hangingPunct="1">
              <a:buFont typeface="Wingdings" panose="05000000000000000000" pitchFamily="2" charset="2"/>
              <a:buNone/>
            </a:pPr>
            <a:r>
              <a:rPr lang="vi-VN" altLang="vi-VN" sz="2400" smtClean="0"/>
              <a:t> </a:t>
            </a:r>
          </a:p>
          <a:p>
            <a:pPr eaLnBrk="1" hangingPunct="1">
              <a:buFont typeface="Wingdings" panose="05000000000000000000" pitchFamily="2" charset="2"/>
              <a:buNone/>
            </a:pPr>
            <a:r>
              <a:rPr lang="en-US" altLang="vi-VN" sz="2400" smtClean="0"/>
              <a:t> </a:t>
            </a:r>
            <a:r>
              <a:rPr lang="vi-VN" altLang="vi-VN" sz="2400" smtClean="0"/>
              <a:t> </a:t>
            </a:r>
            <a:endParaRPr lang="en-US" altLang="vi-VN" sz="2400" smtClean="0"/>
          </a:p>
        </p:txBody>
      </p:sp>
      <p:graphicFrame>
        <p:nvGraphicFramePr>
          <p:cNvPr id="433295" name="Group 143"/>
          <p:cNvGraphicFramePr>
            <a:graphicFrameLocks noGrp="1"/>
          </p:cNvGraphicFramePr>
          <p:nvPr>
            <p:ph sz="half" idx="2"/>
          </p:nvPr>
        </p:nvGraphicFramePr>
        <p:xfrm>
          <a:off x="914400" y="2133600"/>
          <a:ext cx="7616825" cy="4181475"/>
        </p:xfrm>
        <a:graphic>
          <a:graphicData uri="http://schemas.openxmlformats.org/drawingml/2006/table">
            <a:tbl>
              <a:tblPr/>
              <a:tblGrid>
                <a:gridCol w="1270000"/>
                <a:gridCol w="1268413"/>
                <a:gridCol w="1270000"/>
                <a:gridCol w="1270000"/>
                <a:gridCol w="1268412"/>
                <a:gridCol w="1270000"/>
              </a:tblGrid>
              <a:tr h="465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H</a:t>
                      </a:r>
                      <a:r>
                        <a:rPr kumimoji="0" lang="en-US" sz="2400" b="0" i="0" u="none" strike="noStrike" cap="none" normalizeH="0" baseline="0" smtClean="0">
                          <a:ln>
                            <a:noFill/>
                          </a:ln>
                          <a:solidFill>
                            <a:schemeClr val="tx1"/>
                          </a:solidFill>
                          <a:effectLst/>
                          <a:latin typeface="Arial" charset="0"/>
                          <a:cs typeface="Arial" charset="0"/>
                        </a:rPr>
                        <a:t>ệ</a:t>
                      </a:r>
                      <a:r>
                        <a:rPr kumimoji="0" lang="vi-VN" sz="2400" b="0" i="0" u="none" strike="noStrike" cap="none" normalizeH="0" baseline="0" smtClean="0">
                          <a:ln>
                            <a:noFill/>
                          </a:ln>
                          <a:solidFill>
                            <a:schemeClr val="tx1"/>
                          </a:solidFill>
                          <a:effectLst/>
                          <a:latin typeface="Arial" charset="0"/>
                          <a:cs typeface="Arial" charset="0"/>
                        </a:rPr>
                        <a:t> 10</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H</a:t>
                      </a:r>
                      <a:r>
                        <a:rPr kumimoji="0" lang="en-US" sz="2400" b="0" i="0" u="none" strike="noStrike" cap="none" normalizeH="0" baseline="0" smtClean="0">
                          <a:ln>
                            <a:noFill/>
                          </a:ln>
                          <a:solidFill>
                            <a:schemeClr val="tx1"/>
                          </a:solidFill>
                          <a:effectLst/>
                          <a:latin typeface="Arial" charset="0"/>
                          <a:cs typeface="Arial" charset="0"/>
                        </a:rPr>
                        <a:t>ệ</a:t>
                      </a:r>
                      <a:r>
                        <a:rPr kumimoji="0" lang="vi-VN" sz="2400" b="0" i="0" u="none" strike="noStrike" cap="none" normalizeH="0" baseline="0" smtClean="0">
                          <a:ln>
                            <a:noFill/>
                          </a:ln>
                          <a:solidFill>
                            <a:schemeClr val="tx1"/>
                          </a:solidFill>
                          <a:effectLst/>
                          <a:latin typeface="Arial" charset="0"/>
                          <a:cs typeface="Arial" charset="0"/>
                        </a:rPr>
                        <a:t> 16</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H</a:t>
                      </a:r>
                      <a:r>
                        <a:rPr kumimoji="0" lang="en-US" sz="2400" b="0" i="0" u="none" strike="noStrike" cap="none" normalizeH="0" baseline="0" smtClean="0">
                          <a:ln>
                            <a:noFill/>
                          </a:ln>
                          <a:solidFill>
                            <a:schemeClr val="tx1"/>
                          </a:solidFill>
                          <a:effectLst/>
                          <a:latin typeface="Arial" charset="0"/>
                          <a:cs typeface="Arial" charset="0"/>
                        </a:rPr>
                        <a:t>ê</a:t>
                      </a:r>
                      <a:r>
                        <a:rPr kumimoji="0" lang="vi-VN" sz="2400" b="0" i="0" u="none" strike="noStrike" cap="none" normalizeH="0" baseline="0" smtClean="0">
                          <a:ln>
                            <a:noFill/>
                          </a:ln>
                          <a:solidFill>
                            <a:schemeClr val="tx1"/>
                          </a:solidFill>
                          <a:effectLst/>
                          <a:latin typeface="Arial" charset="0"/>
                          <a:cs typeface="Arial" charset="0"/>
                        </a:rPr>
                        <a:t> 2</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H</a:t>
                      </a:r>
                      <a:r>
                        <a:rPr kumimoji="0" lang="en-US" sz="2400" b="0" i="0" u="none" strike="noStrike" cap="none" normalizeH="0" baseline="0" smtClean="0">
                          <a:ln>
                            <a:noFill/>
                          </a:ln>
                          <a:solidFill>
                            <a:schemeClr val="tx1"/>
                          </a:solidFill>
                          <a:effectLst/>
                          <a:latin typeface="Arial" charset="0"/>
                          <a:cs typeface="Arial" charset="0"/>
                        </a:rPr>
                        <a:t>ệ</a:t>
                      </a:r>
                      <a:r>
                        <a:rPr kumimoji="0" lang="vi-VN" sz="2400" b="0" i="0" u="none" strike="noStrike" cap="none" normalizeH="0" baseline="0" smtClean="0">
                          <a:ln>
                            <a:noFill/>
                          </a:ln>
                          <a:solidFill>
                            <a:schemeClr val="tx1"/>
                          </a:solidFill>
                          <a:effectLst/>
                          <a:latin typeface="Arial" charset="0"/>
                          <a:cs typeface="Arial" charset="0"/>
                        </a:rPr>
                        <a:t> 10</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H</a:t>
                      </a:r>
                      <a:r>
                        <a:rPr kumimoji="0" lang="en-US" sz="2400" b="0" i="0" u="none" strike="noStrike" cap="none" normalizeH="0" baseline="0" smtClean="0">
                          <a:ln>
                            <a:noFill/>
                          </a:ln>
                          <a:solidFill>
                            <a:schemeClr val="tx1"/>
                          </a:solidFill>
                          <a:effectLst/>
                          <a:latin typeface="Arial" charset="0"/>
                          <a:cs typeface="Arial" charset="0"/>
                        </a:rPr>
                        <a:t>ệ</a:t>
                      </a:r>
                      <a:r>
                        <a:rPr kumimoji="0" lang="vi-VN" sz="2400" b="0" i="0" u="none" strike="noStrike" cap="none" normalizeH="0" baseline="0" smtClean="0">
                          <a:ln>
                            <a:noFill/>
                          </a:ln>
                          <a:solidFill>
                            <a:schemeClr val="tx1"/>
                          </a:solidFill>
                          <a:effectLst/>
                          <a:latin typeface="Arial" charset="0"/>
                          <a:cs typeface="Arial" charset="0"/>
                        </a:rPr>
                        <a:t> 16</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H</a:t>
                      </a:r>
                      <a:r>
                        <a:rPr kumimoji="0" lang="en-US" sz="2400" b="0" i="0" u="none" strike="noStrike" cap="none" normalizeH="0" baseline="0" smtClean="0">
                          <a:ln>
                            <a:noFill/>
                          </a:ln>
                          <a:solidFill>
                            <a:schemeClr val="tx1"/>
                          </a:solidFill>
                          <a:effectLst/>
                          <a:latin typeface="Arial" charset="0"/>
                          <a:cs typeface="Arial" charset="0"/>
                        </a:rPr>
                        <a:t>ê</a:t>
                      </a:r>
                      <a:r>
                        <a:rPr kumimoji="0" lang="vi-VN" sz="2400" b="0" i="0" u="none" strike="noStrike" cap="none" normalizeH="0" baseline="0" smtClean="0">
                          <a:ln>
                            <a:noFill/>
                          </a:ln>
                          <a:solidFill>
                            <a:schemeClr val="tx1"/>
                          </a:solidFill>
                          <a:effectLst/>
                          <a:latin typeface="Arial" charset="0"/>
                          <a:cs typeface="Arial" charset="0"/>
                        </a:rPr>
                        <a:t> 2</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355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0</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0</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0000</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8</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8</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1000</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5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0001</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9</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9</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1001</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5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2</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2</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0010</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10</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A</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1010</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355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3</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3</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0011</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11</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B</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1011</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5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4</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4</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0100</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12</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C</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1100</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5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5</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5</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0101</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13</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D</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1101</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3550">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6</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6</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0110</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14</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E</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1110</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5138">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7</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7</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0111</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15</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F</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1"/>
                        </a:buClr>
                        <a:buSzPct val="75000"/>
                        <a:buFont typeface="Wingdings" pitchFamily="2" charset="2"/>
                        <a:buNone/>
                        <a:tabLst/>
                      </a:pPr>
                      <a:r>
                        <a:rPr kumimoji="0" lang="vi-VN" sz="2400" b="0" i="0" u="none" strike="noStrike" cap="none" normalizeH="0" baseline="0" smtClean="0">
                          <a:ln>
                            <a:noFill/>
                          </a:ln>
                          <a:solidFill>
                            <a:schemeClr val="tx1"/>
                          </a:solidFill>
                          <a:effectLst/>
                          <a:latin typeface="Arial" charset="0"/>
                          <a:cs typeface="Arial" charset="0"/>
                        </a:rPr>
                        <a:t>1111</a:t>
                      </a:r>
                      <a:endParaRPr kumimoji="0" lang="en-US" sz="2400" b="0" i="0" u="none" strike="noStrike" cap="none" normalizeH="0" baseline="0" smtClean="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Footer Placeholder 1"/>
          <p:cNvSpPr>
            <a:spLocks noGrp="1"/>
          </p:cNvSpPr>
          <p:nvPr>
            <p:ph type="ftr" sz="quarter" idx="11"/>
          </p:nvPr>
        </p:nvSpPr>
        <p:spPr/>
        <p:txBody>
          <a:bodyPr/>
          <a:lstStyle/>
          <a:p>
            <a:pPr>
              <a:defRPr/>
            </a:pPr>
            <a:r>
              <a:rPr lang="vi-VN" smtClean="0"/>
              <a:t>Trung tâm máy tính, Trường Đại học Công nghệ, ĐHQGHN</a:t>
            </a:r>
            <a:endParaRPr lang="en-US"/>
          </a:p>
        </p:txBody>
      </p:sp>
    </p:spTree>
    <p:extLst>
      <p:ext uri="{BB962C8B-B14F-4D97-AF65-F5344CB8AC3E}">
        <p14:creationId xmlns:p14="http://schemas.microsoft.com/office/powerpoint/2010/main" val="2254629692"/>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AutoShape 2"/>
          <p:cNvSpPr>
            <a:spLocks noGrp="1" noChangeArrowheads="1"/>
          </p:cNvSpPr>
          <p:nvPr>
            <p:ph type="title"/>
          </p:nvPr>
        </p:nvSpPr>
        <p:spPr/>
        <p:txBody>
          <a:bodyPr/>
          <a:lstStyle/>
          <a:p>
            <a:pPr eaLnBrk="1" hangingPunct="1"/>
            <a:r>
              <a:rPr lang="en-US" altLang="vi-VN" sz="2800" smtClean="0"/>
              <a:t>ĐỔ</a:t>
            </a:r>
            <a:r>
              <a:rPr lang="vi-VN" altLang="vi-VN" sz="2800" smtClean="0"/>
              <a:t>I BI</a:t>
            </a:r>
            <a:r>
              <a:rPr lang="en-US" altLang="vi-VN" sz="2800" smtClean="0"/>
              <a:t>Ể</a:t>
            </a:r>
            <a:r>
              <a:rPr lang="vi-VN" altLang="vi-VN" sz="2800" smtClean="0"/>
              <a:t>U DI</a:t>
            </a:r>
            <a:r>
              <a:rPr lang="en-US" altLang="vi-VN" sz="2800" smtClean="0"/>
              <a:t>Ễ</a:t>
            </a:r>
            <a:r>
              <a:rPr lang="vi-VN" altLang="vi-VN" sz="2800" smtClean="0"/>
              <a:t>N GI</a:t>
            </a:r>
            <a:r>
              <a:rPr lang="en-US" altLang="vi-VN" sz="2800" smtClean="0"/>
              <a:t>ỮA</a:t>
            </a:r>
            <a:r>
              <a:rPr lang="vi-VN" altLang="vi-VN" sz="2800" smtClean="0"/>
              <a:t> H</a:t>
            </a:r>
            <a:r>
              <a:rPr lang="en-US" altLang="vi-VN" sz="2800" smtClean="0"/>
              <a:t>Ệ</a:t>
            </a:r>
            <a:r>
              <a:rPr lang="vi-VN" altLang="vi-VN" sz="2800" smtClean="0"/>
              <a:t> </a:t>
            </a:r>
            <a:r>
              <a:rPr lang="en-US" altLang="vi-VN" sz="2800" smtClean="0"/>
              <a:t>ĐẾ</a:t>
            </a:r>
            <a:r>
              <a:rPr lang="vi-VN" altLang="vi-VN" sz="2800" smtClean="0"/>
              <a:t>M </a:t>
            </a:r>
            <a:br>
              <a:rPr lang="vi-VN" altLang="vi-VN" sz="2800" smtClean="0"/>
            </a:br>
            <a:r>
              <a:rPr lang="vi-VN" altLang="vi-VN" sz="2800" smtClean="0"/>
              <a:t>C</a:t>
            </a:r>
            <a:r>
              <a:rPr lang="en-US" altLang="vi-VN" sz="2800" smtClean="0"/>
              <a:t>Ơ</a:t>
            </a:r>
            <a:r>
              <a:rPr lang="vi-VN" altLang="vi-VN" sz="2800" smtClean="0"/>
              <a:t> S</a:t>
            </a:r>
            <a:r>
              <a:rPr lang="en-US" altLang="vi-VN" sz="2800" smtClean="0"/>
              <a:t>Ố</a:t>
            </a:r>
            <a:r>
              <a:rPr lang="vi-VN" altLang="vi-VN" sz="2800" smtClean="0"/>
              <a:t> 16 V</a:t>
            </a:r>
            <a:r>
              <a:rPr lang="en-US" altLang="vi-VN" sz="2800" smtClean="0"/>
              <a:t>À</a:t>
            </a:r>
            <a:r>
              <a:rPr lang="vi-VN" altLang="vi-VN" sz="2800" smtClean="0"/>
              <a:t> H</a:t>
            </a:r>
            <a:r>
              <a:rPr lang="en-US" altLang="vi-VN" sz="2800" smtClean="0"/>
              <a:t>Ệ</a:t>
            </a:r>
            <a:r>
              <a:rPr lang="vi-VN" altLang="vi-VN" sz="2800" smtClean="0"/>
              <a:t> </a:t>
            </a:r>
            <a:r>
              <a:rPr lang="en-US" altLang="vi-VN" sz="2800" smtClean="0"/>
              <a:t>ĐẾ</a:t>
            </a:r>
            <a:r>
              <a:rPr lang="vi-VN" altLang="vi-VN" sz="2800" smtClean="0"/>
              <a:t>M C</a:t>
            </a:r>
            <a:r>
              <a:rPr lang="en-US" altLang="vi-VN" sz="2800" smtClean="0"/>
              <a:t>Ơ</a:t>
            </a:r>
            <a:r>
              <a:rPr lang="vi-VN" altLang="vi-VN" sz="2800" smtClean="0"/>
              <a:t> S</a:t>
            </a:r>
            <a:r>
              <a:rPr lang="en-US" altLang="vi-VN" sz="2800" smtClean="0"/>
              <a:t>Ố</a:t>
            </a:r>
            <a:r>
              <a:rPr lang="vi-VN" altLang="vi-VN" sz="2800" smtClean="0"/>
              <a:t> 2</a:t>
            </a:r>
            <a:endParaRPr lang="en-US" altLang="vi-VN" sz="2800" smtClean="0"/>
          </a:p>
        </p:txBody>
      </p:sp>
      <p:sp>
        <p:nvSpPr>
          <p:cNvPr id="436227" name="Rectangle 3"/>
          <p:cNvSpPr>
            <a:spLocks noGrp="1" noChangeArrowheads="1"/>
          </p:cNvSpPr>
          <p:nvPr>
            <p:ph type="body" idx="1"/>
          </p:nvPr>
        </p:nvSpPr>
        <p:spPr>
          <a:xfrm>
            <a:off x="609600" y="2133600"/>
            <a:ext cx="8229600" cy="4724400"/>
          </a:xfrm>
        </p:spPr>
        <p:txBody>
          <a:bodyPr/>
          <a:lstStyle/>
          <a:p>
            <a:pPr eaLnBrk="1" hangingPunct="1"/>
            <a:r>
              <a:rPr lang="en-US" altLang="vi-VN" sz="2400" smtClean="0"/>
              <a:t>Ví dụ ta cần đổi số </a:t>
            </a:r>
            <a:r>
              <a:rPr lang="vi-VN" altLang="vi-VN" sz="2400" smtClean="0"/>
              <a:t>1001101,010011</a:t>
            </a:r>
            <a:r>
              <a:rPr lang="en-US" altLang="vi-VN" sz="2400" smtClean="0"/>
              <a:t> ra hệ đếm cơ số 16</a:t>
            </a:r>
          </a:p>
          <a:p>
            <a:pPr eaLnBrk="1" hangingPunct="1"/>
            <a:r>
              <a:rPr lang="en-US" altLang="vi-VN" sz="2400" smtClean="0"/>
              <a:t>Ta c</a:t>
            </a:r>
            <a:r>
              <a:rPr lang="vi-VN" altLang="vi-VN" sz="2400" smtClean="0"/>
              <a:t>ó</a:t>
            </a:r>
            <a:r>
              <a:rPr lang="en-US" altLang="vi-VN" smtClean="0"/>
              <a:t> </a:t>
            </a:r>
            <a:r>
              <a:rPr lang="vi-VN" altLang="vi-VN" sz="2400" smtClean="0"/>
              <a:t>16 = 2</a:t>
            </a:r>
            <a:r>
              <a:rPr lang="vi-VN" altLang="vi-VN" sz="2400" baseline="30000" smtClean="0"/>
              <a:t>4</a:t>
            </a:r>
            <a:r>
              <a:rPr lang="vi-VN" altLang="vi-VN" sz="2400" smtClean="0"/>
              <a:t>. </a:t>
            </a:r>
            <a:r>
              <a:rPr lang="en-US" altLang="vi-VN" sz="2400" smtClean="0"/>
              <a:t>Để</a:t>
            </a:r>
            <a:r>
              <a:rPr lang="vi-VN" altLang="vi-VN" sz="2400" smtClean="0"/>
              <a:t> </a:t>
            </a:r>
            <a:r>
              <a:rPr lang="en-US" altLang="vi-VN" sz="2400" smtClean="0"/>
              <a:t>đổ</a:t>
            </a:r>
            <a:r>
              <a:rPr lang="vi-VN" altLang="vi-VN" sz="2400" smtClean="0"/>
              <a:t>i t</a:t>
            </a:r>
            <a:r>
              <a:rPr lang="en-US" altLang="vi-VN" sz="2400" smtClean="0"/>
              <a:t>ừ</a:t>
            </a:r>
            <a:r>
              <a:rPr lang="vi-VN" altLang="vi-VN" sz="2400" smtClean="0"/>
              <a:t> h</a:t>
            </a:r>
            <a:r>
              <a:rPr lang="en-US" altLang="vi-VN" sz="2400" smtClean="0"/>
              <a:t>ệ</a:t>
            </a:r>
            <a:r>
              <a:rPr lang="vi-VN" altLang="vi-VN" sz="2400" smtClean="0"/>
              <a:t> </a:t>
            </a:r>
            <a:r>
              <a:rPr lang="en-US" altLang="vi-VN" sz="2400" smtClean="0"/>
              <a:t>đế</a:t>
            </a:r>
            <a:r>
              <a:rPr lang="vi-VN" altLang="vi-VN" sz="2400" smtClean="0"/>
              <a:t>m c</a:t>
            </a:r>
            <a:r>
              <a:rPr lang="en-US" altLang="vi-VN" sz="2400" smtClean="0"/>
              <a:t>ơ</a:t>
            </a:r>
            <a:r>
              <a:rPr lang="vi-VN" altLang="vi-VN" sz="2400" smtClean="0"/>
              <a:t> s</a:t>
            </a:r>
            <a:r>
              <a:rPr lang="en-US" altLang="vi-VN" sz="2400" smtClean="0"/>
              <a:t>ố</a:t>
            </a:r>
            <a:r>
              <a:rPr lang="vi-VN" altLang="vi-VN" sz="2400" smtClean="0"/>
              <a:t> 2 th</a:t>
            </a:r>
            <a:r>
              <a:rPr lang="en-US" altLang="vi-VN" sz="2400" smtClean="0"/>
              <a:t>à</a:t>
            </a:r>
            <a:r>
              <a:rPr lang="vi-VN" altLang="vi-VN" sz="2400" smtClean="0"/>
              <a:t>nh h</a:t>
            </a:r>
            <a:r>
              <a:rPr lang="en-US" altLang="vi-VN" sz="2400" smtClean="0"/>
              <a:t>ệ</a:t>
            </a:r>
            <a:r>
              <a:rPr lang="vi-VN" altLang="vi-VN" sz="2400" smtClean="0"/>
              <a:t> </a:t>
            </a:r>
            <a:r>
              <a:rPr lang="en-US" altLang="vi-VN" sz="2400" smtClean="0"/>
              <a:t>đế</a:t>
            </a:r>
            <a:r>
              <a:rPr lang="vi-VN" altLang="vi-VN" sz="2400" smtClean="0"/>
              <a:t>m c</a:t>
            </a:r>
            <a:r>
              <a:rPr lang="en-US" altLang="vi-VN" sz="2400" smtClean="0"/>
              <a:t>ơ</a:t>
            </a:r>
            <a:r>
              <a:rPr lang="vi-VN" altLang="vi-VN" sz="2400" smtClean="0"/>
              <a:t> s</a:t>
            </a:r>
            <a:r>
              <a:rPr lang="en-US" altLang="vi-VN" sz="2400" smtClean="0"/>
              <a:t>ố</a:t>
            </a:r>
            <a:r>
              <a:rPr lang="vi-VN" altLang="vi-VN" sz="2400" smtClean="0"/>
              <a:t> 16, nh</a:t>
            </a:r>
            <a:r>
              <a:rPr lang="en-US" altLang="vi-VN" sz="2400" smtClean="0"/>
              <a:t>ó</a:t>
            </a:r>
            <a:r>
              <a:rPr lang="vi-VN" altLang="vi-VN" sz="2400" smtClean="0"/>
              <a:t>m c</a:t>
            </a:r>
            <a:r>
              <a:rPr lang="en-US" altLang="vi-VN" sz="2400" smtClean="0"/>
              <a:t>á</a:t>
            </a:r>
            <a:r>
              <a:rPr lang="vi-VN" altLang="vi-VN" sz="2400" smtClean="0"/>
              <a:t>c ch</a:t>
            </a:r>
            <a:r>
              <a:rPr lang="en-US" altLang="vi-VN" sz="2400" smtClean="0"/>
              <a:t>ữ</a:t>
            </a:r>
            <a:r>
              <a:rPr lang="vi-VN" altLang="vi-VN" sz="2400" smtClean="0"/>
              <a:t> s</a:t>
            </a:r>
            <a:r>
              <a:rPr lang="en-US" altLang="vi-VN" sz="2400" smtClean="0"/>
              <a:t>ố</a:t>
            </a:r>
            <a:r>
              <a:rPr lang="vi-VN" altLang="vi-VN" sz="2400" smtClean="0"/>
              <a:t> th</a:t>
            </a:r>
            <a:r>
              <a:rPr lang="en-US" altLang="vi-VN" sz="2400" smtClean="0"/>
              <a:t>à</a:t>
            </a:r>
            <a:r>
              <a:rPr lang="vi-VN" altLang="vi-VN" sz="2400" smtClean="0"/>
              <a:t>nh c</a:t>
            </a:r>
            <a:r>
              <a:rPr lang="en-US" altLang="vi-VN" sz="2400" smtClean="0"/>
              <a:t>á</a:t>
            </a:r>
            <a:r>
              <a:rPr lang="vi-VN" altLang="vi-VN" sz="2400" smtClean="0"/>
              <a:t>c nh</a:t>
            </a:r>
            <a:r>
              <a:rPr lang="en-US" altLang="vi-VN" sz="2400" smtClean="0"/>
              <a:t>ó</a:t>
            </a:r>
            <a:r>
              <a:rPr lang="vi-VN" altLang="vi-VN" sz="2400" smtClean="0"/>
              <a:t>m </a:t>
            </a:r>
            <a:r>
              <a:rPr lang="en-US" altLang="vi-VN" sz="2400" smtClean="0"/>
              <a:t>đủ</a:t>
            </a:r>
            <a:r>
              <a:rPr lang="vi-VN" altLang="vi-VN" sz="2400" smtClean="0"/>
              <a:t> 4 ch</a:t>
            </a:r>
            <a:r>
              <a:rPr lang="en-US" altLang="vi-VN" sz="2400" smtClean="0"/>
              <a:t>ữ</a:t>
            </a:r>
            <a:r>
              <a:rPr lang="vi-VN" altLang="vi-VN" sz="2400" smtClean="0"/>
              <a:t> s</a:t>
            </a:r>
            <a:r>
              <a:rPr lang="en-US" altLang="vi-VN" sz="2400" smtClean="0"/>
              <a:t>ố</a:t>
            </a:r>
            <a:r>
              <a:rPr lang="vi-VN" altLang="vi-VN" sz="2400" smtClean="0"/>
              <a:t>, sau </a:t>
            </a:r>
            <a:r>
              <a:rPr lang="en-US" altLang="vi-VN" sz="2400" smtClean="0"/>
              <a:t>đó</a:t>
            </a:r>
            <a:r>
              <a:rPr lang="vi-VN" altLang="vi-VN" sz="2400" smtClean="0"/>
              <a:t> thay m</a:t>
            </a:r>
            <a:r>
              <a:rPr lang="en-US" altLang="vi-VN" sz="2400" smtClean="0"/>
              <a:t>ỗi</a:t>
            </a:r>
            <a:r>
              <a:rPr lang="vi-VN" altLang="vi-VN" sz="2400" smtClean="0"/>
              <a:t> nh</a:t>
            </a:r>
            <a:r>
              <a:rPr lang="en-US" altLang="vi-VN" sz="2400" smtClean="0"/>
              <a:t>ó</a:t>
            </a:r>
            <a:r>
              <a:rPr lang="vi-VN" altLang="vi-VN" sz="2400" smtClean="0"/>
              <a:t>m </a:t>
            </a:r>
            <a:r>
              <a:rPr lang="en-US" altLang="vi-VN" sz="2400" smtClean="0"/>
              <a:t>đó</a:t>
            </a:r>
            <a:r>
              <a:rPr lang="vi-VN" altLang="vi-VN" sz="2400" smtClean="0"/>
              <a:t> b</a:t>
            </a:r>
            <a:r>
              <a:rPr lang="en-US" altLang="vi-VN" sz="2400" smtClean="0"/>
              <a:t>ằ</a:t>
            </a:r>
            <a:r>
              <a:rPr lang="vi-VN" altLang="vi-VN" sz="2400" smtClean="0"/>
              <a:t>ng m</a:t>
            </a:r>
            <a:r>
              <a:rPr lang="en-US" altLang="vi-VN" sz="2400" smtClean="0"/>
              <a:t>ột</a:t>
            </a:r>
            <a:r>
              <a:rPr lang="vi-VN" altLang="vi-VN" sz="2400" smtClean="0"/>
              <a:t> ch</a:t>
            </a:r>
            <a:r>
              <a:rPr lang="en-US" altLang="vi-VN" sz="2400" smtClean="0"/>
              <a:t>ữ</a:t>
            </a:r>
            <a:r>
              <a:rPr lang="vi-VN" altLang="vi-VN" sz="2400" smtClean="0"/>
              <a:t> s</a:t>
            </a:r>
            <a:r>
              <a:rPr lang="en-US" altLang="vi-VN" sz="2400" smtClean="0"/>
              <a:t>ố</a:t>
            </a:r>
            <a:r>
              <a:rPr lang="vi-VN" altLang="vi-VN" sz="2400" smtClean="0"/>
              <a:t> t</a:t>
            </a:r>
            <a:r>
              <a:rPr lang="en-US" altLang="vi-VN" sz="2400" smtClean="0"/>
              <a:t>ươ</a:t>
            </a:r>
            <a:r>
              <a:rPr lang="vi-VN" altLang="vi-VN" sz="2400" smtClean="0"/>
              <a:t>ng </a:t>
            </a:r>
            <a:r>
              <a:rPr lang="en-US" altLang="vi-VN" sz="2400" smtClean="0"/>
              <a:t>ứ</a:t>
            </a:r>
            <a:r>
              <a:rPr lang="vi-VN" altLang="vi-VN" sz="2400" smtClean="0"/>
              <a:t>ng</a:t>
            </a:r>
          </a:p>
          <a:p>
            <a:pPr algn="ctr" eaLnBrk="1" hangingPunct="1">
              <a:buFont typeface="Wingdings" panose="05000000000000000000" pitchFamily="2" charset="2"/>
              <a:buNone/>
            </a:pPr>
            <a:r>
              <a:rPr lang="vi-VN" altLang="vi-VN" sz="2400" smtClean="0"/>
              <a:t>1001101,0100110 </a:t>
            </a:r>
            <a:r>
              <a:rPr lang="en-US" altLang="vi-VN" sz="2400" smtClean="0"/>
              <a:t>→ </a:t>
            </a:r>
            <a:r>
              <a:rPr lang="vi-VN" altLang="vi-VN" sz="2400" smtClean="0">
                <a:solidFill>
                  <a:srgbClr val="CC3300"/>
                </a:solidFill>
              </a:rPr>
              <a:t>0</a:t>
            </a:r>
            <a:r>
              <a:rPr lang="vi-VN" altLang="vi-VN" sz="2400" smtClean="0"/>
              <a:t>1001101,0101110</a:t>
            </a:r>
            <a:r>
              <a:rPr lang="vi-VN" altLang="vi-VN" sz="2400" smtClean="0">
                <a:solidFill>
                  <a:srgbClr val="CC3300"/>
                </a:solidFill>
              </a:rPr>
              <a:t>0</a:t>
            </a:r>
          </a:p>
          <a:p>
            <a:pPr eaLnBrk="1" hangingPunct="1">
              <a:buFont typeface="Wingdings" panose="05000000000000000000" pitchFamily="2" charset="2"/>
              <a:buNone/>
            </a:pPr>
            <a:r>
              <a:rPr lang="vi-VN" altLang="vi-VN" sz="2400" smtClean="0"/>
              <a:t>                                         </a:t>
            </a:r>
            <a:r>
              <a:rPr lang="en-US" altLang="vi-VN" sz="2400" smtClean="0"/>
              <a:t>   →</a:t>
            </a:r>
            <a:r>
              <a:rPr lang="vi-VN" altLang="vi-VN" sz="2400" smtClean="0"/>
              <a:t>     </a:t>
            </a:r>
            <a:endParaRPr lang="en-US" altLang="vi-VN" sz="2400" smtClean="0"/>
          </a:p>
          <a:p>
            <a:pPr eaLnBrk="1" hangingPunct="1"/>
            <a:r>
              <a:rPr lang="vi-VN" altLang="vi-VN" sz="2000" smtClean="0"/>
              <a:t>Ng</a:t>
            </a:r>
            <a:r>
              <a:rPr lang="en-US" altLang="vi-VN" sz="2400" smtClean="0"/>
              <a:t>ượ</a:t>
            </a:r>
            <a:r>
              <a:rPr lang="vi-VN" altLang="vi-VN" sz="2400" smtClean="0"/>
              <a:t>c l</a:t>
            </a:r>
            <a:r>
              <a:rPr lang="en-US" altLang="vi-VN" sz="2400" smtClean="0"/>
              <a:t>ại</a:t>
            </a:r>
            <a:r>
              <a:rPr lang="vi-VN" altLang="vi-VN" sz="2400" smtClean="0"/>
              <a:t> </a:t>
            </a:r>
            <a:r>
              <a:rPr lang="en-US" altLang="vi-VN" sz="2400" smtClean="0"/>
              <a:t>để</a:t>
            </a:r>
            <a:r>
              <a:rPr lang="vi-VN" altLang="vi-VN" sz="2400" smtClean="0"/>
              <a:t> </a:t>
            </a:r>
            <a:r>
              <a:rPr lang="en-US" altLang="vi-VN" sz="2400" smtClean="0"/>
              <a:t>đổ</a:t>
            </a:r>
            <a:r>
              <a:rPr lang="vi-VN" altLang="vi-VN" sz="2400" smtClean="0"/>
              <a:t>i m</a:t>
            </a:r>
            <a:r>
              <a:rPr lang="en-US" altLang="vi-VN" sz="2400" smtClean="0"/>
              <a:t>ộ</a:t>
            </a:r>
            <a:r>
              <a:rPr lang="vi-VN" altLang="vi-VN" sz="2400" smtClean="0"/>
              <a:t>t s</a:t>
            </a:r>
            <a:r>
              <a:rPr lang="en-US" altLang="vi-VN" sz="2400" smtClean="0"/>
              <a:t>ố</a:t>
            </a:r>
            <a:r>
              <a:rPr lang="vi-VN" altLang="vi-VN" sz="2400" smtClean="0"/>
              <a:t> t</a:t>
            </a:r>
            <a:r>
              <a:rPr lang="en-US" altLang="vi-VN" sz="2400" smtClean="0"/>
              <a:t>ừ</a:t>
            </a:r>
            <a:r>
              <a:rPr lang="vi-VN" altLang="vi-VN" sz="2400" smtClean="0"/>
              <a:t> h</a:t>
            </a:r>
            <a:r>
              <a:rPr lang="en-US" altLang="vi-VN" sz="2400" smtClean="0"/>
              <a:t>ệ</a:t>
            </a:r>
            <a:r>
              <a:rPr lang="vi-VN" altLang="vi-VN" sz="2400" smtClean="0"/>
              <a:t> 16 sang h</a:t>
            </a:r>
            <a:r>
              <a:rPr lang="en-US" altLang="vi-VN" sz="2400" smtClean="0"/>
              <a:t>ệ</a:t>
            </a:r>
            <a:r>
              <a:rPr lang="vi-VN" altLang="vi-VN" sz="2400" smtClean="0"/>
              <a:t> 2 ch</a:t>
            </a:r>
            <a:r>
              <a:rPr lang="en-US" altLang="vi-VN" sz="2400" smtClean="0"/>
              <a:t>ỉ</a:t>
            </a:r>
            <a:r>
              <a:rPr lang="vi-VN" altLang="vi-VN" sz="2400" smtClean="0"/>
              <a:t> c</a:t>
            </a:r>
            <a:r>
              <a:rPr lang="en-US" altLang="vi-VN" sz="2400" smtClean="0"/>
              <a:t>ầ</a:t>
            </a:r>
            <a:r>
              <a:rPr lang="vi-VN" altLang="vi-VN" sz="2400" smtClean="0"/>
              <a:t>n thay m</a:t>
            </a:r>
            <a:r>
              <a:rPr lang="en-US" altLang="vi-VN" sz="2400" smtClean="0"/>
              <a:t>ỗi</a:t>
            </a:r>
            <a:r>
              <a:rPr lang="vi-VN" altLang="vi-VN" sz="2400" smtClean="0"/>
              <a:t> ch</a:t>
            </a:r>
            <a:r>
              <a:rPr lang="en-US" altLang="vi-VN" sz="2400" smtClean="0"/>
              <a:t>ữ</a:t>
            </a:r>
            <a:r>
              <a:rPr lang="vi-VN" altLang="vi-VN" sz="2400" smtClean="0"/>
              <a:t> s</a:t>
            </a:r>
            <a:r>
              <a:rPr lang="en-US" altLang="vi-VN" sz="2400" smtClean="0"/>
              <a:t>ố</a:t>
            </a:r>
            <a:r>
              <a:rPr lang="vi-VN" altLang="vi-VN" sz="2400" smtClean="0"/>
              <a:t> b</a:t>
            </a:r>
            <a:r>
              <a:rPr lang="en-US" altLang="vi-VN" sz="2400" smtClean="0"/>
              <a:t>ằ</a:t>
            </a:r>
            <a:r>
              <a:rPr lang="vi-VN" altLang="vi-VN" sz="2400" smtClean="0"/>
              <a:t>ng một nh</a:t>
            </a:r>
            <a:r>
              <a:rPr lang="en-US" altLang="vi-VN" sz="2400" smtClean="0"/>
              <a:t>ó</a:t>
            </a:r>
            <a:r>
              <a:rPr lang="vi-VN" altLang="vi-VN" sz="2400" smtClean="0"/>
              <a:t>m 4 </a:t>
            </a:r>
            <a:r>
              <a:rPr lang="en-US" altLang="vi-VN" sz="2400" smtClean="0"/>
              <a:t>đủ</a:t>
            </a:r>
            <a:r>
              <a:rPr lang="vi-VN" altLang="vi-VN" sz="2400" smtClean="0"/>
              <a:t> ch</a:t>
            </a:r>
            <a:r>
              <a:rPr lang="en-US" altLang="vi-VN" sz="2400" smtClean="0"/>
              <a:t>ữ</a:t>
            </a:r>
            <a:r>
              <a:rPr lang="vi-VN" altLang="vi-VN" sz="2400" smtClean="0"/>
              <a:t> s</a:t>
            </a:r>
            <a:r>
              <a:rPr lang="en-US" altLang="vi-VN" sz="2400" smtClean="0"/>
              <a:t>ố</a:t>
            </a:r>
            <a:r>
              <a:rPr lang="vi-VN" altLang="vi-VN" sz="2400" smtClean="0"/>
              <a:t> t</a:t>
            </a:r>
            <a:r>
              <a:rPr lang="en-US" altLang="vi-VN" sz="2400" smtClean="0"/>
              <a:t>ươ</a:t>
            </a:r>
            <a:r>
              <a:rPr lang="vi-VN" altLang="vi-VN" sz="2400" smtClean="0"/>
              <a:t>ng </a:t>
            </a:r>
            <a:r>
              <a:rPr lang="en-US" altLang="vi-VN" sz="2400" smtClean="0"/>
              <a:t>ứ</a:t>
            </a:r>
            <a:r>
              <a:rPr lang="vi-VN" altLang="vi-VN" sz="2400" smtClean="0"/>
              <a:t>ng</a:t>
            </a:r>
          </a:p>
          <a:p>
            <a:pPr eaLnBrk="1" hangingPunct="1">
              <a:buFont typeface="Wingdings" panose="05000000000000000000" pitchFamily="2" charset="2"/>
              <a:buNone/>
            </a:pPr>
            <a:r>
              <a:rPr lang="vi-VN" altLang="vi-VN" sz="2400" smtClean="0"/>
              <a:t>14F,8D  </a:t>
            </a:r>
            <a:r>
              <a:rPr lang="en-US" altLang="vi-VN" sz="2400" smtClean="0"/>
              <a:t>→</a:t>
            </a:r>
            <a:r>
              <a:rPr lang="vi-VN" altLang="vi-VN" sz="2400" smtClean="0"/>
              <a:t>  0001  0100  1111, 0111 </a:t>
            </a:r>
            <a:r>
              <a:rPr lang="en-US" altLang="vi-VN" sz="2400" smtClean="0"/>
              <a:t>→</a:t>
            </a:r>
            <a:r>
              <a:rPr lang="vi-VN" altLang="vi-VN" sz="2400" smtClean="0"/>
              <a:t> 101001111,0111 </a:t>
            </a:r>
            <a:endParaRPr lang="en-US" altLang="vi-VN" sz="2400" smtClean="0"/>
          </a:p>
        </p:txBody>
      </p:sp>
      <p:sp>
        <p:nvSpPr>
          <p:cNvPr id="436228" name="Line 4"/>
          <p:cNvSpPr>
            <a:spLocks noChangeShapeType="1"/>
          </p:cNvSpPr>
          <p:nvPr/>
        </p:nvSpPr>
        <p:spPr bwMode="auto">
          <a:xfrm>
            <a:off x="5505450" y="4129088"/>
            <a:ext cx="0" cy="5334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436229" name="Line 5"/>
          <p:cNvSpPr>
            <a:spLocks noChangeShapeType="1"/>
          </p:cNvSpPr>
          <p:nvPr/>
        </p:nvSpPr>
        <p:spPr bwMode="auto">
          <a:xfrm>
            <a:off x="6191250" y="4119563"/>
            <a:ext cx="0" cy="5334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436230" name="Line 6"/>
          <p:cNvSpPr>
            <a:spLocks noChangeShapeType="1"/>
          </p:cNvSpPr>
          <p:nvPr/>
        </p:nvSpPr>
        <p:spPr bwMode="auto">
          <a:xfrm>
            <a:off x="7639050" y="4119563"/>
            <a:ext cx="0" cy="5334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436231" name="Line 7"/>
          <p:cNvSpPr>
            <a:spLocks noChangeShapeType="1"/>
          </p:cNvSpPr>
          <p:nvPr/>
        </p:nvSpPr>
        <p:spPr bwMode="auto">
          <a:xfrm>
            <a:off x="6881813" y="4119563"/>
            <a:ext cx="0" cy="609600"/>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436233" name="Rectangle 9"/>
          <p:cNvSpPr>
            <a:spLocks noChangeArrowheads="1"/>
          </p:cNvSpPr>
          <p:nvPr/>
        </p:nvSpPr>
        <p:spPr bwMode="auto">
          <a:xfrm>
            <a:off x="5105400" y="4572000"/>
            <a:ext cx="382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vi-VN" altLang="vi-VN" sz="2800"/>
              <a:t>4</a:t>
            </a:r>
          </a:p>
        </p:txBody>
      </p:sp>
      <p:sp>
        <p:nvSpPr>
          <p:cNvPr id="436234" name="Rectangle 10"/>
          <p:cNvSpPr>
            <a:spLocks noChangeArrowheads="1"/>
          </p:cNvSpPr>
          <p:nvPr/>
        </p:nvSpPr>
        <p:spPr bwMode="auto">
          <a:xfrm>
            <a:off x="5638800" y="4572000"/>
            <a:ext cx="45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vi-VN" altLang="vi-VN" sz="2800"/>
              <a:t>D</a:t>
            </a:r>
            <a:endParaRPr lang="en-US" altLang="vi-VN" sz="2800"/>
          </a:p>
        </p:txBody>
      </p:sp>
      <p:sp>
        <p:nvSpPr>
          <p:cNvPr id="436235" name="Rectangle 11"/>
          <p:cNvSpPr>
            <a:spLocks noChangeArrowheads="1"/>
          </p:cNvSpPr>
          <p:nvPr/>
        </p:nvSpPr>
        <p:spPr bwMode="auto">
          <a:xfrm>
            <a:off x="6400800" y="4572000"/>
            <a:ext cx="382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vi-VN" altLang="vi-VN" sz="2800"/>
              <a:t>5</a:t>
            </a:r>
            <a:endParaRPr lang="en-US" altLang="vi-VN" sz="2800"/>
          </a:p>
        </p:txBody>
      </p:sp>
      <p:sp>
        <p:nvSpPr>
          <p:cNvPr id="436236" name="Rectangle 12"/>
          <p:cNvSpPr>
            <a:spLocks noChangeArrowheads="1"/>
          </p:cNvSpPr>
          <p:nvPr/>
        </p:nvSpPr>
        <p:spPr bwMode="auto">
          <a:xfrm>
            <a:off x="7010400" y="4572000"/>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eaLnBrk="0" hangingPunct="0">
              <a:defRPr sz="3600">
                <a:solidFill>
                  <a:schemeClr val="tx1"/>
                </a:solidFill>
                <a:latin typeface="Arial" panose="020B0604020202020204" pitchFamily="34" charset="0"/>
                <a:cs typeface="Arial" panose="020B0604020202020204" pitchFamily="34" charset="0"/>
              </a:defRPr>
            </a:lvl1pPr>
            <a:lvl2pPr marL="742950" indent="-285750" eaLnBrk="0" hangingPunct="0">
              <a:defRPr sz="3600">
                <a:solidFill>
                  <a:schemeClr val="tx1"/>
                </a:solidFill>
                <a:latin typeface="Arial" panose="020B0604020202020204" pitchFamily="34" charset="0"/>
                <a:cs typeface="Arial" panose="020B0604020202020204" pitchFamily="34" charset="0"/>
              </a:defRPr>
            </a:lvl2pPr>
            <a:lvl3pPr marL="1143000" indent="-228600" eaLnBrk="0" hangingPunct="0">
              <a:defRPr sz="3600">
                <a:solidFill>
                  <a:schemeClr val="tx1"/>
                </a:solidFill>
                <a:latin typeface="Arial" panose="020B0604020202020204" pitchFamily="34" charset="0"/>
                <a:cs typeface="Arial" panose="020B0604020202020204" pitchFamily="34" charset="0"/>
              </a:defRPr>
            </a:lvl3pPr>
            <a:lvl4pPr marL="1600200" indent="-228600" eaLnBrk="0" hangingPunct="0">
              <a:defRPr sz="3600">
                <a:solidFill>
                  <a:schemeClr val="tx1"/>
                </a:solidFill>
                <a:latin typeface="Arial" panose="020B0604020202020204" pitchFamily="34" charset="0"/>
                <a:cs typeface="Arial" panose="020B0604020202020204" pitchFamily="34" charset="0"/>
              </a:defRPr>
            </a:lvl4pPr>
            <a:lvl5pPr marL="2057400" indent="-228600" eaLnBrk="0" hangingPunct="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anose="05000000000000000000" pitchFamily="2" charset="2"/>
              <a:buChar char="l"/>
              <a:defRPr sz="3600">
                <a:solidFill>
                  <a:schemeClr val="tx1"/>
                </a:solidFill>
                <a:latin typeface="Arial" panose="020B0604020202020204" pitchFamily="34" charset="0"/>
                <a:cs typeface="Arial" panose="020B0604020202020204" pitchFamily="34" charset="0"/>
              </a:defRPr>
            </a:lvl9pPr>
          </a:lstStyle>
          <a:p>
            <a:pPr eaLnBrk="1" hangingPunct="1">
              <a:buFont typeface="Wingdings" panose="05000000000000000000" pitchFamily="2" charset="2"/>
              <a:buNone/>
            </a:pPr>
            <a:r>
              <a:rPr lang="vi-VN" altLang="vi-VN" sz="2800"/>
              <a:t> C</a:t>
            </a:r>
            <a:endParaRPr lang="en-US" altLang="vi-VN" sz="2800"/>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918490813"/>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36228"/>
                                        </p:tgtEl>
                                        <p:attrNameLst>
                                          <p:attrName>style.visibility</p:attrName>
                                        </p:attrNameLst>
                                      </p:cBhvr>
                                      <p:to>
                                        <p:strVal val="visible"/>
                                      </p:to>
                                    </p:set>
                                    <p:anim calcmode="lin" valueType="num">
                                      <p:cBhvr additive="base">
                                        <p:cTn id="7" dur="500" fill="hold"/>
                                        <p:tgtEl>
                                          <p:spTgt spid="436228"/>
                                        </p:tgtEl>
                                        <p:attrNameLst>
                                          <p:attrName>ppt_x</p:attrName>
                                        </p:attrNameLst>
                                      </p:cBhvr>
                                      <p:tavLst>
                                        <p:tav tm="0">
                                          <p:val>
                                            <p:strVal val="1+#ppt_w/2"/>
                                          </p:val>
                                        </p:tav>
                                        <p:tav tm="100000">
                                          <p:val>
                                            <p:strVal val="#ppt_x"/>
                                          </p:val>
                                        </p:tav>
                                      </p:tavLst>
                                    </p:anim>
                                    <p:anim calcmode="lin" valueType="num">
                                      <p:cBhvr additive="base">
                                        <p:cTn id="8" dur="500" fill="hold"/>
                                        <p:tgtEl>
                                          <p:spTgt spid="436228"/>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36229"/>
                                        </p:tgtEl>
                                        <p:attrNameLst>
                                          <p:attrName>style.visibility</p:attrName>
                                        </p:attrNameLst>
                                      </p:cBhvr>
                                      <p:to>
                                        <p:strVal val="visible"/>
                                      </p:to>
                                    </p:set>
                                    <p:anim calcmode="lin" valueType="num">
                                      <p:cBhvr additive="base">
                                        <p:cTn id="12" dur="500" fill="hold"/>
                                        <p:tgtEl>
                                          <p:spTgt spid="436229"/>
                                        </p:tgtEl>
                                        <p:attrNameLst>
                                          <p:attrName>ppt_x</p:attrName>
                                        </p:attrNameLst>
                                      </p:cBhvr>
                                      <p:tavLst>
                                        <p:tav tm="0">
                                          <p:val>
                                            <p:strVal val="1+#ppt_w/2"/>
                                          </p:val>
                                        </p:tav>
                                        <p:tav tm="100000">
                                          <p:val>
                                            <p:strVal val="#ppt_x"/>
                                          </p:val>
                                        </p:tav>
                                      </p:tavLst>
                                    </p:anim>
                                    <p:anim calcmode="lin" valueType="num">
                                      <p:cBhvr additive="base">
                                        <p:cTn id="13" dur="500" fill="hold"/>
                                        <p:tgtEl>
                                          <p:spTgt spid="436229"/>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436231"/>
                                        </p:tgtEl>
                                        <p:attrNameLst>
                                          <p:attrName>style.visibility</p:attrName>
                                        </p:attrNameLst>
                                      </p:cBhvr>
                                      <p:to>
                                        <p:strVal val="visible"/>
                                      </p:to>
                                    </p:set>
                                    <p:anim calcmode="lin" valueType="num">
                                      <p:cBhvr additive="base">
                                        <p:cTn id="17" dur="500" fill="hold"/>
                                        <p:tgtEl>
                                          <p:spTgt spid="436231"/>
                                        </p:tgtEl>
                                        <p:attrNameLst>
                                          <p:attrName>ppt_x</p:attrName>
                                        </p:attrNameLst>
                                      </p:cBhvr>
                                      <p:tavLst>
                                        <p:tav tm="0">
                                          <p:val>
                                            <p:strVal val="1+#ppt_w/2"/>
                                          </p:val>
                                        </p:tav>
                                        <p:tav tm="100000">
                                          <p:val>
                                            <p:strVal val="#ppt_x"/>
                                          </p:val>
                                        </p:tav>
                                      </p:tavLst>
                                    </p:anim>
                                    <p:anim calcmode="lin" valueType="num">
                                      <p:cBhvr additive="base">
                                        <p:cTn id="18" dur="500" fill="hold"/>
                                        <p:tgtEl>
                                          <p:spTgt spid="436231"/>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436230"/>
                                        </p:tgtEl>
                                        <p:attrNameLst>
                                          <p:attrName>style.visibility</p:attrName>
                                        </p:attrNameLst>
                                      </p:cBhvr>
                                      <p:to>
                                        <p:strVal val="visible"/>
                                      </p:to>
                                    </p:set>
                                    <p:anim calcmode="lin" valueType="num">
                                      <p:cBhvr additive="base">
                                        <p:cTn id="22" dur="500" fill="hold"/>
                                        <p:tgtEl>
                                          <p:spTgt spid="436230"/>
                                        </p:tgtEl>
                                        <p:attrNameLst>
                                          <p:attrName>ppt_x</p:attrName>
                                        </p:attrNameLst>
                                      </p:cBhvr>
                                      <p:tavLst>
                                        <p:tav tm="0">
                                          <p:val>
                                            <p:strVal val="1+#ppt_w/2"/>
                                          </p:val>
                                        </p:tav>
                                        <p:tav tm="100000">
                                          <p:val>
                                            <p:strVal val="#ppt_x"/>
                                          </p:val>
                                        </p:tav>
                                      </p:tavLst>
                                    </p:anim>
                                    <p:anim calcmode="lin" valueType="num">
                                      <p:cBhvr additive="base">
                                        <p:cTn id="23" dur="500" fill="hold"/>
                                        <p:tgtEl>
                                          <p:spTgt spid="436230"/>
                                        </p:tgtEl>
                                        <p:attrNameLst>
                                          <p:attrName>ppt_y</p:attrName>
                                        </p:attrNameLst>
                                      </p:cBhvr>
                                      <p:tavLst>
                                        <p:tav tm="0">
                                          <p:val>
                                            <p:strVal val="#ppt_y"/>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436233"/>
                                        </p:tgtEl>
                                        <p:attrNameLst>
                                          <p:attrName>style.visibility</p:attrName>
                                        </p:attrNameLst>
                                      </p:cBhvr>
                                      <p:to>
                                        <p:strVal val="visible"/>
                                      </p:to>
                                    </p:set>
                                    <p:animEffect transition="in" filter="slide(fromBottom)">
                                      <p:cBhvr>
                                        <p:cTn id="28" dur="500"/>
                                        <p:tgtEl>
                                          <p:spTgt spid="436233"/>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436234"/>
                                        </p:tgtEl>
                                        <p:attrNameLst>
                                          <p:attrName>style.visibility</p:attrName>
                                        </p:attrNameLst>
                                      </p:cBhvr>
                                      <p:to>
                                        <p:strVal val="visible"/>
                                      </p:to>
                                    </p:set>
                                    <p:animEffect transition="in" filter="slide(fromBottom)">
                                      <p:cBhvr>
                                        <p:cTn id="31" dur="500"/>
                                        <p:tgtEl>
                                          <p:spTgt spid="436234"/>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436235"/>
                                        </p:tgtEl>
                                        <p:attrNameLst>
                                          <p:attrName>style.visibility</p:attrName>
                                        </p:attrNameLst>
                                      </p:cBhvr>
                                      <p:to>
                                        <p:strVal val="visible"/>
                                      </p:to>
                                    </p:set>
                                    <p:animEffect transition="in" filter="slide(fromBottom)">
                                      <p:cBhvr>
                                        <p:cTn id="34" dur="500"/>
                                        <p:tgtEl>
                                          <p:spTgt spid="436235"/>
                                        </p:tgtEl>
                                      </p:cBhvr>
                                    </p:animEffect>
                                  </p:childTnLst>
                                </p:cTn>
                              </p:par>
                              <p:par>
                                <p:cTn id="35" presetID="12" presetClass="entr" presetSubtype="4" fill="hold" grpId="0" nodeType="withEffect">
                                  <p:stCondLst>
                                    <p:cond delay="0"/>
                                  </p:stCondLst>
                                  <p:childTnLst>
                                    <p:set>
                                      <p:cBhvr>
                                        <p:cTn id="36" dur="1" fill="hold">
                                          <p:stCondLst>
                                            <p:cond delay="0"/>
                                          </p:stCondLst>
                                        </p:cTn>
                                        <p:tgtEl>
                                          <p:spTgt spid="436236"/>
                                        </p:tgtEl>
                                        <p:attrNameLst>
                                          <p:attrName>style.visibility</p:attrName>
                                        </p:attrNameLst>
                                      </p:cBhvr>
                                      <p:to>
                                        <p:strVal val="visible"/>
                                      </p:to>
                                    </p:set>
                                    <p:animEffect transition="in" filter="slide(fromBottom)">
                                      <p:cBhvr>
                                        <p:cTn id="37" dur="500"/>
                                        <p:tgtEl>
                                          <p:spTgt spid="43623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nodeType="clickEffect">
                                  <p:stCondLst>
                                    <p:cond delay="0"/>
                                  </p:stCondLst>
                                  <p:childTnLst>
                                    <p:set>
                                      <p:cBhvr>
                                        <p:cTn id="41" dur="1" fill="hold">
                                          <p:stCondLst>
                                            <p:cond delay="0"/>
                                          </p:stCondLst>
                                        </p:cTn>
                                        <p:tgtEl>
                                          <p:spTgt spid="436227">
                                            <p:txEl>
                                              <p:pRg st="4" end="4"/>
                                            </p:txEl>
                                          </p:spTgt>
                                        </p:tgtEl>
                                        <p:attrNameLst>
                                          <p:attrName>style.visibility</p:attrName>
                                        </p:attrNameLst>
                                      </p:cBhvr>
                                      <p:to>
                                        <p:strVal val="visible"/>
                                      </p:to>
                                    </p:set>
                                    <p:anim calcmode="lin" valueType="num">
                                      <p:cBhvr additive="base">
                                        <p:cTn id="42" dur="500" fill="hold"/>
                                        <p:tgtEl>
                                          <p:spTgt spid="436227">
                                            <p:txEl>
                                              <p:pRg st="4" end="4"/>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4362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nodeType="clickEffect">
                                  <p:stCondLst>
                                    <p:cond delay="0"/>
                                  </p:stCondLst>
                                  <p:childTnLst>
                                    <p:set>
                                      <p:cBhvr>
                                        <p:cTn id="47" dur="1" fill="hold">
                                          <p:stCondLst>
                                            <p:cond delay="0"/>
                                          </p:stCondLst>
                                        </p:cTn>
                                        <p:tgtEl>
                                          <p:spTgt spid="436227">
                                            <p:txEl>
                                              <p:pRg st="5" end="5"/>
                                            </p:txEl>
                                          </p:spTgt>
                                        </p:tgtEl>
                                        <p:attrNameLst>
                                          <p:attrName>style.visibility</p:attrName>
                                        </p:attrNameLst>
                                      </p:cBhvr>
                                      <p:to>
                                        <p:strVal val="visible"/>
                                      </p:to>
                                    </p:set>
                                    <p:anim calcmode="lin" valueType="num">
                                      <p:cBhvr additive="base">
                                        <p:cTn id="48" dur="500" fill="hold"/>
                                        <p:tgtEl>
                                          <p:spTgt spid="436227">
                                            <p:txEl>
                                              <p:pRg st="5" end="5"/>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43622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6228" grpId="0" animBg="1"/>
      <p:bldP spid="436229" grpId="0" animBg="1"/>
      <p:bldP spid="436230" grpId="0" animBg="1"/>
      <p:bldP spid="436231" grpId="0" animBg="1"/>
      <p:bldP spid="436233" grpId="0"/>
      <p:bldP spid="436234" grpId="0"/>
      <p:bldP spid="436235" grpId="0"/>
      <p:bldP spid="43623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AutoShape 2"/>
          <p:cNvSpPr>
            <a:spLocks noGrp="1" noChangeArrowheads="1"/>
          </p:cNvSpPr>
          <p:nvPr>
            <p:ph type="title"/>
          </p:nvPr>
        </p:nvSpPr>
        <p:spPr/>
        <p:txBody>
          <a:bodyPr/>
          <a:lstStyle/>
          <a:p>
            <a:pPr eaLnBrk="1" hangingPunct="1"/>
            <a:r>
              <a:rPr lang="en-US" altLang="vi-VN" smtClean="0"/>
              <a:t>TỔNG KẾT NỘI DUNG</a:t>
            </a:r>
          </a:p>
        </p:txBody>
      </p:sp>
      <p:sp>
        <p:nvSpPr>
          <p:cNvPr id="439299" name="Rectangle 3"/>
          <p:cNvSpPr>
            <a:spLocks noGrp="1" noChangeArrowheads="1"/>
          </p:cNvSpPr>
          <p:nvPr>
            <p:ph type="body" idx="1"/>
          </p:nvPr>
        </p:nvSpPr>
        <p:spPr/>
        <p:txBody>
          <a:bodyPr/>
          <a:lstStyle/>
          <a:p>
            <a:pPr eaLnBrk="1" hangingPunct="1">
              <a:lnSpc>
                <a:spcPct val="90000"/>
              </a:lnSpc>
            </a:pPr>
            <a:r>
              <a:rPr lang="en-US" altLang="vi-VN" sz="2000" smtClean="0"/>
              <a:t>Trong tin học, người ta thường dùng hệ đếm cơ số 2 và cơ số 16</a:t>
            </a:r>
          </a:p>
          <a:p>
            <a:pPr eaLnBrk="1" hangingPunct="1">
              <a:lnSpc>
                <a:spcPct val="90000"/>
              </a:lnSpc>
            </a:pPr>
            <a:r>
              <a:rPr lang="en-US" altLang="vi-VN" sz="2000" smtClean="0"/>
              <a:t>Việc đối số nguyên có thể thực hiện bằng cách chia liên tiếp cho cơ số mới và tách phần dư liên tiếp sau đó lấy theo chiều ngược lại các số dư</a:t>
            </a:r>
          </a:p>
          <a:p>
            <a:pPr eaLnBrk="1" hangingPunct="1">
              <a:lnSpc>
                <a:spcPct val="90000"/>
              </a:lnSpc>
            </a:pPr>
            <a:r>
              <a:rPr lang="en-US" altLang="vi-VN" sz="2000" smtClean="0"/>
              <a:t>Việc đổi phần lẻ có thể thực hiện bằng cách nhân liên tiếp và tách phần nguyên</a:t>
            </a:r>
          </a:p>
          <a:p>
            <a:pPr eaLnBrk="1" hangingPunct="1">
              <a:lnSpc>
                <a:spcPct val="90000"/>
              </a:lnSpc>
            </a:pPr>
            <a:r>
              <a:rPr lang="en-US" altLang="vi-VN" sz="2000" smtClean="0"/>
              <a:t>Để chuyển đổi từ hệ đếm cơ số 2 sang 16 chỉ cần nhóm từng cụm đủ 4 chữ số hệ 2 kể từ dấu phảy về hai phía và thay mỗi cụm này bằng một chữ số hệ 16 tương ứng</a:t>
            </a:r>
          </a:p>
          <a:p>
            <a:pPr eaLnBrk="1" hangingPunct="1">
              <a:lnSpc>
                <a:spcPct val="90000"/>
              </a:lnSpc>
            </a:pPr>
            <a:r>
              <a:rPr lang="en-US" altLang="vi-VN" sz="2000" smtClean="0"/>
              <a:t>Ngược lại để đổi một số từ hệ đếm cơ số 16 sang hệ đếm cơ số 2 chỉ cần thay mỗi chữ số của hệ đếm cơ số 16 bới một nhóm đủ 4 chữ số của hệ đếm cơ số .</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4094570650"/>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39299">
                                            <p:txEl>
                                              <p:pRg st="0" end="0"/>
                                            </p:txEl>
                                          </p:spTgt>
                                        </p:tgtEl>
                                        <p:attrNameLst>
                                          <p:attrName>style.visibility</p:attrName>
                                        </p:attrNameLst>
                                      </p:cBhvr>
                                      <p:to>
                                        <p:strVal val="visible"/>
                                      </p:to>
                                    </p:set>
                                    <p:animEffect transition="in" filter="slide(fromBottom)">
                                      <p:cBhvr>
                                        <p:cTn id="7" dur="500"/>
                                        <p:tgtEl>
                                          <p:spTgt spid="4392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39299">
                                            <p:txEl>
                                              <p:pRg st="1" end="1"/>
                                            </p:txEl>
                                          </p:spTgt>
                                        </p:tgtEl>
                                        <p:attrNameLst>
                                          <p:attrName>style.visibility</p:attrName>
                                        </p:attrNameLst>
                                      </p:cBhvr>
                                      <p:to>
                                        <p:strVal val="visible"/>
                                      </p:to>
                                    </p:set>
                                    <p:animEffect transition="in" filter="slide(fromBottom)">
                                      <p:cBhvr>
                                        <p:cTn id="12" dur="500"/>
                                        <p:tgtEl>
                                          <p:spTgt spid="4392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39299">
                                            <p:txEl>
                                              <p:pRg st="2" end="2"/>
                                            </p:txEl>
                                          </p:spTgt>
                                        </p:tgtEl>
                                        <p:attrNameLst>
                                          <p:attrName>style.visibility</p:attrName>
                                        </p:attrNameLst>
                                      </p:cBhvr>
                                      <p:to>
                                        <p:strVal val="visible"/>
                                      </p:to>
                                    </p:set>
                                    <p:animEffect transition="in" filter="slide(fromBottom)">
                                      <p:cBhvr>
                                        <p:cTn id="17" dur="500"/>
                                        <p:tgtEl>
                                          <p:spTgt spid="4392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39299">
                                            <p:txEl>
                                              <p:pRg st="3" end="3"/>
                                            </p:txEl>
                                          </p:spTgt>
                                        </p:tgtEl>
                                        <p:attrNameLst>
                                          <p:attrName>style.visibility</p:attrName>
                                        </p:attrNameLst>
                                      </p:cBhvr>
                                      <p:to>
                                        <p:strVal val="visible"/>
                                      </p:to>
                                    </p:set>
                                    <p:animEffect transition="in" filter="slide(fromBottom)">
                                      <p:cBhvr>
                                        <p:cTn id="22" dur="500"/>
                                        <p:tgtEl>
                                          <p:spTgt spid="43929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439299">
                                            <p:txEl>
                                              <p:pRg st="4" end="4"/>
                                            </p:txEl>
                                          </p:spTgt>
                                        </p:tgtEl>
                                        <p:attrNameLst>
                                          <p:attrName>style.visibility</p:attrName>
                                        </p:attrNameLst>
                                      </p:cBhvr>
                                      <p:to>
                                        <p:strVal val="visible"/>
                                      </p:to>
                                    </p:set>
                                    <p:animEffect transition="in" filter="slide(fromBottom)">
                                      <p:cBhvr>
                                        <p:cTn id="27" dur="500"/>
                                        <p:tgtEl>
                                          <p:spTgt spid="4392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929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AutoShape 2"/>
          <p:cNvSpPr>
            <a:spLocks noGrp="1" noChangeArrowheads="1"/>
          </p:cNvSpPr>
          <p:nvPr>
            <p:ph type="title"/>
          </p:nvPr>
        </p:nvSpPr>
        <p:spPr/>
        <p:txBody>
          <a:bodyPr/>
          <a:lstStyle/>
          <a:p>
            <a:pPr eaLnBrk="1" hangingPunct="1"/>
            <a:r>
              <a:rPr lang="en-US" altLang="vi-VN" smtClean="0"/>
              <a:t>CÂU HỎI VÀ BÀI TẬP</a:t>
            </a:r>
          </a:p>
        </p:txBody>
      </p:sp>
      <p:sp>
        <p:nvSpPr>
          <p:cNvPr id="23555" name="Rectangle 3"/>
          <p:cNvSpPr>
            <a:spLocks noGrp="1" noChangeArrowheads="1"/>
          </p:cNvSpPr>
          <p:nvPr>
            <p:ph type="body" idx="1"/>
          </p:nvPr>
        </p:nvSpPr>
        <p:spPr>
          <a:xfrm>
            <a:off x="838200" y="1905000"/>
            <a:ext cx="8077200" cy="4648200"/>
          </a:xfrm>
        </p:spPr>
        <p:txBody>
          <a:bodyPr/>
          <a:lstStyle/>
          <a:p>
            <a:pPr marL="381000" indent="-381000" eaLnBrk="1" hangingPunct="1">
              <a:lnSpc>
                <a:spcPct val="90000"/>
              </a:lnSpc>
              <a:buFont typeface="Wingdings" panose="05000000000000000000" pitchFamily="2" charset="2"/>
              <a:buAutoNum type="arabicPeriod"/>
            </a:pPr>
            <a:r>
              <a:rPr lang="en-US" altLang="vi-VN" sz="2000" smtClean="0"/>
              <a:t>Vì sao người ta sử dụng hệ nhị phân để biểu diễn thông tin cho MTĐT? </a:t>
            </a:r>
          </a:p>
          <a:p>
            <a:pPr marL="381000" indent="-381000" eaLnBrk="1" hangingPunct="1">
              <a:lnSpc>
                <a:spcPct val="90000"/>
              </a:lnSpc>
              <a:buFont typeface="Wingdings" panose="05000000000000000000" pitchFamily="2" charset="2"/>
              <a:buAutoNum type="arabicPeriod"/>
            </a:pPr>
            <a:r>
              <a:rPr lang="en-US" altLang="vi-VN" sz="2000" smtClean="0"/>
              <a:t>Hãy đổi các số thập phân sau đây ra hệ nhị phân (chú ý rằng trong tin học ta thường dùng cách viết số theo kiểu Anh, dấu phân cách giữa phần nguyên và phần lẻ là dấu chấm chứ không phải dấu phảy)</a:t>
            </a:r>
          </a:p>
          <a:p>
            <a:pPr marL="381000" indent="-381000" eaLnBrk="1" hangingPunct="1">
              <a:lnSpc>
                <a:spcPct val="90000"/>
              </a:lnSpc>
              <a:buFont typeface="Wingdings" panose="05000000000000000000" pitchFamily="2" charset="2"/>
              <a:buNone/>
            </a:pPr>
            <a:r>
              <a:rPr lang="en-US" altLang="vi-VN" sz="2000" smtClean="0"/>
              <a:t>		5, 9, 17, 27, 6.625</a:t>
            </a:r>
          </a:p>
          <a:p>
            <a:pPr marL="381000" indent="-381000" eaLnBrk="1" hangingPunct="1">
              <a:lnSpc>
                <a:spcPct val="90000"/>
              </a:lnSpc>
              <a:buFont typeface="Wingdings" panose="05000000000000000000" pitchFamily="2" charset="2"/>
              <a:buNone/>
            </a:pPr>
            <a:r>
              <a:rPr lang="en-US" altLang="vi-VN" sz="2000" smtClean="0"/>
              <a:t>3. Hãy đổi các số nhị phận sau đây ra hệ thập phân:</a:t>
            </a:r>
          </a:p>
          <a:p>
            <a:pPr marL="381000" indent="-381000" eaLnBrk="1" hangingPunct="1">
              <a:lnSpc>
                <a:spcPct val="90000"/>
              </a:lnSpc>
              <a:buFont typeface="Wingdings" panose="05000000000000000000" pitchFamily="2" charset="2"/>
              <a:buNone/>
            </a:pPr>
            <a:r>
              <a:rPr lang="en-US" altLang="vi-VN" sz="2000" smtClean="0"/>
              <a:t> 		11, 111, 1001, 1101, 1011.110</a:t>
            </a:r>
          </a:p>
          <a:p>
            <a:pPr marL="381000" indent="-381000" eaLnBrk="1" hangingPunct="1">
              <a:lnSpc>
                <a:spcPct val="90000"/>
              </a:lnSpc>
              <a:buFont typeface="Wingdings" panose="05000000000000000000" pitchFamily="2" charset="2"/>
              <a:buNone/>
            </a:pPr>
            <a:r>
              <a:rPr lang="en-US" altLang="vi-VN" sz="2000" smtClean="0"/>
              <a:t>4. Đổi các số nhị phân sau đây ra hệ 16</a:t>
            </a:r>
          </a:p>
          <a:p>
            <a:pPr marL="381000" indent="-381000" eaLnBrk="1" hangingPunct="1">
              <a:lnSpc>
                <a:spcPct val="90000"/>
              </a:lnSpc>
              <a:buFont typeface="Wingdings" panose="05000000000000000000" pitchFamily="2" charset="2"/>
              <a:buNone/>
            </a:pPr>
            <a:r>
              <a:rPr lang="en-US" altLang="vi-VN" sz="2000" smtClean="0"/>
              <a:t>		11001110101,  1010111000101,    1111011101.1100110</a:t>
            </a:r>
          </a:p>
          <a:p>
            <a:pPr marL="381000" indent="-381000" eaLnBrk="1" hangingPunct="1">
              <a:lnSpc>
                <a:spcPct val="90000"/>
              </a:lnSpc>
              <a:buFont typeface="Wingdings" panose="05000000000000000000" pitchFamily="2" charset="2"/>
              <a:buNone/>
            </a:pPr>
            <a:r>
              <a:rPr lang="en-US" altLang="vi-VN" sz="2000" smtClean="0"/>
              <a:t>5. Đổi các số hệ 16 ra hệ nhị phân</a:t>
            </a:r>
          </a:p>
          <a:p>
            <a:pPr marL="381000" indent="-381000" eaLnBrk="1" hangingPunct="1">
              <a:lnSpc>
                <a:spcPct val="90000"/>
              </a:lnSpc>
              <a:buFont typeface="Wingdings" panose="05000000000000000000" pitchFamily="2" charset="2"/>
              <a:buNone/>
            </a:pPr>
            <a:r>
              <a:rPr lang="en-US" altLang="vi-VN" sz="2000" smtClean="0"/>
              <a:t>		 3F8, 35AF, A45</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652314352"/>
      </p:ext>
    </p:extLst>
  </p:cSld>
  <p:clrMapOvr>
    <a:masterClrMapping/>
  </p:clrMapOvr>
  <p:transition spd="slow">
    <p:wipe di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AutoShape 2"/>
          <p:cNvSpPr>
            <a:spLocks noGrp="1" noChangeArrowheads="1"/>
          </p:cNvSpPr>
          <p:nvPr>
            <p:ph type="title"/>
          </p:nvPr>
        </p:nvSpPr>
        <p:spPr/>
        <p:txBody>
          <a:bodyPr/>
          <a:lstStyle/>
          <a:p>
            <a:pPr eaLnBrk="1" hangingPunct="1"/>
            <a:r>
              <a:rPr lang="en-US" altLang="vi-VN" smtClean="0"/>
              <a:t>HẾT BÀI 4. HỎI VÀ ĐÁP</a:t>
            </a:r>
          </a:p>
        </p:txBody>
      </p:sp>
      <p:graphicFrame>
        <p:nvGraphicFramePr>
          <p:cNvPr id="1026" name="Object 4"/>
          <p:cNvGraphicFramePr>
            <a:graphicFrameLocks noGrp="1" noChangeAspect="1"/>
          </p:cNvGraphicFramePr>
          <p:nvPr>
            <p:ph idx="1"/>
          </p:nvPr>
        </p:nvGraphicFramePr>
        <p:xfrm>
          <a:off x="2767013" y="1905000"/>
          <a:ext cx="3833812" cy="4181475"/>
        </p:xfrm>
        <a:graphic>
          <a:graphicData uri="http://schemas.openxmlformats.org/presentationml/2006/ole">
            <mc:AlternateContent xmlns:mc="http://schemas.openxmlformats.org/markup-compatibility/2006">
              <mc:Choice xmlns:v="urn:schemas-microsoft-com:vml" Requires="v">
                <p:oleObj spid="_x0000_s8197" name="Clip" r:id="rId3" imgW="5157360" imgH="5624280" progId="MS_ClipArt_Gallery.2">
                  <p:embed/>
                </p:oleObj>
              </mc:Choice>
              <mc:Fallback>
                <p:oleObj name="Clip" r:id="rId3" imgW="5157360" imgH="562428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7013" y="1905000"/>
                        <a:ext cx="3833812" cy="418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40539327"/>
      </p:ext>
    </p:extLst>
  </p:cSld>
  <p:clrMapOvr>
    <a:masterClrMapping/>
  </p:clrMapOvr>
  <p:transition spd="slow">
    <p:wipe dir="d"/>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895600"/>
            <a:ext cx="6934200" cy="762000"/>
          </a:xfrm>
        </p:spPr>
        <p:txBody>
          <a:bodyPr>
            <a:normAutofit/>
          </a:bodyPr>
          <a:lstStyle/>
          <a:p>
            <a:r>
              <a:rPr lang="en-US" dirty="0" err="1" smtClean="0"/>
              <a:t>Bài</a:t>
            </a:r>
            <a:r>
              <a:rPr lang="en-US" dirty="0" smtClean="0"/>
              <a:t> </a:t>
            </a:r>
            <a:r>
              <a:rPr lang="en-US" dirty="0" smtClean="0"/>
              <a:t>5. </a:t>
            </a:r>
            <a:r>
              <a:rPr lang="en-US" dirty="0" err="1" smtClean="0"/>
              <a:t>Biểu</a:t>
            </a:r>
            <a:r>
              <a:rPr lang="en-US" dirty="0" smtClean="0"/>
              <a:t> </a:t>
            </a:r>
            <a:r>
              <a:rPr lang="en-US" dirty="0" err="1" smtClean="0"/>
              <a:t>diễn</a:t>
            </a:r>
            <a:r>
              <a:rPr lang="en-US" dirty="0" smtClean="0"/>
              <a:t> </a:t>
            </a:r>
            <a:r>
              <a:rPr lang="en-US" dirty="0" err="1" smtClean="0"/>
              <a:t>dữ</a:t>
            </a:r>
            <a:r>
              <a:rPr lang="en-US" dirty="0" smtClean="0"/>
              <a:t> </a:t>
            </a:r>
            <a:r>
              <a:rPr lang="en-US" dirty="0" err="1" smtClean="0"/>
              <a:t>liệu</a:t>
            </a:r>
            <a:endParaRPr lang="vi-VN" dirty="0"/>
          </a:p>
        </p:txBody>
      </p:sp>
      <p:sp>
        <p:nvSpPr>
          <p:cNvPr id="4" name="Footer Placeholder 3"/>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181572476"/>
      </p:ext>
    </p:extLst>
  </p:cSld>
  <p:clrMapOvr>
    <a:masterClrMapping/>
  </p:clrMapOvr>
  <p:transition spd="slow">
    <p:wipe dir="d"/>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AutoShape 2"/>
          <p:cNvSpPr>
            <a:spLocks noGrp="1" noChangeArrowheads="1"/>
          </p:cNvSpPr>
          <p:nvPr>
            <p:ph type="title"/>
          </p:nvPr>
        </p:nvSpPr>
        <p:spPr/>
        <p:txBody>
          <a:bodyPr/>
          <a:lstStyle/>
          <a:p>
            <a:r>
              <a:rPr lang="en-US" altLang="vi-VN"/>
              <a:t>NỘI DUNG</a:t>
            </a:r>
          </a:p>
        </p:txBody>
      </p:sp>
      <p:sp>
        <p:nvSpPr>
          <p:cNvPr id="474115" name="Rectangle 3"/>
          <p:cNvSpPr>
            <a:spLocks noGrp="1" noChangeArrowheads="1"/>
          </p:cNvSpPr>
          <p:nvPr>
            <p:ph type="body" idx="1"/>
          </p:nvPr>
        </p:nvSpPr>
        <p:spPr/>
        <p:txBody>
          <a:bodyPr/>
          <a:lstStyle/>
          <a:p>
            <a:r>
              <a:rPr lang="en-US" altLang="vi-VN"/>
              <a:t>Phân loại dữ liệu</a:t>
            </a:r>
          </a:p>
          <a:p>
            <a:r>
              <a:rPr lang="en-US" altLang="vi-VN"/>
              <a:t>Biểu diễn số (dấu phảy tĩnh và dấu phảy động)</a:t>
            </a:r>
          </a:p>
          <a:p>
            <a:r>
              <a:rPr lang="en-US" altLang="vi-VN"/>
              <a:t>Biểu diễn phi số (chữ, logic, hình ảnh, âm thanh)</a:t>
            </a:r>
          </a:p>
          <a:p>
            <a:r>
              <a:rPr lang="en-US" altLang="vi-VN"/>
              <a:t>Biểu diễn tri thức (sự kiện và luật)</a:t>
            </a:r>
          </a:p>
          <a:p>
            <a:r>
              <a:rPr lang="en-US" altLang="vi-VN"/>
              <a:t>Truyền dữ liệu giữa các máy tính</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305684840"/>
      </p:ext>
    </p:extLst>
  </p:cSld>
  <p:clrMapOvr>
    <a:masterClrMapping/>
  </p:clrMapOvr>
  <p:transition spd="slow">
    <p:wipe dir="d"/>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AutoShape 2"/>
          <p:cNvSpPr>
            <a:spLocks noGrp="1" noChangeArrowheads="1"/>
          </p:cNvSpPr>
          <p:nvPr>
            <p:ph type="title"/>
          </p:nvPr>
        </p:nvSpPr>
        <p:spPr/>
        <p:txBody>
          <a:bodyPr/>
          <a:lstStyle/>
          <a:p>
            <a:r>
              <a:rPr lang="en-US" altLang="vi-VN"/>
              <a:t>PHÂN LOẠI DỮ LIỆU </a:t>
            </a:r>
          </a:p>
        </p:txBody>
      </p:sp>
      <p:sp>
        <p:nvSpPr>
          <p:cNvPr id="417796" name="Text Box 4"/>
          <p:cNvSpPr txBox="1">
            <a:spLocks noChangeArrowheads="1"/>
          </p:cNvSpPr>
          <p:nvPr/>
        </p:nvSpPr>
        <p:spPr bwMode="auto">
          <a:xfrm>
            <a:off x="6019800" y="3124200"/>
            <a:ext cx="2895600" cy="5794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vi-VN" altLang="vi-VN"/>
          </a:p>
        </p:txBody>
      </p:sp>
      <p:sp>
        <p:nvSpPr>
          <p:cNvPr id="417833" name="Text Box 41"/>
          <p:cNvSpPr txBox="1">
            <a:spLocks noChangeArrowheads="1"/>
          </p:cNvSpPr>
          <p:nvPr/>
        </p:nvSpPr>
        <p:spPr bwMode="auto">
          <a:xfrm>
            <a:off x="3810000" y="2133600"/>
            <a:ext cx="1524000" cy="466725"/>
          </a:xfrm>
          <a:prstGeom prst="rect">
            <a:avLst/>
          </a:prstGeom>
          <a:solidFill>
            <a:srgbClr val="FFFF66"/>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vi-VN" sz="2400"/>
              <a:t>Dữ liệu</a:t>
            </a:r>
          </a:p>
        </p:txBody>
      </p:sp>
      <p:grpSp>
        <p:nvGrpSpPr>
          <p:cNvPr id="417860" name="Group 68"/>
          <p:cNvGrpSpPr>
            <a:grpSpLocks/>
          </p:cNvGrpSpPr>
          <p:nvPr/>
        </p:nvGrpSpPr>
        <p:grpSpPr bwMode="auto">
          <a:xfrm>
            <a:off x="152400" y="3657600"/>
            <a:ext cx="2933700" cy="1320800"/>
            <a:chOff x="96" y="2304"/>
            <a:chExt cx="1848" cy="832"/>
          </a:xfrm>
        </p:grpSpPr>
        <p:sp>
          <p:nvSpPr>
            <p:cNvPr id="417837" name="Text Box 45"/>
            <p:cNvSpPr txBox="1">
              <a:spLocks noChangeArrowheads="1"/>
            </p:cNvSpPr>
            <p:nvPr/>
          </p:nvSpPr>
          <p:spPr bwMode="auto">
            <a:xfrm>
              <a:off x="96" y="2688"/>
              <a:ext cx="816" cy="448"/>
            </a:xfrm>
            <a:prstGeom prst="rect">
              <a:avLst/>
            </a:prstGeom>
            <a:solidFill>
              <a:srgbClr val="FFFF66"/>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vi-VN" sz="2000"/>
                <a:t>Số dấu phảy tĩnh</a:t>
              </a:r>
            </a:p>
          </p:txBody>
        </p:sp>
        <p:sp>
          <p:nvSpPr>
            <p:cNvPr id="417838" name="Text Box 46"/>
            <p:cNvSpPr txBox="1">
              <a:spLocks noChangeArrowheads="1"/>
            </p:cNvSpPr>
            <p:nvPr/>
          </p:nvSpPr>
          <p:spPr bwMode="auto">
            <a:xfrm>
              <a:off x="984" y="2688"/>
              <a:ext cx="960" cy="448"/>
            </a:xfrm>
            <a:prstGeom prst="rect">
              <a:avLst/>
            </a:prstGeom>
            <a:solidFill>
              <a:srgbClr val="FFFF66"/>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vi-VN" sz="2000"/>
                <a:t>Số dấu phảy động</a:t>
              </a:r>
            </a:p>
          </p:txBody>
        </p:sp>
        <p:sp>
          <p:nvSpPr>
            <p:cNvPr id="417847" name="Line 55"/>
            <p:cNvSpPr>
              <a:spLocks noChangeShapeType="1"/>
            </p:cNvSpPr>
            <p:nvPr/>
          </p:nvSpPr>
          <p:spPr bwMode="auto">
            <a:xfrm flipH="1">
              <a:off x="576" y="2304"/>
              <a:ext cx="432" cy="336"/>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17849" name="Line 57"/>
            <p:cNvSpPr>
              <a:spLocks noChangeShapeType="1"/>
            </p:cNvSpPr>
            <p:nvPr/>
          </p:nvSpPr>
          <p:spPr bwMode="auto">
            <a:xfrm>
              <a:off x="1344" y="2304"/>
              <a:ext cx="0" cy="336"/>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grpSp>
      <p:grpSp>
        <p:nvGrpSpPr>
          <p:cNvPr id="417858" name="Group 66"/>
          <p:cNvGrpSpPr>
            <a:grpSpLocks/>
          </p:cNvGrpSpPr>
          <p:nvPr/>
        </p:nvGrpSpPr>
        <p:grpSpPr bwMode="auto">
          <a:xfrm>
            <a:off x="1404938" y="2514600"/>
            <a:ext cx="6977062" cy="1092200"/>
            <a:chOff x="885" y="1584"/>
            <a:chExt cx="4395" cy="688"/>
          </a:xfrm>
        </p:grpSpPr>
        <p:sp>
          <p:nvSpPr>
            <p:cNvPr id="417834" name="Text Box 42"/>
            <p:cNvSpPr txBox="1">
              <a:spLocks noChangeArrowheads="1"/>
            </p:cNvSpPr>
            <p:nvPr/>
          </p:nvSpPr>
          <p:spPr bwMode="auto">
            <a:xfrm>
              <a:off x="2352" y="2016"/>
              <a:ext cx="1152" cy="256"/>
            </a:xfrm>
            <a:prstGeom prst="rect">
              <a:avLst/>
            </a:prstGeom>
            <a:solidFill>
              <a:srgbClr val="FFFF66"/>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Dữ liệu phi số</a:t>
              </a:r>
            </a:p>
          </p:txBody>
        </p:sp>
        <p:sp>
          <p:nvSpPr>
            <p:cNvPr id="417835" name="Text Box 43"/>
            <p:cNvSpPr txBox="1">
              <a:spLocks noChangeArrowheads="1"/>
            </p:cNvSpPr>
            <p:nvPr/>
          </p:nvSpPr>
          <p:spPr bwMode="auto">
            <a:xfrm>
              <a:off x="4320" y="2016"/>
              <a:ext cx="960" cy="256"/>
            </a:xfrm>
            <a:prstGeom prst="rect">
              <a:avLst/>
            </a:prstGeom>
            <a:solidFill>
              <a:srgbClr val="FFFF66"/>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Tri thức</a:t>
              </a:r>
            </a:p>
          </p:txBody>
        </p:sp>
        <p:sp>
          <p:nvSpPr>
            <p:cNvPr id="417836" name="Text Box 44"/>
            <p:cNvSpPr txBox="1">
              <a:spLocks noChangeArrowheads="1"/>
            </p:cNvSpPr>
            <p:nvPr/>
          </p:nvSpPr>
          <p:spPr bwMode="auto">
            <a:xfrm>
              <a:off x="885" y="2016"/>
              <a:ext cx="864" cy="256"/>
            </a:xfrm>
            <a:prstGeom prst="rect">
              <a:avLst/>
            </a:prstGeom>
            <a:solidFill>
              <a:srgbClr val="FFFF66"/>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Dữ liệu số</a:t>
              </a:r>
            </a:p>
          </p:txBody>
        </p:sp>
        <p:sp>
          <p:nvSpPr>
            <p:cNvPr id="417846" name="Line 54"/>
            <p:cNvSpPr>
              <a:spLocks noChangeShapeType="1"/>
            </p:cNvSpPr>
            <p:nvPr/>
          </p:nvSpPr>
          <p:spPr bwMode="auto">
            <a:xfrm>
              <a:off x="2880" y="1680"/>
              <a:ext cx="0" cy="336"/>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17850" name="Line 58"/>
            <p:cNvSpPr>
              <a:spLocks noChangeShapeType="1"/>
            </p:cNvSpPr>
            <p:nvPr/>
          </p:nvSpPr>
          <p:spPr bwMode="auto">
            <a:xfrm>
              <a:off x="3408" y="1584"/>
              <a:ext cx="1008" cy="432"/>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17851" name="Line 59"/>
            <p:cNvSpPr>
              <a:spLocks noChangeShapeType="1"/>
            </p:cNvSpPr>
            <p:nvPr/>
          </p:nvSpPr>
          <p:spPr bwMode="auto">
            <a:xfrm flipH="1">
              <a:off x="1776" y="1680"/>
              <a:ext cx="624" cy="336"/>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grpSp>
      <p:grpSp>
        <p:nvGrpSpPr>
          <p:cNvPr id="417861" name="Group 69"/>
          <p:cNvGrpSpPr>
            <a:grpSpLocks/>
          </p:cNvGrpSpPr>
          <p:nvPr/>
        </p:nvGrpSpPr>
        <p:grpSpPr bwMode="auto">
          <a:xfrm>
            <a:off x="3224213" y="3657600"/>
            <a:ext cx="4200525" cy="1320800"/>
            <a:chOff x="2031" y="2304"/>
            <a:chExt cx="2646" cy="832"/>
          </a:xfrm>
        </p:grpSpPr>
        <p:sp>
          <p:nvSpPr>
            <p:cNvPr id="417839" name="Text Box 47"/>
            <p:cNvSpPr txBox="1">
              <a:spLocks noChangeArrowheads="1"/>
            </p:cNvSpPr>
            <p:nvPr/>
          </p:nvSpPr>
          <p:spPr bwMode="auto">
            <a:xfrm>
              <a:off x="2031" y="2688"/>
              <a:ext cx="672" cy="448"/>
            </a:xfrm>
            <a:prstGeom prst="rect">
              <a:avLst/>
            </a:prstGeom>
            <a:solidFill>
              <a:srgbClr val="FFFF66"/>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vi-VN" sz="2000"/>
                <a:t>Dữ liệu logic</a:t>
              </a:r>
            </a:p>
          </p:txBody>
        </p:sp>
        <p:sp>
          <p:nvSpPr>
            <p:cNvPr id="417840" name="Text Box 48"/>
            <p:cNvSpPr txBox="1">
              <a:spLocks noChangeArrowheads="1"/>
            </p:cNvSpPr>
            <p:nvPr/>
          </p:nvSpPr>
          <p:spPr bwMode="auto">
            <a:xfrm>
              <a:off x="3957" y="2688"/>
              <a:ext cx="720" cy="448"/>
            </a:xfrm>
            <a:prstGeom prst="rect">
              <a:avLst/>
            </a:prstGeom>
            <a:solidFill>
              <a:srgbClr val="FFFF66"/>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vi-VN" sz="2000"/>
                <a:t>Dữ liệu văn bản</a:t>
              </a:r>
            </a:p>
          </p:txBody>
        </p:sp>
        <p:sp>
          <p:nvSpPr>
            <p:cNvPr id="417841" name="Text Box 49"/>
            <p:cNvSpPr txBox="1">
              <a:spLocks noChangeArrowheads="1"/>
            </p:cNvSpPr>
            <p:nvPr/>
          </p:nvSpPr>
          <p:spPr bwMode="auto">
            <a:xfrm>
              <a:off x="2781" y="2688"/>
              <a:ext cx="1104" cy="448"/>
            </a:xfrm>
            <a:prstGeom prst="rect">
              <a:avLst/>
            </a:prstGeom>
            <a:solidFill>
              <a:srgbClr val="FFFF66"/>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vi-VN" sz="2000"/>
                <a:t>Dữ liệu đa phương tiện</a:t>
              </a:r>
            </a:p>
          </p:txBody>
        </p:sp>
        <p:sp>
          <p:nvSpPr>
            <p:cNvPr id="417848" name="Line 56"/>
            <p:cNvSpPr>
              <a:spLocks noChangeShapeType="1"/>
            </p:cNvSpPr>
            <p:nvPr/>
          </p:nvSpPr>
          <p:spPr bwMode="auto">
            <a:xfrm flipH="1">
              <a:off x="2400" y="2304"/>
              <a:ext cx="288" cy="384"/>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17853" name="Line 61"/>
            <p:cNvSpPr>
              <a:spLocks noChangeShapeType="1"/>
            </p:cNvSpPr>
            <p:nvPr/>
          </p:nvSpPr>
          <p:spPr bwMode="auto">
            <a:xfrm>
              <a:off x="3552" y="2304"/>
              <a:ext cx="432" cy="288"/>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17854" name="Line 62"/>
            <p:cNvSpPr>
              <a:spLocks noChangeShapeType="1"/>
            </p:cNvSpPr>
            <p:nvPr/>
          </p:nvSpPr>
          <p:spPr bwMode="auto">
            <a:xfrm>
              <a:off x="3072" y="2304"/>
              <a:ext cx="96" cy="336"/>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grpSp>
      <p:grpSp>
        <p:nvGrpSpPr>
          <p:cNvPr id="417862" name="Group 70"/>
          <p:cNvGrpSpPr>
            <a:grpSpLocks/>
          </p:cNvGrpSpPr>
          <p:nvPr/>
        </p:nvGrpSpPr>
        <p:grpSpPr bwMode="auto">
          <a:xfrm>
            <a:off x="7539038" y="3657600"/>
            <a:ext cx="1547812" cy="1320800"/>
            <a:chOff x="4749" y="2304"/>
            <a:chExt cx="975" cy="832"/>
          </a:xfrm>
        </p:grpSpPr>
        <p:sp>
          <p:nvSpPr>
            <p:cNvPr id="417842" name="Text Box 50"/>
            <p:cNvSpPr txBox="1">
              <a:spLocks noChangeArrowheads="1"/>
            </p:cNvSpPr>
            <p:nvPr/>
          </p:nvSpPr>
          <p:spPr bwMode="auto">
            <a:xfrm>
              <a:off x="5244" y="2688"/>
              <a:ext cx="480" cy="256"/>
            </a:xfrm>
            <a:prstGeom prst="rect">
              <a:avLst/>
            </a:prstGeom>
            <a:solidFill>
              <a:srgbClr val="FFFF66"/>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Luật</a:t>
              </a:r>
            </a:p>
          </p:txBody>
        </p:sp>
        <p:sp>
          <p:nvSpPr>
            <p:cNvPr id="417843" name="Rectangle 51"/>
            <p:cNvSpPr>
              <a:spLocks noChangeArrowheads="1"/>
            </p:cNvSpPr>
            <p:nvPr/>
          </p:nvSpPr>
          <p:spPr bwMode="auto">
            <a:xfrm>
              <a:off x="4749" y="2688"/>
              <a:ext cx="432" cy="448"/>
            </a:xfrm>
            <a:prstGeom prst="rect">
              <a:avLst/>
            </a:prstGeom>
            <a:solidFill>
              <a:srgbClr val="FFFF66"/>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vi-VN" sz="2000"/>
                <a:t>Sự kiện</a:t>
              </a:r>
            </a:p>
          </p:txBody>
        </p:sp>
        <p:sp>
          <p:nvSpPr>
            <p:cNvPr id="417852" name="Line 60"/>
            <p:cNvSpPr>
              <a:spLocks noChangeShapeType="1"/>
            </p:cNvSpPr>
            <p:nvPr/>
          </p:nvSpPr>
          <p:spPr bwMode="auto">
            <a:xfrm>
              <a:off x="4800" y="2304"/>
              <a:ext cx="96" cy="336"/>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17855" name="Line 63"/>
            <p:cNvSpPr>
              <a:spLocks noChangeShapeType="1"/>
            </p:cNvSpPr>
            <p:nvPr/>
          </p:nvSpPr>
          <p:spPr bwMode="auto">
            <a:xfrm>
              <a:off x="4992" y="2304"/>
              <a:ext cx="480" cy="384"/>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grpSp>
      <p:grpSp>
        <p:nvGrpSpPr>
          <p:cNvPr id="417864" name="Group 72"/>
          <p:cNvGrpSpPr>
            <a:grpSpLocks/>
          </p:cNvGrpSpPr>
          <p:nvPr/>
        </p:nvGrpSpPr>
        <p:grpSpPr bwMode="auto">
          <a:xfrm>
            <a:off x="3810000" y="4953000"/>
            <a:ext cx="3048000" cy="1016000"/>
            <a:chOff x="2400" y="3120"/>
            <a:chExt cx="1920" cy="640"/>
          </a:xfrm>
        </p:grpSpPr>
        <p:sp>
          <p:nvSpPr>
            <p:cNvPr id="417844" name="Text Box 52"/>
            <p:cNvSpPr txBox="1">
              <a:spLocks noChangeArrowheads="1"/>
            </p:cNvSpPr>
            <p:nvPr/>
          </p:nvSpPr>
          <p:spPr bwMode="auto">
            <a:xfrm>
              <a:off x="3504" y="3504"/>
              <a:ext cx="816" cy="256"/>
            </a:xfrm>
            <a:prstGeom prst="rect">
              <a:avLst/>
            </a:prstGeom>
            <a:solidFill>
              <a:srgbClr val="FFFF66"/>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Hình ảnh</a:t>
              </a:r>
            </a:p>
          </p:txBody>
        </p:sp>
        <p:sp>
          <p:nvSpPr>
            <p:cNvPr id="417845" name="Text Box 53"/>
            <p:cNvSpPr txBox="1">
              <a:spLocks noChangeArrowheads="1"/>
            </p:cNvSpPr>
            <p:nvPr/>
          </p:nvSpPr>
          <p:spPr bwMode="auto">
            <a:xfrm>
              <a:off x="2400" y="3504"/>
              <a:ext cx="864" cy="256"/>
            </a:xfrm>
            <a:prstGeom prst="rect">
              <a:avLst/>
            </a:prstGeom>
            <a:solidFill>
              <a:srgbClr val="FFFF66"/>
            </a:solidFill>
            <a:ln w="9525" algn="ctr">
              <a:solidFill>
                <a:srgbClr val="3333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Âm thanh</a:t>
              </a:r>
            </a:p>
          </p:txBody>
        </p:sp>
        <p:sp>
          <p:nvSpPr>
            <p:cNvPr id="417856" name="Line 64"/>
            <p:cNvSpPr>
              <a:spLocks noChangeShapeType="1"/>
            </p:cNvSpPr>
            <p:nvPr/>
          </p:nvSpPr>
          <p:spPr bwMode="auto">
            <a:xfrm flipH="1">
              <a:off x="2880" y="3168"/>
              <a:ext cx="240" cy="336"/>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17857" name="Line 65"/>
            <p:cNvSpPr>
              <a:spLocks noChangeShapeType="1"/>
            </p:cNvSpPr>
            <p:nvPr/>
          </p:nvSpPr>
          <p:spPr bwMode="auto">
            <a:xfrm>
              <a:off x="3600" y="3120"/>
              <a:ext cx="288" cy="336"/>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grpSp>
      <p:sp>
        <p:nvSpPr>
          <p:cNvPr id="2" name="Footer Placeholder 1"/>
          <p:cNvSpPr>
            <a:spLocks noGrp="1"/>
          </p:cNvSpPr>
          <p:nvPr>
            <p:ph type="ftr" sz="quarter" idx="11"/>
          </p:nvPr>
        </p:nvSpPr>
        <p:spPr/>
        <p:txBody>
          <a:bodyPr/>
          <a:lstStyle/>
          <a:p>
            <a:pPr>
              <a:defRPr/>
            </a:pPr>
            <a:r>
              <a:rPr lang="vi-VN" smtClean="0"/>
              <a:t>Trung tâm máy tính, Trường Đại học Công nghệ, ĐHQGHN</a:t>
            </a:r>
            <a:endParaRPr lang="en-US"/>
          </a:p>
        </p:txBody>
      </p:sp>
    </p:spTree>
    <p:extLst>
      <p:ext uri="{BB962C8B-B14F-4D97-AF65-F5344CB8AC3E}">
        <p14:creationId xmlns:p14="http://schemas.microsoft.com/office/powerpoint/2010/main" val="20397800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17858"/>
                                        </p:tgtEl>
                                        <p:attrNameLst>
                                          <p:attrName>style.visibility</p:attrName>
                                        </p:attrNameLst>
                                      </p:cBhvr>
                                      <p:to>
                                        <p:strVal val="visible"/>
                                      </p:to>
                                    </p:set>
                                    <p:animEffect transition="in" filter="wipe(up)">
                                      <p:cBhvr>
                                        <p:cTn id="7" dur="500"/>
                                        <p:tgtEl>
                                          <p:spTgt spid="4178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17860"/>
                                        </p:tgtEl>
                                        <p:attrNameLst>
                                          <p:attrName>style.visibility</p:attrName>
                                        </p:attrNameLst>
                                      </p:cBhvr>
                                      <p:to>
                                        <p:strVal val="visible"/>
                                      </p:to>
                                    </p:set>
                                    <p:animEffect transition="in" filter="wipe(up)">
                                      <p:cBhvr>
                                        <p:cTn id="12" dur="500"/>
                                        <p:tgtEl>
                                          <p:spTgt spid="4178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417861"/>
                                        </p:tgtEl>
                                        <p:attrNameLst>
                                          <p:attrName>style.visibility</p:attrName>
                                        </p:attrNameLst>
                                      </p:cBhvr>
                                      <p:to>
                                        <p:strVal val="visible"/>
                                      </p:to>
                                    </p:set>
                                    <p:animEffect transition="in" filter="wipe(up)">
                                      <p:cBhvr>
                                        <p:cTn id="17" dur="500"/>
                                        <p:tgtEl>
                                          <p:spTgt spid="4178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17862"/>
                                        </p:tgtEl>
                                        <p:attrNameLst>
                                          <p:attrName>style.visibility</p:attrName>
                                        </p:attrNameLst>
                                      </p:cBhvr>
                                      <p:to>
                                        <p:strVal val="visible"/>
                                      </p:to>
                                    </p:set>
                                    <p:animEffect transition="in" filter="wipe(up)">
                                      <p:cBhvr>
                                        <p:cTn id="22" dur="500"/>
                                        <p:tgtEl>
                                          <p:spTgt spid="4178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417864"/>
                                        </p:tgtEl>
                                        <p:attrNameLst>
                                          <p:attrName>style.visibility</p:attrName>
                                        </p:attrNameLst>
                                      </p:cBhvr>
                                      <p:to>
                                        <p:strVal val="visible"/>
                                      </p:to>
                                    </p:set>
                                    <p:animEffect transition="in" filter="wipe(up)">
                                      <p:cBhvr>
                                        <p:cTn id="27" dur="500"/>
                                        <p:tgtEl>
                                          <p:spTgt spid="4178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AutoShape 2"/>
          <p:cNvSpPr>
            <a:spLocks noGrp="1" noChangeArrowheads="1"/>
          </p:cNvSpPr>
          <p:nvPr>
            <p:ph type="title"/>
          </p:nvPr>
        </p:nvSpPr>
        <p:spPr/>
        <p:txBody>
          <a:bodyPr>
            <a:normAutofit fontScale="90000"/>
          </a:bodyPr>
          <a:lstStyle/>
          <a:p>
            <a:r>
              <a:rPr lang="en-US" altLang="vi-VN"/>
              <a:t>SỐ DẤU PHẢY TĨNH (fixed point number)</a:t>
            </a:r>
          </a:p>
        </p:txBody>
      </p:sp>
      <p:graphicFrame>
        <p:nvGraphicFramePr>
          <p:cNvPr id="433222" name="Group 70"/>
          <p:cNvGraphicFramePr>
            <a:graphicFrameLocks noGrp="1"/>
          </p:cNvGraphicFramePr>
          <p:nvPr>
            <p:ph sz="quarter" idx="2"/>
          </p:nvPr>
        </p:nvGraphicFramePr>
        <p:xfrm>
          <a:off x="2209800" y="2209800"/>
          <a:ext cx="4264025" cy="577850"/>
        </p:xfrm>
        <a:graphic>
          <a:graphicData uri="http://schemas.openxmlformats.org/drawingml/2006/table">
            <a:tbl>
              <a:tblPr/>
              <a:tblGrid>
                <a:gridCol w="427038"/>
                <a:gridCol w="425450"/>
                <a:gridCol w="427037"/>
                <a:gridCol w="425450"/>
                <a:gridCol w="428625"/>
                <a:gridCol w="425450"/>
                <a:gridCol w="427038"/>
                <a:gridCol w="425450"/>
                <a:gridCol w="427037"/>
                <a:gridCol w="425450"/>
              </a:tblGrid>
              <a:tr h="533400">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3200" b="0" i="0" u="none" strike="noStrike" cap="none" normalizeH="0" baseline="0" smtClean="0">
                          <a:ln>
                            <a:noFill/>
                          </a:ln>
                          <a:solidFill>
                            <a:schemeClr val="tx1"/>
                          </a:solidFill>
                          <a:effectLst/>
                          <a:latin typeface="Vrinda" pitchFamily="2" charset="0"/>
                          <a:cs typeface="Arial" panose="020B0604020202020204" pitchFamily="34"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r>
            </a:tbl>
          </a:graphicData>
        </a:graphic>
      </p:graphicFrame>
      <p:graphicFrame>
        <p:nvGraphicFramePr>
          <p:cNvPr id="433224" name="Group 72"/>
          <p:cNvGraphicFramePr>
            <a:graphicFrameLocks noGrp="1"/>
          </p:cNvGraphicFramePr>
          <p:nvPr>
            <p:ph sz="quarter" idx="3"/>
          </p:nvPr>
        </p:nvGraphicFramePr>
        <p:xfrm>
          <a:off x="2286000" y="4495800"/>
          <a:ext cx="4264025" cy="577850"/>
        </p:xfrm>
        <a:graphic>
          <a:graphicData uri="http://schemas.openxmlformats.org/drawingml/2006/table">
            <a:tbl>
              <a:tblPr/>
              <a:tblGrid>
                <a:gridCol w="427038"/>
                <a:gridCol w="425450"/>
                <a:gridCol w="427037"/>
                <a:gridCol w="425450"/>
                <a:gridCol w="428625"/>
                <a:gridCol w="425450"/>
                <a:gridCol w="427038"/>
                <a:gridCol w="425450"/>
                <a:gridCol w="427037"/>
                <a:gridCol w="425450"/>
              </a:tblGrid>
              <a:tr h="500063">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3200" b="0" i="0" u="none" strike="noStrike" cap="none" normalizeH="0" baseline="0" smtClean="0">
                          <a:ln>
                            <a:noFill/>
                          </a:ln>
                          <a:solidFill>
                            <a:schemeClr val="tx1"/>
                          </a:solidFill>
                          <a:effectLst/>
                          <a:latin typeface="Vrinda" pitchFamily="2" charset="0"/>
                          <a:cs typeface="Arial" panose="020B0604020202020204" pitchFamily="34"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r>
            </a:tbl>
          </a:graphicData>
        </a:graphic>
      </p:graphicFrame>
      <p:sp>
        <p:nvSpPr>
          <p:cNvPr id="433214" name="AutoShape 62"/>
          <p:cNvSpPr>
            <a:spLocks noChangeArrowheads="1"/>
          </p:cNvSpPr>
          <p:nvPr/>
        </p:nvSpPr>
        <p:spPr bwMode="auto">
          <a:xfrm flipV="1">
            <a:off x="4648200" y="1981200"/>
            <a:ext cx="228600" cy="304800"/>
          </a:xfrm>
          <a:prstGeom prst="triangle">
            <a:avLst>
              <a:gd name="adj" fmla="val 50000"/>
            </a:avLst>
          </a:prstGeom>
          <a:solidFill>
            <a:srgbClr val="CC33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33216" name="AutoShape 64"/>
          <p:cNvSpPr>
            <a:spLocks noChangeArrowheads="1"/>
          </p:cNvSpPr>
          <p:nvPr/>
        </p:nvSpPr>
        <p:spPr bwMode="auto">
          <a:xfrm>
            <a:off x="990600" y="3048000"/>
            <a:ext cx="914400" cy="685800"/>
          </a:xfrm>
          <a:prstGeom prst="wedgeRoundRectCallout">
            <a:avLst>
              <a:gd name="adj1" fmla="val 99306"/>
              <a:gd name="adj2" fmla="val -101852"/>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vi-VN" sz="2000"/>
              <a:t>Dấu</a:t>
            </a:r>
          </a:p>
        </p:txBody>
      </p:sp>
      <p:sp>
        <p:nvSpPr>
          <p:cNvPr id="433217" name="AutoShape 65"/>
          <p:cNvSpPr>
            <a:spLocks noChangeArrowheads="1"/>
          </p:cNvSpPr>
          <p:nvPr/>
        </p:nvSpPr>
        <p:spPr bwMode="auto">
          <a:xfrm>
            <a:off x="6477000" y="3048000"/>
            <a:ext cx="1371600" cy="685800"/>
          </a:xfrm>
          <a:prstGeom prst="wedgeRoundRectCallout">
            <a:avLst>
              <a:gd name="adj1" fmla="val -125000"/>
              <a:gd name="adj2" fmla="val -86574"/>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vi-VN" sz="2000"/>
              <a:t>Phần lẻ</a:t>
            </a:r>
          </a:p>
        </p:txBody>
      </p:sp>
      <p:sp>
        <p:nvSpPr>
          <p:cNvPr id="433218" name="AutoShape 66"/>
          <p:cNvSpPr>
            <a:spLocks noChangeArrowheads="1"/>
          </p:cNvSpPr>
          <p:nvPr/>
        </p:nvSpPr>
        <p:spPr bwMode="auto">
          <a:xfrm>
            <a:off x="4267200" y="3352800"/>
            <a:ext cx="1371600" cy="685800"/>
          </a:xfrm>
          <a:prstGeom prst="wedgeRoundRectCallout">
            <a:avLst>
              <a:gd name="adj1" fmla="val -12847"/>
              <a:gd name="adj2" fmla="val -137269"/>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vi-VN" sz="2000"/>
              <a:t>Dấu phảy cố định</a:t>
            </a:r>
          </a:p>
        </p:txBody>
      </p:sp>
      <p:sp>
        <p:nvSpPr>
          <p:cNvPr id="433219" name="AutoShape 67"/>
          <p:cNvSpPr>
            <a:spLocks noChangeArrowheads="1"/>
          </p:cNvSpPr>
          <p:nvPr/>
        </p:nvSpPr>
        <p:spPr bwMode="auto">
          <a:xfrm flipV="1">
            <a:off x="6429375" y="4257675"/>
            <a:ext cx="228600" cy="304800"/>
          </a:xfrm>
          <a:prstGeom prst="triangle">
            <a:avLst>
              <a:gd name="adj" fmla="val 50000"/>
            </a:avLst>
          </a:prstGeom>
          <a:solidFill>
            <a:srgbClr val="CC33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33221" name="Text Box 69"/>
          <p:cNvSpPr txBox="1">
            <a:spLocks noChangeArrowheads="1"/>
          </p:cNvSpPr>
          <p:nvPr/>
        </p:nvSpPr>
        <p:spPr bwMode="auto">
          <a:xfrm>
            <a:off x="990600" y="5562600"/>
            <a:ext cx="7696200" cy="9461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vi-VN" sz="2800"/>
              <a:t>Có một vị trí cố định ngăn cách giữa phần nguyên và phần lẻ -&gt; dấu phảy tĩnh</a:t>
            </a:r>
          </a:p>
        </p:txBody>
      </p:sp>
      <p:sp>
        <p:nvSpPr>
          <p:cNvPr id="433223" name="AutoShape 71"/>
          <p:cNvSpPr>
            <a:spLocks noChangeArrowheads="1"/>
          </p:cNvSpPr>
          <p:nvPr/>
        </p:nvSpPr>
        <p:spPr bwMode="auto">
          <a:xfrm>
            <a:off x="2133600" y="3352800"/>
            <a:ext cx="1981200" cy="685800"/>
          </a:xfrm>
          <a:prstGeom prst="wedgeRoundRectCallout">
            <a:avLst>
              <a:gd name="adj1" fmla="val 27565"/>
              <a:gd name="adj2" fmla="val -147454"/>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vi-VN" sz="2000"/>
              <a:t>Phần nguyên</a:t>
            </a:r>
          </a:p>
        </p:txBody>
      </p:sp>
      <p:sp>
        <p:nvSpPr>
          <p:cNvPr id="2" name="Footer Placeholder 1"/>
          <p:cNvSpPr>
            <a:spLocks noGrp="1"/>
          </p:cNvSpPr>
          <p:nvPr>
            <p:ph type="ftr" sz="quarter" idx="11"/>
          </p:nvPr>
        </p:nvSpPr>
        <p:spPr/>
        <p:txBody>
          <a:bodyPr/>
          <a:lstStyle/>
          <a:p>
            <a:r>
              <a:rPr lang="vi-VN" altLang="vi-VN" smtClean="0"/>
              <a:t>Trung tâm máy tính, Trường Đại học Công nghệ, ĐHQGHN</a:t>
            </a:r>
            <a:endParaRPr lang="en-US" altLang="vi-VN"/>
          </a:p>
        </p:txBody>
      </p:sp>
    </p:spTree>
    <p:extLst>
      <p:ext uri="{BB962C8B-B14F-4D97-AF65-F5344CB8AC3E}">
        <p14:creationId xmlns:p14="http://schemas.microsoft.com/office/powerpoint/2010/main" val="22025112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33216"/>
                                        </p:tgtEl>
                                        <p:attrNameLst>
                                          <p:attrName>style.visibility</p:attrName>
                                        </p:attrNameLst>
                                      </p:cBhvr>
                                      <p:to>
                                        <p:strVal val="visible"/>
                                      </p:to>
                                    </p:set>
                                    <p:animEffect transition="in" filter="wipe(down)">
                                      <p:cBhvr>
                                        <p:cTn id="7" dur="500"/>
                                        <p:tgtEl>
                                          <p:spTgt spid="4332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33223"/>
                                        </p:tgtEl>
                                        <p:attrNameLst>
                                          <p:attrName>style.visibility</p:attrName>
                                        </p:attrNameLst>
                                      </p:cBhvr>
                                      <p:to>
                                        <p:strVal val="visible"/>
                                      </p:to>
                                    </p:set>
                                    <p:animEffect transition="in" filter="wipe(down)">
                                      <p:cBhvr>
                                        <p:cTn id="12" dur="500"/>
                                        <p:tgtEl>
                                          <p:spTgt spid="4332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33217"/>
                                        </p:tgtEl>
                                        <p:attrNameLst>
                                          <p:attrName>style.visibility</p:attrName>
                                        </p:attrNameLst>
                                      </p:cBhvr>
                                      <p:to>
                                        <p:strVal val="visible"/>
                                      </p:to>
                                    </p:set>
                                    <p:animEffect transition="in" filter="wipe(down)">
                                      <p:cBhvr>
                                        <p:cTn id="17" dur="500"/>
                                        <p:tgtEl>
                                          <p:spTgt spid="43321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33218"/>
                                        </p:tgtEl>
                                        <p:attrNameLst>
                                          <p:attrName>style.visibility</p:attrName>
                                        </p:attrNameLst>
                                      </p:cBhvr>
                                      <p:to>
                                        <p:strVal val="visible"/>
                                      </p:to>
                                    </p:set>
                                    <p:animEffect transition="in" filter="wipe(down)">
                                      <p:cBhvr>
                                        <p:cTn id="22" dur="500"/>
                                        <p:tgtEl>
                                          <p:spTgt spid="4332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1" fill="hold" grpId="0" nodeType="clickEffect">
                                  <p:stCondLst>
                                    <p:cond delay="0"/>
                                  </p:stCondLst>
                                  <p:childTnLst>
                                    <p:set>
                                      <p:cBhvr>
                                        <p:cTn id="26" dur="1" fill="hold">
                                          <p:stCondLst>
                                            <p:cond delay="0"/>
                                          </p:stCondLst>
                                        </p:cTn>
                                        <p:tgtEl>
                                          <p:spTgt spid="433219"/>
                                        </p:tgtEl>
                                        <p:attrNameLst>
                                          <p:attrName>style.visibility</p:attrName>
                                        </p:attrNameLst>
                                      </p:cBhvr>
                                      <p:to>
                                        <p:strVal val="visible"/>
                                      </p:to>
                                    </p:set>
                                    <p:anim calcmode="lin" valueType="num">
                                      <p:cBhvr additive="base">
                                        <p:cTn id="27" dur="500" fill="hold"/>
                                        <p:tgtEl>
                                          <p:spTgt spid="433219"/>
                                        </p:tgtEl>
                                        <p:attrNameLst>
                                          <p:attrName>ppt_x</p:attrName>
                                        </p:attrNameLst>
                                      </p:cBhvr>
                                      <p:tavLst>
                                        <p:tav tm="0">
                                          <p:val>
                                            <p:strVal val="#ppt_x"/>
                                          </p:val>
                                        </p:tav>
                                        <p:tav tm="100000">
                                          <p:val>
                                            <p:strVal val="#ppt_x"/>
                                          </p:val>
                                        </p:tav>
                                      </p:tavLst>
                                    </p:anim>
                                    <p:anim calcmode="lin" valueType="num">
                                      <p:cBhvr additive="base">
                                        <p:cTn id="28" dur="500" fill="hold"/>
                                        <p:tgtEl>
                                          <p:spTgt spid="43321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3216" grpId="0" animBg="1"/>
      <p:bldP spid="433217" grpId="0" animBg="1"/>
      <p:bldP spid="433218" grpId="0" animBg="1"/>
      <p:bldP spid="433219" grpId="0" animBg="1"/>
      <p:bldP spid="43322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AutoShape 2"/>
          <p:cNvSpPr>
            <a:spLocks noGrp="1" noChangeArrowheads="1"/>
          </p:cNvSpPr>
          <p:nvPr>
            <p:ph type="title"/>
          </p:nvPr>
        </p:nvSpPr>
        <p:spPr/>
        <p:txBody>
          <a:bodyPr/>
          <a:lstStyle/>
          <a:p>
            <a:r>
              <a:rPr lang="en-US" altLang="vi-VN" sz="3200"/>
              <a:t>SỐ DẤU PHẢY ĐỘNG ( floating point number)</a:t>
            </a:r>
          </a:p>
        </p:txBody>
      </p:sp>
      <p:graphicFrame>
        <p:nvGraphicFramePr>
          <p:cNvPr id="455739" name="Group 59"/>
          <p:cNvGraphicFramePr>
            <a:graphicFrameLocks noGrp="1"/>
          </p:cNvGraphicFramePr>
          <p:nvPr>
            <p:ph sz="quarter" idx="2"/>
          </p:nvPr>
        </p:nvGraphicFramePr>
        <p:xfrm>
          <a:off x="2819400" y="2133600"/>
          <a:ext cx="4264025" cy="533400"/>
        </p:xfrm>
        <a:graphic>
          <a:graphicData uri="http://schemas.openxmlformats.org/drawingml/2006/table">
            <a:tbl>
              <a:tblPr/>
              <a:tblGrid>
                <a:gridCol w="427038"/>
                <a:gridCol w="425450"/>
                <a:gridCol w="427037"/>
                <a:gridCol w="425450"/>
                <a:gridCol w="428625"/>
                <a:gridCol w="425450"/>
                <a:gridCol w="427038"/>
                <a:gridCol w="425450"/>
                <a:gridCol w="427037"/>
                <a:gridCol w="425450"/>
              </a:tblGrid>
              <a:tr h="533400">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800" b="0" i="0" u="none" strike="noStrike" cap="none" normalizeH="0" baseline="0" smtClean="0">
                          <a:ln>
                            <a:noFill/>
                          </a:ln>
                          <a:solidFill>
                            <a:schemeClr val="tx1"/>
                          </a:solidFill>
                          <a:effectLst/>
                          <a:latin typeface="Vrinda" pitchFamily="2" charset="0"/>
                          <a:cs typeface="Arial" panose="020B0604020202020204" pitchFamily="34"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66"/>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800" b="0" i="0" u="none" strike="noStrike" cap="none" normalizeH="0" baseline="0" smtClean="0">
                          <a:ln>
                            <a:noFill/>
                          </a:ln>
                          <a:solidFill>
                            <a:schemeClr val="tx1"/>
                          </a:solidFill>
                          <a:effectLst/>
                          <a:latin typeface="Vrinda" pitchFamily="2" charset="0"/>
                          <a:cs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r>
            </a:tbl>
          </a:graphicData>
        </a:graphic>
      </p:graphicFrame>
      <p:sp>
        <p:nvSpPr>
          <p:cNvPr id="455731" name="AutoShape 51"/>
          <p:cNvSpPr>
            <a:spLocks noChangeArrowheads="1"/>
          </p:cNvSpPr>
          <p:nvPr/>
        </p:nvSpPr>
        <p:spPr bwMode="auto">
          <a:xfrm flipV="1">
            <a:off x="5257800" y="1905000"/>
            <a:ext cx="228600" cy="304800"/>
          </a:xfrm>
          <a:prstGeom prst="triangle">
            <a:avLst>
              <a:gd name="adj" fmla="val 50000"/>
            </a:avLst>
          </a:prstGeom>
          <a:solidFill>
            <a:srgbClr val="CC3300"/>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55732" name="AutoShape 52"/>
          <p:cNvSpPr>
            <a:spLocks noChangeArrowheads="1"/>
          </p:cNvSpPr>
          <p:nvPr/>
        </p:nvSpPr>
        <p:spPr bwMode="auto">
          <a:xfrm>
            <a:off x="1371600" y="2971800"/>
            <a:ext cx="1981200" cy="685800"/>
          </a:xfrm>
          <a:prstGeom prst="wedgeRoundRectCallout">
            <a:avLst>
              <a:gd name="adj1" fmla="val 85417"/>
              <a:gd name="adj2" fmla="val -86343"/>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vi-VN" sz="2000"/>
              <a:t>Phần định trị (mantissa)</a:t>
            </a:r>
          </a:p>
        </p:txBody>
      </p:sp>
      <p:sp>
        <p:nvSpPr>
          <p:cNvPr id="455733" name="AutoShape 53"/>
          <p:cNvSpPr>
            <a:spLocks noChangeArrowheads="1"/>
          </p:cNvSpPr>
          <p:nvPr/>
        </p:nvSpPr>
        <p:spPr bwMode="auto">
          <a:xfrm>
            <a:off x="7086600" y="2819400"/>
            <a:ext cx="1600200" cy="914400"/>
          </a:xfrm>
          <a:prstGeom prst="wedgeRoundRectCallout">
            <a:avLst>
              <a:gd name="adj1" fmla="val -114287"/>
              <a:gd name="adj2" fmla="val -78472"/>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vi-VN" sz="2000"/>
              <a:t>Phần bậc (exponent)</a:t>
            </a:r>
          </a:p>
        </p:txBody>
      </p:sp>
      <p:sp>
        <p:nvSpPr>
          <p:cNvPr id="455736" name="Text Box 56"/>
          <p:cNvSpPr txBox="1">
            <a:spLocks noChangeArrowheads="1"/>
          </p:cNvSpPr>
          <p:nvPr/>
        </p:nvSpPr>
        <p:spPr bwMode="auto">
          <a:xfrm>
            <a:off x="990600" y="3733800"/>
            <a:ext cx="7924800" cy="29464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vi-VN" sz="1800" b="1"/>
              <a:t>Số được biểu diễn dưới dạng nửa logarit x = ±</a:t>
            </a:r>
            <a:r>
              <a:rPr lang="en-US" altLang="vi-VN" sz="2800" b="1"/>
              <a:t> </a:t>
            </a:r>
            <a:r>
              <a:rPr lang="en-US" altLang="vi-VN" sz="1800" b="1"/>
              <a:t>m</a:t>
            </a:r>
            <a:r>
              <a:rPr lang="en-US" altLang="vi-VN" sz="1800" b="1" baseline="-25000"/>
              <a:t>x</a:t>
            </a:r>
            <a:r>
              <a:rPr lang="en-US" altLang="vi-VN" sz="1800" b="1"/>
              <a:t>. 10 </a:t>
            </a:r>
            <a:r>
              <a:rPr lang="en-US" altLang="vi-VN" sz="2000" b="1" baseline="30000"/>
              <a:t>±</a:t>
            </a:r>
            <a:r>
              <a:rPr lang="en-US" altLang="vi-VN" sz="2800" b="1"/>
              <a:t> </a:t>
            </a:r>
            <a:r>
              <a:rPr lang="en-US" altLang="vi-VN" sz="1800" b="1" baseline="30000"/>
              <a:t>Px</a:t>
            </a:r>
            <a:r>
              <a:rPr lang="en-US" altLang="vi-VN" sz="1800" b="1"/>
              <a:t> </a:t>
            </a:r>
          </a:p>
          <a:p>
            <a:pPr algn="l">
              <a:spcBef>
                <a:spcPct val="50000"/>
              </a:spcBef>
            </a:pPr>
            <a:r>
              <a:rPr lang="en-US" altLang="vi-VN" sz="1800" b="1"/>
              <a:t>Ví dụ 3.14 = 0.314 x 10</a:t>
            </a:r>
            <a:r>
              <a:rPr lang="en-US" altLang="vi-VN" sz="1800" b="1" baseline="30000"/>
              <a:t>2   </a:t>
            </a:r>
            <a:r>
              <a:rPr lang="en-US" altLang="vi-VN" sz="1800" b="1"/>
              <a:t>hoặc  - 0.0012 = - 0.12 x 10 -</a:t>
            </a:r>
            <a:r>
              <a:rPr lang="en-US" altLang="vi-VN" sz="1800" b="1" baseline="30000"/>
              <a:t>2</a:t>
            </a:r>
          </a:p>
          <a:p>
            <a:pPr algn="l">
              <a:spcBef>
                <a:spcPct val="50000"/>
              </a:spcBef>
            </a:pPr>
            <a:r>
              <a:rPr lang="en-US" altLang="vi-VN" sz="1800" b="1"/>
              <a:t>Vị trí dấu phảy trong biểu diễn bình thường</a:t>
            </a:r>
            <a:r>
              <a:rPr lang="en-US" altLang="vi-VN" sz="2800" b="1"/>
              <a:t> </a:t>
            </a:r>
            <a:r>
              <a:rPr lang="en-US" altLang="vi-VN" sz="1800" b="1"/>
              <a:t>do phần bậc định ra trên phần định trị nên gọi là dấu phảy động. Số dấu phảy động thường được dùng với tính toán gần đúng. Trong một số ngôn ngữ lập trình nó được khai báo với kiểu là real hay double. Người ta đo tốc độ của các máy tính khoa học kỹ thuật theo Flops (floating point operations per second) hoặc Gflops </a:t>
            </a:r>
          </a:p>
        </p:txBody>
      </p:sp>
      <p:sp>
        <p:nvSpPr>
          <p:cNvPr id="2" name="Footer Placeholder 1"/>
          <p:cNvSpPr>
            <a:spLocks noGrp="1"/>
          </p:cNvSpPr>
          <p:nvPr>
            <p:ph type="ftr" sz="quarter" idx="11"/>
          </p:nvPr>
        </p:nvSpPr>
        <p:spPr/>
        <p:txBody>
          <a:bodyPr/>
          <a:lstStyle/>
          <a:p>
            <a:r>
              <a:rPr lang="vi-VN" altLang="vi-VN" smtClean="0"/>
              <a:t>Trung tâm máy tính, Trường Đại học Công nghệ, ĐHQGHN</a:t>
            </a:r>
            <a:endParaRPr lang="en-US" altLang="vi-VN"/>
          </a:p>
        </p:txBody>
      </p:sp>
    </p:spTree>
    <p:extLst>
      <p:ext uri="{BB962C8B-B14F-4D97-AF65-F5344CB8AC3E}">
        <p14:creationId xmlns:p14="http://schemas.microsoft.com/office/powerpoint/2010/main" val="29700478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455736">
                                            <p:txEl>
                                              <p:pRg st="0" end="0"/>
                                            </p:txEl>
                                          </p:spTgt>
                                        </p:tgtEl>
                                        <p:attrNameLst>
                                          <p:attrName>style.visibility</p:attrName>
                                        </p:attrNameLst>
                                      </p:cBhvr>
                                      <p:to>
                                        <p:strVal val="visible"/>
                                      </p:to>
                                    </p:set>
                                    <p:animEffect transition="in" filter="slide(fromBottom)">
                                      <p:cBhvr>
                                        <p:cTn id="7" dur="500"/>
                                        <p:tgtEl>
                                          <p:spTgt spid="45573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455736">
                                            <p:txEl>
                                              <p:pRg st="1" end="1"/>
                                            </p:txEl>
                                          </p:spTgt>
                                        </p:tgtEl>
                                        <p:attrNameLst>
                                          <p:attrName>style.visibility</p:attrName>
                                        </p:attrNameLst>
                                      </p:cBhvr>
                                      <p:to>
                                        <p:strVal val="visible"/>
                                      </p:to>
                                    </p:set>
                                    <p:animEffect transition="in" filter="slide(fromBottom)">
                                      <p:cBhvr>
                                        <p:cTn id="12" dur="500"/>
                                        <p:tgtEl>
                                          <p:spTgt spid="45573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55732"/>
                                        </p:tgtEl>
                                        <p:attrNameLst>
                                          <p:attrName>style.visibility</p:attrName>
                                        </p:attrNameLst>
                                      </p:cBhvr>
                                      <p:to>
                                        <p:strVal val="visible"/>
                                      </p:to>
                                    </p:set>
                                    <p:animEffect transition="in" filter="wipe(down)">
                                      <p:cBhvr>
                                        <p:cTn id="17" dur="500"/>
                                        <p:tgtEl>
                                          <p:spTgt spid="4557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55733"/>
                                        </p:tgtEl>
                                        <p:attrNameLst>
                                          <p:attrName>style.visibility</p:attrName>
                                        </p:attrNameLst>
                                      </p:cBhvr>
                                      <p:to>
                                        <p:strVal val="visible"/>
                                      </p:to>
                                    </p:set>
                                    <p:animEffect transition="in" filter="wipe(down)">
                                      <p:cBhvr>
                                        <p:cTn id="22" dur="500"/>
                                        <p:tgtEl>
                                          <p:spTgt spid="4557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455736">
                                            <p:txEl>
                                              <p:pRg st="2" end="2"/>
                                            </p:txEl>
                                          </p:spTgt>
                                        </p:tgtEl>
                                        <p:attrNameLst>
                                          <p:attrName>style.visibility</p:attrName>
                                        </p:attrNameLst>
                                      </p:cBhvr>
                                      <p:to>
                                        <p:strVal val="visible"/>
                                      </p:to>
                                    </p:set>
                                    <p:animEffect transition="in" filter="slide(fromBottom)">
                                      <p:cBhvr>
                                        <p:cTn id="27" dur="500"/>
                                        <p:tgtEl>
                                          <p:spTgt spid="45573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732" grpId="0" animBg="1"/>
      <p:bldP spid="45573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AutoShape 2"/>
          <p:cNvSpPr>
            <a:spLocks noGrp="1" noChangeArrowheads="1"/>
          </p:cNvSpPr>
          <p:nvPr>
            <p:ph type="title"/>
          </p:nvPr>
        </p:nvSpPr>
        <p:spPr/>
        <p:txBody>
          <a:bodyPr/>
          <a:lstStyle/>
          <a:p>
            <a:r>
              <a:rPr lang="en-US" altLang="vi-VN"/>
              <a:t>SO SÁNH KHOẢNG BIỂU DIỄN</a:t>
            </a:r>
          </a:p>
        </p:txBody>
      </p:sp>
      <p:sp>
        <p:nvSpPr>
          <p:cNvPr id="434179" name="Rectangle 3"/>
          <p:cNvSpPr>
            <a:spLocks noGrp="1" noChangeArrowheads="1"/>
          </p:cNvSpPr>
          <p:nvPr>
            <p:ph type="body" sz="half" idx="1"/>
          </p:nvPr>
        </p:nvSpPr>
        <p:spPr>
          <a:xfrm>
            <a:off x="457200" y="1905000"/>
            <a:ext cx="8686800" cy="4181475"/>
          </a:xfrm>
        </p:spPr>
        <p:txBody>
          <a:bodyPr/>
          <a:lstStyle/>
          <a:p>
            <a:r>
              <a:rPr lang="en-US" altLang="vi-VN" sz="2000" b="1"/>
              <a:t>Về khả năng biểu diễn số. Với cùng một số ngăn nhớ, số mã khác nhau có thể biểu diễn được hoàn toàn như nhau nhưng khoảng số biểu diễn được khác nhau rất xa. Có thể xem xét qua số dương lớn nhất và số dương nhỏ nhất có thể biểu diễn đựơc. Dưới đây tất cả viết trong hệ đếm cơ số 2.</a:t>
            </a:r>
          </a:p>
          <a:p>
            <a:r>
              <a:rPr lang="en-US" altLang="vi-VN" sz="2000" b="1"/>
              <a:t>Xét ví dụ với 4 ngăn định trị, 2 ngăn cho bậc và 2 ngăn cho dấu</a:t>
            </a:r>
          </a:p>
          <a:p>
            <a:r>
              <a:rPr lang="en-US" altLang="vi-VN" sz="2000" b="1">
                <a:solidFill>
                  <a:srgbClr val="CC3300"/>
                </a:solidFill>
              </a:rPr>
              <a:t>Khoảng biểu diễn được ở chế độ dấu phảy động là 0.1x10</a:t>
            </a:r>
            <a:r>
              <a:rPr lang="en-US" altLang="vi-VN" sz="2000" b="1" baseline="30000">
                <a:solidFill>
                  <a:srgbClr val="CC3300"/>
                </a:solidFill>
              </a:rPr>
              <a:t>-11</a:t>
            </a:r>
            <a:r>
              <a:rPr lang="en-US" altLang="vi-VN" sz="2000" b="1">
                <a:solidFill>
                  <a:srgbClr val="CC3300"/>
                </a:solidFill>
              </a:rPr>
              <a:t> đến 0.1111x10</a:t>
            </a:r>
            <a:r>
              <a:rPr lang="en-US" altLang="vi-VN" sz="2000" b="1" baseline="30000">
                <a:solidFill>
                  <a:srgbClr val="CC3300"/>
                </a:solidFill>
              </a:rPr>
              <a:t>11 </a:t>
            </a:r>
            <a:r>
              <a:rPr lang="en-US" altLang="vi-VN" sz="2000" b="1">
                <a:solidFill>
                  <a:srgbClr val="CC3300"/>
                </a:solidFill>
              </a:rPr>
              <a:t>(tổng quát trong trường hợp m ngăn cho định trị và n ngăn cho bậc không kể dấu sẽ là từ </a:t>
            </a:r>
            <a:r>
              <a:rPr lang="en-US" altLang="vi-VN" b="1" baseline="-25000">
                <a:solidFill>
                  <a:srgbClr val="CC3300"/>
                </a:solidFill>
              </a:rPr>
              <a:t>10</a:t>
            </a:r>
            <a:r>
              <a:rPr lang="en-US" altLang="vi-VN" sz="2000" b="1">
                <a:solidFill>
                  <a:srgbClr val="CC3300"/>
                </a:solidFill>
              </a:rPr>
              <a:t>(10 </a:t>
            </a:r>
            <a:r>
              <a:rPr lang="en-US" altLang="vi-VN" sz="2000" b="1" baseline="30000">
                <a:solidFill>
                  <a:srgbClr val="CC3300"/>
                </a:solidFill>
              </a:rPr>
              <a:t>-111..1</a:t>
            </a:r>
            <a:r>
              <a:rPr lang="en-US" altLang="vi-VN" sz="2000" b="1">
                <a:solidFill>
                  <a:srgbClr val="CC3300"/>
                </a:solidFill>
              </a:rPr>
              <a:t> -1) đến</a:t>
            </a:r>
            <a:r>
              <a:rPr lang="en-US" altLang="vi-VN" sz="2400" b="1">
                <a:solidFill>
                  <a:srgbClr val="CC3300"/>
                </a:solidFill>
              </a:rPr>
              <a:t> </a:t>
            </a:r>
            <a:r>
              <a:rPr lang="en-US" altLang="vi-VN" b="1" baseline="-25000">
                <a:solidFill>
                  <a:srgbClr val="CC3300"/>
                </a:solidFill>
              </a:rPr>
              <a:t>10</a:t>
            </a:r>
            <a:r>
              <a:rPr lang="en-US" altLang="vi-VN" sz="2000" b="1">
                <a:solidFill>
                  <a:srgbClr val="CC3300"/>
                </a:solidFill>
              </a:rPr>
              <a:t> </a:t>
            </a:r>
            <a:r>
              <a:rPr lang="en-US" altLang="vi-VN" sz="1800">
                <a:solidFill>
                  <a:srgbClr val="CC3300"/>
                </a:solidFill>
              </a:rPr>
              <a:t>111..1</a:t>
            </a:r>
            <a:r>
              <a:rPr lang="en-US" altLang="vi-VN" sz="2000" b="1">
                <a:solidFill>
                  <a:srgbClr val="CC3300"/>
                </a:solidFill>
              </a:rPr>
              <a:t> </a:t>
            </a:r>
          </a:p>
          <a:p>
            <a:r>
              <a:rPr lang="en-US" altLang="vi-VN" sz="2000" b="1"/>
              <a:t>Với số dấu phảy tĩnh khoảng biểu diễn chỉ được từ 1 đến 10</a:t>
            </a:r>
            <a:r>
              <a:rPr lang="en-US" altLang="vi-VN" sz="2000" b="1" baseline="30000"/>
              <a:t>m+n</a:t>
            </a:r>
            <a:r>
              <a:rPr lang="en-US" altLang="vi-VN" sz="2000" b="1"/>
              <a:t> -1.</a:t>
            </a:r>
          </a:p>
          <a:p>
            <a:r>
              <a:rPr lang="en-US" altLang="vi-VN" sz="2000" b="1"/>
              <a:t>Về khoảng biểu diễn, chế độ dấu phảy động tốt hơn rất nhiều </a:t>
            </a:r>
          </a:p>
        </p:txBody>
      </p:sp>
      <p:graphicFrame>
        <p:nvGraphicFramePr>
          <p:cNvPr id="434275" name="Group 99"/>
          <p:cNvGraphicFramePr>
            <a:graphicFrameLocks noGrp="1"/>
          </p:cNvGraphicFramePr>
          <p:nvPr>
            <p:ph sz="quarter" idx="2"/>
          </p:nvPr>
        </p:nvGraphicFramePr>
        <p:xfrm>
          <a:off x="1143000" y="5562600"/>
          <a:ext cx="3770313" cy="490538"/>
        </p:xfrm>
        <a:graphic>
          <a:graphicData uri="http://schemas.openxmlformats.org/drawingml/2006/table">
            <a:tbl>
              <a:tblPr/>
              <a:tblGrid>
                <a:gridCol w="471488"/>
                <a:gridCol w="471487"/>
                <a:gridCol w="471488"/>
                <a:gridCol w="471487"/>
                <a:gridCol w="469900"/>
                <a:gridCol w="471488"/>
                <a:gridCol w="471487"/>
                <a:gridCol w="471488"/>
              </a:tblGrid>
              <a:tr h="490538">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r>
            </a:tbl>
          </a:graphicData>
        </a:graphic>
      </p:graphicFrame>
      <p:graphicFrame>
        <p:nvGraphicFramePr>
          <p:cNvPr id="434359" name="Group 183"/>
          <p:cNvGraphicFramePr>
            <a:graphicFrameLocks noGrp="1"/>
          </p:cNvGraphicFramePr>
          <p:nvPr/>
        </p:nvGraphicFramePr>
        <p:xfrm>
          <a:off x="5029200" y="5562600"/>
          <a:ext cx="3770313" cy="490538"/>
        </p:xfrm>
        <a:graphic>
          <a:graphicData uri="http://schemas.openxmlformats.org/drawingml/2006/table">
            <a:tbl>
              <a:tblPr/>
              <a:tblGrid>
                <a:gridCol w="471488"/>
                <a:gridCol w="471487"/>
                <a:gridCol w="471488"/>
                <a:gridCol w="471487"/>
                <a:gridCol w="469900"/>
                <a:gridCol w="471488"/>
                <a:gridCol w="471487"/>
                <a:gridCol w="471488"/>
              </a:tblGrid>
              <a:tr h="490538">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r>
            </a:tbl>
          </a:graphicData>
        </a:graphic>
      </p:graphicFrame>
      <p:graphicFrame>
        <p:nvGraphicFramePr>
          <p:cNvPr id="434317" name="Group 141"/>
          <p:cNvGraphicFramePr>
            <a:graphicFrameLocks noGrp="1"/>
          </p:cNvGraphicFramePr>
          <p:nvPr/>
        </p:nvGraphicFramePr>
        <p:xfrm>
          <a:off x="1143000" y="6172200"/>
          <a:ext cx="3770313" cy="455613"/>
        </p:xfrm>
        <a:graphic>
          <a:graphicData uri="http://schemas.openxmlformats.org/drawingml/2006/table">
            <a:tbl>
              <a:tblPr/>
              <a:tblGrid>
                <a:gridCol w="471488"/>
                <a:gridCol w="471487"/>
                <a:gridCol w="471488"/>
                <a:gridCol w="471487"/>
                <a:gridCol w="469900"/>
                <a:gridCol w="471488"/>
                <a:gridCol w="471487"/>
                <a:gridCol w="471488"/>
              </a:tblGrid>
              <a:tr h="447675">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rgbClr val="FFFFCC"/>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3300"/>
                    </a:solidFill>
                  </a:tcPr>
                </a:tc>
              </a:tr>
            </a:tbl>
          </a:graphicData>
        </a:graphic>
      </p:graphicFrame>
      <p:graphicFrame>
        <p:nvGraphicFramePr>
          <p:cNvPr id="434337" name="Group 161"/>
          <p:cNvGraphicFramePr>
            <a:graphicFrameLocks noGrp="1"/>
          </p:cNvGraphicFramePr>
          <p:nvPr/>
        </p:nvGraphicFramePr>
        <p:xfrm>
          <a:off x="5029200" y="6134100"/>
          <a:ext cx="3770313" cy="490538"/>
        </p:xfrm>
        <a:graphic>
          <a:graphicData uri="http://schemas.openxmlformats.org/drawingml/2006/table">
            <a:tbl>
              <a:tblPr/>
              <a:tblGrid>
                <a:gridCol w="471488"/>
                <a:gridCol w="471487"/>
                <a:gridCol w="471488"/>
                <a:gridCol w="471487"/>
                <a:gridCol w="469900"/>
                <a:gridCol w="471488"/>
                <a:gridCol w="471487"/>
                <a:gridCol w="471488"/>
              </a:tblGrid>
              <a:tr h="490538">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None/>
                        <a:tabLst/>
                      </a:pPr>
                      <a:r>
                        <a:rPr kumimoji="0" lang="en-US" altLang="vi-VN" sz="24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r>
            </a:tbl>
          </a:graphicData>
        </a:graphic>
      </p:graphicFrame>
      <p:sp>
        <p:nvSpPr>
          <p:cNvPr id="2" name="Footer Placeholder 1"/>
          <p:cNvSpPr>
            <a:spLocks noGrp="1"/>
          </p:cNvSpPr>
          <p:nvPr>
            <p:ph type="ftr" sz="quarter" idx="11"/>
          </p:nvPr>
        </p:nvSpPr>
        <p:spPr/>
        <p:txBody>
          <a:bodyPr/>
          <a:lstStyle/>
          <a:p>
            <a:r>
              <a:rPr lang="vi-VN" altLang="vi-VN" smtClean="0"/>
              <a:t>Trung tâm máy tính, Trường Đại học Công nghệ, ĐHQGHN</a:t>
            </a:r>
            <a:endParaRPr lang="en-US" altLang="vi-VN"/>
          </a:p>
        </p:txBody>
      </p:sp>
    </p:spTree>
    <p:extLst>
      <p:ext uri="{BB962C8B-B14F-4D97-AF65-F5344CB8AC3E}">
        <p14:creationId xmlns:p14="http://schemas.microsoft.com/office/powerpoint/2010/main" val="32011998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434179">
                                            <p:txEl>
                                              <p:pRg st="2" end="2"/>
                                            </p:txEl>
                                          </p:spTgt>
                                        </p:tgtEl>
                                        <p:attrNameLst>
                                          <p:attrName>style.visibility</p:attrName>
                                        </p:attrNameLst>
                                      </p:cBhvr>
                                      <p:to>
                                        <p:strVal val="visible"/>
                                      </p:to>
                                    </p:set>
                                    <p:animEffect transition="in" filter="slide(fromBottom)">
                                      <p:cBhvr>
                                        <p:cTn id="7" dur="500"/>
                                        <p:tgtEl>
                                          <p:spTgt spid="434179">
                                            <p:txEl>
                                              <p:pRg st="2" end="2"/>
                                            </p:txEl>
                                          </p:spTgt>
                                        </p:tgtEl>
                                      </p:cBhvr>
                                    </p:animEffect>
                                  </p:childTnLst>
                                </p:cTn>
                              </p:par>
                            </p:childTnLst>
                          </p:cTn>
                        </p:par>
                        <p:par>
                          <p:cTn id="8" fill="hold" nodeType="afterGroup">
                            <p:stCondLst>
                              <p:cond delay="500"/>
                            </p:stCondLst>
                            <p:childTnLst>
                              <p:par>
                                <p:cTn id="9" presetID="2" presetClass="entr" presetSubtype="8" fill="hold" nodeType="afterEffect">
                                  <p:stCondLst>
                                    <p:cond delay="0"/>
                                  </p:stCondLst>
                                  <p:childTnLst>
                                    <p:set>
                                      <p:cBhvr>
                                        <p:cTn id="10" dur="1" fill="hold">
                                          <p:stCondLst>
                                            <p:cond delay="0"/>
                                          </p:stCondLst>
                                        </p:cTn>
                                        <p:tgtEl>
                                          <p:spTgt spid="434317"/>
                                        </p:tgtEl>
                                        <p:attrNameLst>
                                          <p:attrName>style.visibility</p:attrName>
                                        </p:attrNameLst>
                                      </p:cBhvr>
                                      <p:to>
                                        <p:strVal val="visible"/>
                                      </p:to>
                                    </p:set>
                                    <p:anim calcmode="lin" valueType="num">
                                      <p:cBhvr additive="base">
                                        <p:cTn id="11" dur="500" fill="hold"/>
                                        <p:tgtEl>
                                          <p:spTgt spid="434317"/>
                                        </p:tgtEl>
                                        <p:attrNameLst>
                                          <p:attrName>ppt_x</p:attrName>
                                        </p:attrNameLst>
                                      </p:cBhvr>
                                      <p:tavLst>
                                        <p:tav tm="0">
                                          <p:val>
                                            <p:strVal val="0-#ppt_w/2"/>
                                          </p:val>
                                        </p:tav>
                                        <p:tav tm="100000">
                                          <p:val>
                                            <p:strVal val="#ppt_x"/>
                                          </p:val>
                                        </p:tav>
                                      </p:tavLst>
                                    </p:anim>
                                    <p:anim calcmode="lin" valueType="num">
                                      <p:cBhvr additive="base">
                                        <p:cTn id="12" dur="500" fill="hold"/>
                                        <p:tgtEl>
                                          <p:spTgt spid="43431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434275"/>
                                        </p:tgtEl>
                                        <p:attrNameLst>
                                          <p:attrName>style.visibility</p:attrName>
                                        </p:attrNameLst>
                                      </p:cBhvr>
                                      <p:to>
                                        <p:strVal val="visible"/>
                                      </p:to>
                                    </p:set>
                                    <p:anim calcmode="lin" valueType="num">
                                      <p:cBhvr additive="base">
                                        <p:cTn id="15" dur="500" fill="hold"/>
                                        <p:tgtEl>
                                          <p:spTgt spid="434275"/>
                                        </p:tgtEl>
                                        <p:attrNameLst>
                                          <p:attrName>ppt_x</p:attrName>
                                        </p:attrNameLst>
                                      </p:cBhvr>
                                      <p:tavLst>
                                        <p:tav tm="0">
                                          <p:val>
                                            <p:strVal val="0-#ppt_w/2"/>
                                          </p:val>
                                        </p:tav>
                                        <p:tav tm="100000">
                                          <p:val>
                                            <p:strVal val="#ppt_x"/>
                                          </p:val>
                                        </p:tav>
                                      </p:tavLst>
                                    </p:anim>
                                    <p:anim calcmode="lin" valueType="num">
                                      <p:cBhvr additive="base">
                                        <p:cTn id="16" dur="500" fill="hold"/>
                                        <p:tgtEl>
                                          <p:spTgt spid="434275"/>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434179">
                                            <p:txEl>
                                              <p:pRg st="3" end="3"/>
                                            </p:txEl>
                                          </p:spTgt>
                                        </p:tgtEl>
                                        <p:attrNameLst>
                                          <p:attrName>style.visibility</p:attrName>
                                        </p:attrNameLst>
                                      </p:cBhvr>
                                      <p:to>
                                        <p:strVal val="visible"/>
                                      </p:to>
                                    </p:set>
                                    <p:animEffect transition="in" filter="slide(fromBottom)">
                                      <p:cBhvr>
                                        <p:cTn id="21" dur="500"/>
                                        <p:tgtEl>
                                          <p:spTgt spid="434179">
                                            <p:txEl>
                                              <p:pRg st="3" end="3"/>
                                            </p:txEl>
                                          </p:spTgt>
                                        </p:tgtEl>
                                      </p:cBhvr>
                                    </p:animEffect>
                                  </p:childTnLst>
                                </p:cTn>
                              </p:par>
                            </p:childTnLst>
                          </p:cTn>
                        </p:par>
                        <p:par>
                          <p:cTn id="22" fill="hold" nodeType="afterGroup">
                            <p:stCondLst>
                              <p:cond delay="500"/>
                            </p:stCondLst>
                            <p:childTnLst>
                              <p:par>
                                <p:cTn id="23" presetID="2" presetClass="entr" presetSubtype="2" fill="hold" nodeType="afterEffect">
                                  <p:stCondLst>
                                    <p:cond delay="0"/>
                                  </p:stCondLst>
                                  <p:childTnLst>
                                    <p:set>
                                      <p:cBhvr>
                                        <p:cTn id="24" dur="1" fill="hold">
                                          <p:stCondLst>
                                            <p:cond delay="0"/>
                                          </p:stCondLst>
                                        </p:cTn>
                                        <p:tgtEl>
                                          <p:spTgt spid="434359"/>
                                        </p:tgtEl>
                                        <p:attrNameLst>
                                          <p:attrName>style.visibility</p:attrName>
                                        </p:attrNameLst>
                                      </p:cBhvr>
                                      <p:to>
                                        <p:strVal val="visible"/>
                                      </p:to>
                                    </p:set>
                                    <p:anim calcmode="lin" valueType="num">
                                      <p:cBhvr additive="base">
                                        <p:cTn id="25" dur="500" fill="hold"/>
                                        <p:tgtEl>
                                          <p:spTgt spid="434359"/>
                                        </p:tgtEl>
                                        <p:attrNameLst>
                                          <p:attrName>ppt_x</p:attrName>
                                        </p:attrNameLst>
                                      </p:cBhvr>
                                      <p:tavLst>
                                        <p:tav tm="0">
                                          <p:val>
                                            <p:strVal val="1+#ppt_w/2"/>
                                          </p:val>
                                        </p:tav>
                                        <p:tav tm="100000">
                                          <p:val>
                                            <p:strVal val="#ppt_x"/>
                                          </p:val>
                                        </p:tav>
                                      </p:tavLst>
                                    </p:anim>
                                    <p:anim calcmode="lin" valueType="num">
                                      <p:cBhvr additive="base">
                                        <p:cTn id="26" dur="500" fill="hold"/>
                                        <p:tgtEl>
                                          <p:spTgt spid="434359"/>
                                        </p:tgtEl>
                                        <p:attrNameLst>
                                          <p:attrName>ppt_y</p:attrName>
                                        </p:attrNameLst>
                                      </p:cBhvr>
                                      <p:tavLst>
                                        <p:tav tm="0">
                                          <p:val>
                                            <p:strVal val="#ppt_y"/>
                                          </p:val>
                                        </p:tav>
                                        <p:tav tm="100000">
                                          <p:val>
                                            <p:strVal val="#ppt_y"/>
                                          </p:val>
                                        </p:tav>
                                      </p:tavLst>
                                    </p:anim>
                                  </p:childTnLst>
                                </p:cTn>
                              </p:par>
                              <p:par>
                                <p:cTn id="27" presetID="2" presetClass="entr" presetSubtype="2" fill="hold" nodeType="withEffect">
                                  <p:stCondLst>
                                    <p:cond delay="0"/>
                                  </p:stCondLst>
                                  <p:childTnLst>
                                    <p:set>
                                      <p:cBhvr>
                                        <p:cTn id="28" dur="1" fill="hold">
                                          <p:stCondLst>
                                            <p:cond delay="0"/>
                                          </p:stCondLst>
                                        </p:cTn>
                                        <p:tgtEl>
                                          <p:spTgt spid="434337"/>
                                        </p:tgtEl>
                                        <p:attrNameLst>
                                          <p:attrName>style.visibility</p:attrName>
                                        </p:attrNameLst>
                                      </p:cBhvr>
                                      <p:to>
                                        <p:strVal val="visible"/>
                                      </p:to>
                                    </p:set>
                                    <p:anim calcmode="lin" valueType="num">
                                      <p:cBhvr additive="base">
                                        <p:cTn id="29" dur="500" fill="hold"/>
                                        <p:tgtEl>
                                          <p:spTgt spid="434337"/>
                                        </p:tgtEl>
                                        <p:attrNameLst>
                                          <p:attrName>ppt_x</p:attrName>
                                        </p:attrNameLst>
                                      </p:cBhvr>
                                      <p:tavLst>
                                        <p:tav tm="0">
                                          <p:val>
                                            <p:strVal val="1+#ppt_w/2"/>
                                          </p:val>
                                        </p:tav>
                                        <p:tav tm="100000">
                                          <p:val>
                                            <p:strVal val="#ppt_x"/>
                                          </p:val>
                                        </p:tav>
                                      </p:tavLst>
                                    </p:anim>
                                    <p:anim calcmode="lin" valueType="num">
                                      <p:cBhvr additive="base">
                                        <p:cTn id="30" dur="500" fill="hold"/>
                                        <p:tgtEl>
                                          <p:spTgt spid="434337"/>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nodeType="clickEffect">
                                  <p:stCondLst>
                                    <p:cond delay="0"/>
                                  </p:stCondLst>
                                  <p:childTnLst>
                                    <p:set>
                                      <p:cBhvr>
                                        <p:cTn id="34" dur="1" fill="hold">
                                          <p:stCondLst>
                                            <p:cond delay="0"/>
                                          </p:stCondLst>
                                        </p:cTn>
                                        <p:tgtEl>
                                          <p:spTgt spid="434179">
                                            <p:txEl>
                                              <p:pRg st="4" end="4"/>
                                            </p:txEl>
                                          </p:spTgt>
                                        </p:tgtEl>
                                        <p:attrNameLst>
                                          <p:attrName>style.visibility</p:attrName>
                                        </p:attrNameLst>
                                      </p:cBhvr>
                                      <p:to>
                                        <p:strVal val="visible"/>
                                      </p:to>
                                    </p:set>
                                    <p:animEffect transition="in" filter="slide(fromBottom)">
                                      <p:cBhvr>
                                        <p:cTn id="35" dur="500"/>
                                        <p:tgtEl>
                                          <p:spTgt spid="4341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AutoShape 2"/>
          <p:cNvSpPr>
            <a:spLocks noGrp="1" noChangeArrowheads="1"/>
          </p:cNvSpPr>
          <p:nvPr>
            <p:ph type="title"/>
          </p:nvPr>
        </p:nvSpPr>
        <p:spPr/>
        <p:txBody>
          <a:bodyPr/>
          <a:lstStyle/>
          <a:p>
            <a:r>
              <a:rPr lang="en-US" altLang="vi-VN"/>
              <a:t>SO SÁNH ĐỘ CHÍNH XÁC</a:t>
            </a:r>
          </a:p>
        </p:txBody>
      </p:sp>
      <p:sp>
        <p:nvSpPr>
          <p:cNvPr id="458755" name="Rectangle 3"/>
          <p:cNvSpPr>
            <a:spLocks noGrp="1" noChangeArrowheads="1"/>
          </p:cNvSpPr>
          <p:nvPr>
            <p:ph type="body" idx="1"/>
          </p:nvPr>
        </p:nvSpPr>
        <p:spPr>
          <a:xfrm>
            <a:off x="838200" y="1981200"/>
            <a:ext cx="8001000" cy="4572000"/>
          </a:xfrm>
        </p:spPr>
        <p:txBody>
          <a:bodyPr/>
          <a:lstStyle/>
          <a:p>
            <a:pPr>
              <a:lnSpc>
                <a:spcPct val="90000"/>
              </a:lnSpc>
            </a:pPr>
            <a:r>
              <a:rPr lang="en-US" altLang="vi-VN" sz="2000" b="1"/>
              <a:t>Do số ngăn của một ô nhớ bị hạn chế nên biểu diễn sẽ mắc sai số làm tròn. Có hai loại sai số: với số x được xấp xỉ bằng x’ thì |x-x’| gọi là sai số tuyệt đối, còn |(x-x’)/x| được gọi là sai số tương đối</a:t>
            </a:r>
          </a:p>
          <a:p>
            <a:pPr>
              <a:lnSpc>
                <a:spcPct val="90000"/>
              </a:lnSpc>
            </a:pPr>
            <a:r>
              <a:rPr lang="en-US" altLang="vi-VN" sz="2000" b="1"/>
              <a:t>Với dấu phảy tĩnh trong chế độ số nguyên, sai số tuyệt đối luôn là 1, còn sai số tương đối là có thể lớn tuỳ theo số nhỏ hay lơn. </a:t>
            </a:r>
          </a:p>
          <a:p>
            <a:pPr>
              <a:lnSpc>
                <a:spcPct val="90000"/>
              </a:lnSpc>
            </a:pPr>
            <a:r>
              <a:rPr lang="en-US" altLang="vi-VN" sz="2000" b="1"/>
              <a:t>Với số dấu phảy động với m ngăn cho phần định trị và nngăn cho phần bậc sai số tương đối do làm tròn luôn luôn không quá 10</a:t>
            </a:r>
            <a:r>
              <a:rPr lang="en-US" altLang="vi-VN" sz="2000" b="1" baseline="30000"/>
              <a:t>-111..1 (n so),</a:t>
            </a:r>
            <a:r>
              <a:rPr lang="en-US" altLang="vi-VN" sz="2000" b="1"/>
              <a:t> , cò</a:t>
            </a:r>
            <a:r>
              <a:rPr lang="en-US" altLang="vi-VN" sz="2000"/>
              <a:t> n </a:t>
            </a:r>
            <a:r>
              <a:rPr lang="en-US" altLang="vi-VN" sz="2000" b="1"/>
              <a:t>sai số tương đối bị khuếch đại bới phần bậc có thể lên tới </a:t>
            </a:r>
            <a:r>
              <a:rPr lang="en-US" altLang="vi-VN" sz="3200" b="1" baseline="-25000"/>
              <a:t>10</a:t>
            </a:r>
            <a:r>
              <a:rPr lang="en-US" altLang="vi-VN" sz="2000" b="1"/>
              <a:t>10</a:t>
            </a:r>
            <a:r>
              <a:rPr lang="en-US" altLang="vi-VN" sz="2000" b="1" baseline="30000"/>
              <a:t>n</a:t>
            </a:r>
            <a:r>
              <a:rPr lang="en-US" altLang="vi-VN" sz="2000" b="1"/>
              <a:t>-1 </a:t>
            </a:r>
          </a:p>
          <a:p>
            <a:pPr>
              <a:lnSpc>
                <a:spcPct val="90000"/>
              </a:lnSpc>
            </a:pPr>
            <a:r>
              <a:rPr lang="en-US" altLang="vi-VN" sz="2000" b="1"/>
              <a:t>Sai số tuyệt đối có thể lớn nhưng sai số tương đối thì rất tốt. Chính vì vậy trong các bài toán tính toán gần đúng, biểu diễn dấu phảy động rất phù hợp</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008231497"/>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458755">
                                            <p:txEl>
                                              <p:pRg st="1" end="1"/>
                                            </p:txEl>
                                          </p:spTgt>
                                        </p:tgtEl>
                                        <p:attrNameLst>
                                          <p:attrName>style.visibility</p:attrName>
                                        </p:attrNameLst>
                                      </p:cBhvr>
                                      <p:to>
                                        <p:strVal val="visible"/>
                                      </p:to>
                                    </p:set>
                                    <p:animEffect transition="in" filter="slide(fromBottom)">
                                      <p:cBhvr>
                                        <p:cTn id="7" dur="500"/>
                                        <p:tgtEl>
                                          <p:spTgt spid="45875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458755">
                                            <p:txEl>
                                              <p:pRg st="2" end="2"/>
                                            </p:txEl>
                                          </p:spTgt>
                                        </p:tgtEl>
                                        <p:attrNameLst>
                                          <p:attrName>style.visibility</p:attrName>
                                        </p:attrNameLst>
                                      </p:cBhvr>
                                      <p:to>
                                        <p:strVal val="visible"/>
                                      </p:to>
                                    </p:set>
                                    <p:animEffect transition="in" filter="slide(fromBottom)">
                                      <p:cBhvr>
                                        <p:cTn id="12" dur="500"/>
                                        <p:tgtEl>
                                          <p:spTgt spid="45875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458755">
                                            <p:txEl>
                                              <p:pRg st="3" end="3"/>
                                            </p:txEl>
                                          </p:spTgt>
                                        </p:tgtEl>
                                        <p:attrNameLst>
                                          <p:attrName>style.visibility</p:attrName>
                                        </p:attrNameLst>
                                      </p:cBhvr>
                                      <p:to>
                                        <p:strVal val="visible"/>
                                      </p:to>
                                    </p:set>
                                    <p:animEffect transition="in" filter="slide(fromBottom)">
                                      <p:cBhvr>
                                        <p:cTn id="17" dur="500"/>
                                        <p:tgtEl>
                                          <p:spTgt spid="4587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AutoShape 2"/>
          <p:cNvSpPr>
            <a:spLocks noGrp="1" noChangeArrowheads="1"/>
          </p:cNvSpPr>
          <p:nvPr>
            <p:ph type="title"/>
          </p:nvPr>
        </p:nvSpPr>
        <p:spPr/>
        <p:txBody>
          <a:bodyPr/>
          <a:lstStyle/>
          <a:p>
            <a:r>
              <a:rPr lang="en-US" altLang="vi-VN" sz="3200"/>
              <a:t>SỐ DẤU PHẢY ĐỘNG CHUẨN IEEE 754</a:t>
            </a:r>
          </a:p>
        </p:txBody>
      </p:sp>
      <p:sp>
        <p:nvSpPr>
          <p:cNvPr id="456734" name="Text Box 30"/>
          <p:cNvSpPr txBox="1">
            <a:spLocks noChangeArrowheads="1"/>
          </p:cNvSpPr>
          <p:nvPr/>
        </p:nvSpPr>
        <p:spPr bwMode="auto">
          <a:xfrm>
            <a:off x="838200" y="1905000"/>
            <a:ext cx="7696200" cy="25304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vi-VN" sz="2000" b="1"/>
              <a:t>Chuẩn IEEE 754 là một chuẩn được sử dụng rộng rãi nhất hiện nay cho tính toán dấu phảy động. Chuẩn này định nghĩa định dạng và cách thực hiện các phép tính trên các số phảy động trong đó có cả số 0 với dấu âm, các số không chuẩn hoá, các giá trị đặc biệt như vô hạn và giá trị không phải số (NaNs). Chuẩn cũng xác định 4 kiểu làm tròn số và 5 ngoại lệ. Bit cao nhất là dấu của số, sau đó là phần bậc, cuối cùng là phần định trị.</a:t>
            </a:r>
          </a:p>
        </p:txBody>
      </p:sp>
      <p:pic>
        <p:nvPicPr>
          <p:cNvPr id="456738" name="Picture 34" descr="Image:General_floating_point.PNG">
            <a:hlinkClick r:id="rId2" tooltip="Image:General_floating_point.PNG"/>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114800"/>
            <a:ext cx="6248400" cy="128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6739" name="Picture 35" descr="Image:Float_example.PNG">
            <a:hlinkClick r:id="rId4" tooltip="Image:Float_example.PNG"/>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4950" y="5486400"/>
            <a:ext cx="7239000"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r>
              <a:rPr lang="vi-VN" altLang="vi-VN" smtClean="0"/>
              <a:t>Trung tâm máy tính, Trường Đại học Công nghệ, ĐHQGHN</a:t>
            </a:r>
            <a:endParaRPr lang="en-US" altLang="vi-VN"/>
          </a:p>
        </p:txBody>
      </p:sp>
    </p:spTree>
    <p:extLst>
      <p:ext uri="{BB962C8B-B14F-4D97-AF65-F5344CB8AC3E}">
        <p14:creationId xmlns:p14="http://schemas.microsoft.com/office/powerpoint/2010/main" val="3145893579"/>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AutoShape 2"/>
          <p:cNvSpPr>
            <a:spLocks noGrp="1" noChangeArrowheads="1"/>
          </p:cNvSpPr>
          <p:nvPr>
            <p:ph type="title"/>
          </p:nvPr>
        </p:nvSpPr>
        <p:spPr/>
        <p:txBody>
          <a:bodyPr/>
          <a:lstStyle/>
          <a:p>
            <a:r>
              <a:rPr lang="en-US" altLang="vi-VN" sz="3200"/>
              <a:t>SỐ DẤU PHẢY ĐỘNG CHUẨN IEEE 754</a:t>
            </a:r>
          </a:p>
        </p:txBody>
      </p:sp>
      <p:sp>
        <p:nvSpPr>
          <p:cNvPr id="457734" name="Rectangle 6"/>
          <p:cNvSpPr>
            <a:spLocks noChangeArrowheads="1"/>
          </p:cNvSpPr>
          <p:nvPr/>
        </p:nvSpPr>
        <p:spPr bwMode="auto">
          <a:xfrm>
            <a:off x="0" y="2605088"/>
            <a:ext cx="9144000" cy="0"/>
          </a:xfrm>
          <a:prstGeom prst="rect">
            <a:avLst/>
          </a:prstGeom>
          <a:solidFill>
            <a:srgbClr val="F9F9F9"/>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vi-VN"/>
          </a:p>
        </p:txBody>
      </p:sp>
      <p:graphicFrame>
        <p:nvGraphicFramePr>
          <p:cNvPr id="457885" name="Group 157"/>
          <p:cNvGraphicFramePr>
            <a:graphicFrameLocks noGrp="1"/>
          </p:cNvGraphicFramePr>
          <p:nvPr/>
        </p:nvGraphicFramePr>
        <p:xfrm>
          <a:off x="1143000" y="2209800"/>
          <a:ext cx="7467600" cy="4343400"/>
        </p:xfrm>
        <a:graphic>
          <a:graphicData uri="http://schemas.openxmlformats.org/drawingml/2006/table">
            <a:tbl>
              <a:tblPr/>
              <a:tblGrid>
                <a:gridCol w="3536950"/>
                <a:gridCol w="1784350"/>
                <a:gridCol w="2146300"/>
              </a:tblGrid>
              <a:tr h="723900">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Ki</a:t>
                      </a:r>
                      <a:r>
                        <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ểu</a:t>
                      </a: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2F2F2"/>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Ph</a:t>
                      </a:r>
                      <a:r>
                        <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ần bậc</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1600" b="0"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Exponent</a:t>
                      </a: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2F2F2"/>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Ph</a:t>
                      </a:r>
                      <a:r>
                        <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ần định trị</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1600" b="0"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Mantissa</a:t>
                      </a: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2F2F2"/>
                    </a:solidFill>
                  </a:tcPr>
                </a:tc>
              </a:tr>
              <a:tr h="723900">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S</a:t>
                      </a:r>
                      <a:r>
                        <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ố 0 (</a:t>
                      </a:r>
                      <a:r>
                        <a:rPr kumimoji="0" lang="en-US" altLang="vi-VN" sz="18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Zeroes)</a:t>
                      </a: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0</a:t>
                      </a:r>
                      <a:endPar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0</a:t>
                      </a:r>
                      <a:endPar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r>
              <a:tr h="723900">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C</a:t>
                      </a:r>
                      <a:r>
                        <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ác số không chuẩn hoá (</a:t>
                      </a:r>
                      <a:r>
                        <a:rPr kumimoji="0" lang="en-US" altLang="vi-VN" sz="18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Denormalized numbers)</a:t>
                      </a: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0</a:t>
                      </a:r>
                      <a:endPar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a:t>
                      </a:r>
                      <a:r>
                        <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 0</a:t>
                      </a: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r>
              <a:tr h="723900">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C</a:t>
                      </a:r>
                      <a:r>
                        <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ác số chuẩn hoá</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vi-VN" sz="18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(Normalized numbers)</a:t>
                      </a: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1 to 2</a:t>
                      </a:r>
                      <a:r>
                        <a:rPr kumimoji="0" lang="en-US" altLang="vi-VN" sz="2000" b="1" i="1" u="none" strike="noStrike" cap="none" normalizeH="0" baseline="30000" smtClean="0">
                          <a:ln>
                            <a:noFill/>
                          </a:ln>
                          <a:solidFill>
                            <a:schemeClr val="tx1"/>
                          </a:solidFill>
                          <a:effectLst/>
                          <a:latin typeface="Arial" panose="020B0604020202020204" pitchFamily="34" charset="0"/>
                          <a:cs typeface="Times New Roman" panose="02020603050405020304" pitchFamily="18" charset="0"/>
                        </a:rPr>
                        <a:t>e</a:t>
                      </a: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 − 2</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18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(1 -1111...110)</a:t>
                      </a: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b</a:t>
                      </a:r>
                      <a:r>
                        <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ất kỳ</a:t>
                      </a: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r>
              <a:tr h="723900">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V</a:t>
                      </a:r>
                      <a:r>
                        <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ô hạn (</a:t>
                      </a:r>
                      <a:r>
                        <a:rPr kumimoji="0" lang="en-US" altLang="vi-VN" sz="18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Infinities)</a:t>
                      </a: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2</a:t>
                      </a:r>
                      <a:r>
                        <a:rPr kumimoji="0" lang="en-US" altLang="vi-VN" sz="2000" b="1" i="1" u="none" strike="noStrike" cap="none" normalizeH="0" baseline="30000" smtClean="0">
                          <a:ln>
                            <a:noFill/>
                          </a:ln>
                          <a:solidFill>
                            <a:schemeClr val="tx1"/>
                          </a:solidFill>
                          <a:effectLst/>
                          <a:latin typeface="Arial" panose="020B0604020202020204" pitchFamily="34" charset="0"/>
                          <a:cs typeface="Times New Roman" panose="02020603050405020304" pitchFamily="18" charset="0"/>
                        </a:rPr>
                        <a:t>e</a:t>
                      </a: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 − 1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18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(1111...111)</a:t>
                      </a:r>
                      <a:endParaRPr kumimoji="0" lang="en-US" altLang="vi-VN"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0</a:t>
                      </a:r>
                      <a:endPar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r>
              <a:tr h="723900">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Kh</a:t>
                      </a:r>
                      <a:r>
                        <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ông phải số (</a:t>
                      </a:r>
                      <a:r>
                        <a:rPr kumimoji="0" lang="en-US" altLang="vi-VN" sz="18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NaNs)</a:t>
                      </a: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2</a:t>
                      </a:r>
                      <a:r>
                        <a:rPr kumimoji="0" lang="en-US" altLang="vi-VN" sz="2000" b="1" i="1" u="none" strike="noStrike" cap="none" normalizeH="0" baseline="30000" smtClean="0">
                          <a:ln>
                            <a:noFill/>
                          </a:ln>
                          <a:solidFill>
                            <a:schemeClr val="tx1"/>
                          </a:solidFill>
                          <a:effectLst/>
                          <a:latin typeface="Arial" panose="020B0604020202020204" pitchFamily="34" charset="0"/>
                          <a:cs typeface="Times New Roman" panose="02020603050405020304" pitchFamily="18" charset="0"/>
                        </a:rPr>
                        <a:t>e</a:t>
                      </a: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 − 1</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18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(1111...111)</a:t>
                      </a:r>
                      <a:endPar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c>
                  <a:txBody>
                    <a:bodyPr/>
                    <a:lstStyle>
                      <a:lvl1pPr algn="l">
                        <a:spcBef>
                          <a:spcPct val="20000"/>
                        </a:spcBef>
                        <a:buClr>
                          <a:schemeClr val="tx1"/>
                        </a:buClr>
                        <a:buSzPct val="75000"/>
                        <a:buFont typeface="Wingdings" panose="05000000000000000000" pitchFamily="2" charset="2"/>
                        <a:defRPr sz="2400">
                          <a:solidFill>
                            <a:schemeClr val="tx1"/>
                          </a:solidFill>
                          <a:latin typeface="Arial" panose="020B0604020202020204" pitchFamily="34" charset="0"/>
                          <a:cs typeface="Arial" panose="020B0604020202020204" pitchFamily="34" charset="0"/>
                        </a:defRPr>
                      </a:lvl1pPr>
                      <a:lvl2pPr algn="l">
                        <a:spcBef>
                          <a:spcPct val="20000"/>
                        </a:spcBef>
                        <a:buClr>
                          <a:schemeClr val="tx1"/>
                        </a:buClr>
                        <a:buSzPct val="75000"/>
                        <a:defRPr sz="2000">
                          <a:solidFill>
                            <a:schemeClr val="tx1"/>
                          </a:solidFill>
                          <a:latin typeface="Arial" panose="020B0604020202020204" pitchFamily="34" charset="0"/>
                          <a:cs typeface="Arial" panose="020B0604020202020204" pitchFamily="34" charset="0"/>
                        </a:defRPr>
                      </a:lvl2pPr>
                      <a:lvl3pPr algn="l">
                        <a:spcBef>
                          <a:spcPct val="20000"/>
                        </a:spcBef>
                        <a:buClr>
                          <a:schemeClr val="tx1"/>
                        </a:buClr>
                        <a:buSzPct val="7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algn="l">
                        <a:spcBef>
                          <a:spcPct val="20000"/>
                        </a:spcBef>
                        <a:buClr>
                          <a:schemeClr val="tx1"/>
                        </a:buClr>
                        <a:buSzPct val="80000"/>
                        <a:defRPr sz="1600">
                          <a:solidFill>
                            <a:schemeClr val="tx1"/>
                          </a:solidFill>
                          <a:latin typeface="Arial" panose="020B0604020202020204" pitchFamily="34" charset="0"/>
                          <a:cs typeface="Arial" panose="020B0604020202020204" pitchFamily="34" charset="0"/>
                        </a:defRPr>
                      </a:lvl4pPr>
                      <a:lvl5pPr algn="l">
                        <a:spcBef>
                          <a:spcPct val="20000"/>
                        </a:spcBef>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buClr>
                          <a:schemeClr val="tx1"/>
                        </a:buClr>
                        <a:buSzPct val="65000"/>
                        <a:buFont typeface="Wingdings" panose="05000000000000000000" pitchFamily="2" charset="2"/>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vi-VN" sz="2000" b="1" i="0" u="none" strike="noStrike" cap="none" normalizeH="0" baseline="0" smtClean="0">
                          <a:ln>
                            <a:noFill/>
                          </a:ln>
                          <a:solidFill>
                            <a:schemeClr val="tx1"/>
                          </a:solidFill>
                          <a:effectLst/>
                          <a:latin typeface="Arial" panose="020B0604020202020204" pitchFamily="34" charset="0"/>
                          <a:cs typeface="Times New Roman" panose="02020603050405020304" pitchFamily="18" charset="0"/>
                        </a:rPr>
                        <a:t>≠</a:t>
                      </a:r>
                      <a:r>
                        <a:rPr kumimoji="0" lang="en-US" altLang="vi-VN" sz="20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 0</a:t>
                      </a:r>
                    </a:p>
                  </a:txBody>
                  <a:tcPr anchor="ctr" horzOverflow="overflow">
                    <a:lnL w="12700" cap="flat" cmpd="sng" algn="ctr">
                      <a:solidFill>
                        <a:srgbClr val="AAAAAA"/>
                      </a:solidFill>
                      <a:prstDash val="solid"/>
                      <a:round/>
                      <a:headEnd type="none" w="med" len="med"/>
                      <a:tailEnd type="none" w="med" len="med"/>
                    </a:lnL>
                    <a:lnR w="12700" cap="flat" cmpd="sng" algn="ctr">
                      <a:solidFill>
                        <a:srgbClr val="AAAAAA"/>
                      </a:solidFill>
                      <a:prstDash val="solid"/>
                      <a:round/>
                      <a:headEnd type="none" w="med" len="med"/>
                      <a:tailEnd type="none" w="med" len="med"/>
                    </a:lnR>
                    <a:lnT w="12700" cap="flat" cmpd="sng" algn="ctr">
                      <a:solidFill>
                        <a:srgbClr val="AAAAAA"/>
                      </a:solidFill>
                      <a:prstDash val="solid"/>
                      <a:round/>
                      <a:headEnd type="none" w="med" len="med"/>
                      <a:tailEnd type="none" w="med" len="med"/>
                    </a:lnT>
                    <a:lnB w="12700" cap="flat" cmpd="sng" algn="ctr">
                      <a:solidFill>
                        <a:srgbClr val="AAAAAA"/>
                      </a:solidFill>
                      <a:prstDash val="solid"/>
                      <a:round/>
                      <a:headEnd type="none" w="med" len="med"/>
                      <a:tailEnd type="none" w="med" len="med"/>
                    </a:lnB>
                    <a:lnTlToBr>
                      <a:noFill/>
                    </a:lnTlToBr>
                    <a:lnBlToTr>
                      <a:noFill/>
                    </a:lnBlToTr>
                    <a:solidFill>
                      <a:srgbClr val="F9F9F9"/>
                    </a:solidFill>
                  </a:tcPr>
                </a:tc>
              </a:tr>
            </a:tbl>
          </a:graphicData>
        </a:graphic>
      </p:graphicFrame>
      <p:sp>
        <p:nvSpPr>
          <p:cNvPr id="2" name="Footer Placeholder 1"/>
          <p:cNvSpPr>
            <a:spLocks noGrp="1"/>
          </p:cNvSpPr>
          <p:nvPr>
            <p:ph type="ftr" sz="quarter" idx="11"/>
          </p:nvPr>
        </p:nvSpPr>
        <p:spPr/>
        <p:txBody>
          <a:bodyPr/>
          <a:lstStyle/>
          <a:p>
            <a:r>
              <a:rPr lang="vi-VN" altLang="vi-VN" smtClean="0"/>
              <a:t>Trung tâm máy tính, Trường Đại học Công nghệ, ĐHQGHN</a:t>
            </a:r>
            <a:endParaRPr lang="en-US" altLang="vi-VN"/>
          </a:p>
        </p:txBody>
      </p:sp>
    </p:spTree>
    <p:extLst>
      <p:ext uri="{BB962C8B-B14F-4D97-AF65-F5344CB8AC3E}">
        <p14:creationId xmlns:p14="http://schemas.microsoft.com/office/powerpoint/2010/main" val="3566874731"/>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AutoShape 2"/>
          <p:cNvSpPr>
            <a:spLocks noGrp="1" noChangeArrowheads="1"/>
          </p:cNvSpPr>
          <p:nvPr>
            <p:ph type="title"/>
          </p:nvPr>
        </p:nvSpPr>
        <p:spPr/>
        <p:txBody>
          <a:bodyPr/>
          <a:lstStyle/>
          <a:p>
            <a:r>
              <a:rPr lang="en-US" altLang="vi-VN"/>
              <a:t>BIỂU DIỄN CHỮ VÀ VĂN BẢN</a:t>
            </a:r>
          </a:p>
        </p:txBody>
      </p:sp>
      <p:sp>
        <p:nvSpPr>
          <p:cNvPr id="435203" name="Rectangle 3"/>
          <p:cNvSpPr>
            <a:spLocks noGrp="1" noChangeArrowheads="1"/>
          </p:cNvSpPr>
          <p:nvPr>
            <p:ph type="body" idx="1"/>
          </p:nvPr>
        </p:nvSpPr>
        <p:spPr>
          <a:xfrm>
            <a:off x="838200" y="1905000"/>
            <a:ext cx="7693025" cy="4800600"/>
          </a:xfrm>
        </p:spPr>
        <p:txBody>
          <a:bodyPr/>
          <a:lstStyle/>
          <a:p>
            <a:pPr>
              <a:lnSpc>
                <a:spcPct val="80000"/>
              </a:lnSpc>
            </a:pPr>
            <a:r>
              <a:rPr lang="en-US" altLang="vi-VN" sz="2000" b="1"/>
              <a:t>Với k bít, có thể biểu diễn 2</a:t>
            </a:r>
            <a:r>
              <a:rPr lang="en-US" altLang="vi-VN" sz="2000" b="1" baseline="30000"/>
              <a:t>k</a:t>
            </a:r>
            <a:r>
              <a:rPr lang="en-US" altLang="vi-VN" sz="2000" b="1"/>
              <a:t> mã khác nhau. Ta dùng thuật ngữ ký tự (character) để chỉ một biểu diễn cho một ký hiệu phân biệt với chữ (letter) thông thường mà letter cũng chi là một loại ký tự giống như chữ số, các dấu chính tả và các dấu đặc biệt khác</a:t>
            </a:r>
          </a:p>
          <a:p>
            <a:pPr>
              <a:lnSpc>
                <a:spcPct val="80000"/>
              </a:lnSpc>
            </a:pPr>
            <a:r>
              <a:rPr lang="en-US" altLang="vi-VN" sz="2000" b="1"/>
              <a:t>Bộ mã Mã EBCDIC (Extended Binary Coded Decimal Interchange Code)  trong những năm 70 dùng 6 bit có thể mã được 64 ký tự</a:t>
            </a:r>
          </a:p>
          <a:p>
            <a:pPr>
              <a:lnSpc>
                <a:spcPct val="80000"/>
              </a:lnSpc>
            </a:pPr>
            <a:r>
              <a:rPr lang="en-US" altLang="vi-VN" sz="2000" b="1"/>
              <a:t>Bộ mã ASCII (American Standard Codes for Information Interchange) dùng 7 bít cho phép biểu diễn 128 kì tự (32 mã đầu tiên dùng cho các mã điều khiển và truyền thông, tiếp theo là các dấu chính tả, các chữ số, các chữ thường, các chữ in và các dấu đặc biệt). </a:t>
            </a:r>
          </a:p>
          <a:p>
            <a:pPr>
              <a:lnSpc>
                <a:spcPct val="80000"/>
              </a:lnSpc>
            </a:pPr>
            <a:r>
              <a:rPr lang="en-US" altLang="vi-VN" sz="2000" b="1"/>
              <a:t>Bộ mã ASCII mở rộng dùng 1 byte cho một ký tự nên có khả năng biểu diễn 256 ký tự. 128 chỗ vùng tiếp theo có thể cho chữ của các nước châu Âu, chữ Hy lạp hoặc bất cứ một bộ chữ nào như tiếng Việt hay ngôn ngữ Slavơ, nhưng không thể đủ cho tiếng Trung Quốc hay Nhật Bản</a:t>
            </a:r>
          </a:p>
          <a:p>
            <a:pPr>
              <a:lnSpc>
                <a:spcPct val="80000"/>
              </a:lnSpc>
              <a:buFont typeface="Wingdings" panose="05000000000000000000" pitchFamily="2" charset="2"/>
              <a:buNone/>
            </a:pPr>
            <a:endParaRPr lang="en-US" altLang="vi-VN" sz="2000" b="1"/>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75566514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435203">
                                            <p:txEl>
                                              <p:pRg st="1" end="1"/>
                                            </p:txEl>
                                          </p:spTgt>
                                        </p:tgtEl>
                                        <p:attrNameLst>
                                          <p:attrName>style.visibility</p:attrName>
                                        </p:attrNameLst>
                                      </p:cBhvr>
                                      <p:to>
                                        <p:strVal val="visible"/>
                                      </p:to>
                                    </p:set>
                                    <p:animEffect transition="in" filter="slide(fromBottom)">
                                      <p:cBhvr>
                                        <p:cTn id="7" dur="500"/>
                                        <p:tgtEl>
                                          <p:spTgt spid="4352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435203">
                                            <p:txEl>
                                              <p:pRg st="2" end="2"/>
                                            </p:txEl>
                                          </p:spTgt>
                                        </p:tgtEl>
                                        <p:attrNameLst>
                                          <p:attrName>style.visibility</p:attrName>
                                        </p:attrNameLst>
                                      </p:cBhvr>
                                      <p:to>
                                        <p:strVal val="visible"/>
                                      </p:to>
                                    </p:set>
                                    <p:animEffect transition="in" filter="slide(fromBottom)">
                                      <p:cBhvr>
                                        <p:cTn id="12" dur="500"/>
                                        <p:tgtEl>
                                          <p:spTgt spid="43520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435203">
                                            <p:txEl>
                                              <p:pRg st="3" end="3"/>
                                            </p:txEl>
                                          </p:spTgt>
                                        </p:tgtEl>
                                        <p:attrNameLst>
                                          <p:attrName>style.visibility</p:attrName>
                                        </p:attrNameLst>
                                      </p:cBhvr>
                                      <p:to>
                                        <p:strVal val="visible"/>
                                      </p:to>
                                    </p:set>
                                    <p:animEffect transition="in" filter="slide(fromBottom)">
                                      <p:cBhvr>
                                        <p:cTn id="17" dur="500"/>
                                        <p:tgtEl>
                                          <p:spTgt spid="4352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3880"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209800"/>
            <a:ext cx="7696200" cy="4419600"/>
          </a:xfrm>
          <a:prstGeom prst="rect">
            <a:avLst/>
          </a:prstGeom>
          <a:noFill/>
          <a:extLst>
            <a:ext uri="{909E8E84-426E-40DD-AFC4-6F175D3DCCD1}">
              <a14:hiddenFill xmlns:a14="http://schemas.microsoft.com/office/drawing/2010/main">
                <a:solidFill>
                  <a:srgbClr val="FFFFFF"/>
                </a:solidFill>
              </a14:hiddenFill>
            </a:ext>
          </a:extLst>
        </p:spPr>
      </p:pic>
      <p:sp>
        <p:nvSpPr>
          <p:cNvPr id="463874" name="AutoShape 2"/>
          <p:cNvSpPr>
            <a:spLocks noGrp="1" noChangeArrowheads="1"/>
          </p:cNvSpPr>
          <p:nvPr>
            <p:ph type="title"/>
          </p:nvPr>
        </p:nvSpPr>
        <p:spPr/>
        <p:txBody>
          <a:bodyPr/>
          <a:lstStyle/>
          <a:p>
            <a:r>
              <a:rPr lang="en-US" altLang="vi-VN"/>
              <a:t>BẢNG CHỮ ASCII (128 ký tự đầu)</a:t>
            </a:r>
          </a:p>
        </p:txBody>
      </p:sp>
      <p:sp>
        <p:nvSpPr>
          <p:cNvPr id="463878" name="Rectangle 6"/>
          <p:cNvSpPr>
            <a:spLocks noChangeArrowheads="1"/>
          </p:cNvSpPr>
          <p:nvPr/>
        </p:nvSpPr>
        <p:spPr bwMode="auto">
          <a:xfrm>
            <a:off x="1981200" y="2514600"/>
            <a:ext cx="6705600" cy="990600"/>
          </a:xfrm>
          <a:prstGeom prst="rect">
            <a:avLst/>
          </a:prstGeom>
          <a:noFill/>
          <a:ln w="28575" algn="ctr">
            <a:solidFill>
              <a:srgbClr val="CC3300"/>
            </a:solidFill>
            <a:miter lim="800000"/>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63879" name="Rectangle 7"/>
          <p:cNvSpPr>
            <a:spLocks noChangeArrowheads="1"/>
          </p:cNvSpPr>
          <p:nvPr/>
        </p:nvSpPr>
        <p:spPr bwMode="auto">
          <a:xfrm>
            <a:off x="1981200" y="3538538"/>
            <a:ext cx="6705600" cy="990600"/>
          </a:xfrm>
          <a:prstGeom prst="rect">
            <a:avLst/>
          </a:prstGeom>
          <a:noFill/>
          <a:ln w="28575" algn="ctr">
            <a:solidFill>
              <a:srgbClr val="CC3300"/>
            </a:solidFill>
            <a:miter lim="800000"/>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790412021"/>
      </p:ext>
    </p:extLst>
  </p:cSld>
  <p:clrMapOvr>
    <a:masterClrMapping/>
  </p:clrMapOvr>
  <p:transition spd="slow">
    <p:wipe dir="d"/>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AutoShape 2"/>
          <p:cNvSpPr>
            <a:spLocks noGrp="1" noChangeArrowheads="1"/>
          </p:cNvSpPr>
          <p:nvPr>
            <p:ph type="title"/>
          </p:nvPr>
        </p:nvSpPr>
        <p:spPr/>
        <p:txBody>
          <a:bodyPr/>
          <a:lstStyle/>
          <a:p>
            <a:r>
              <a:rPr lang="en-US" altLang="vi-VN"/>
              <a:t>BIỂU DIỄN CHỮ  VỚI UNICODE  </a:t>
            </a:r>
          </a:p>
        </p:txBody>
      </p:sp>
      <p:sp>
        <p:nvSpPr>
          <p:cNvPr id="436227" name="Rectangle 3"/>
          <p:cNvSpPr>
            <a:spLocks noGrp="1" noChangeArrowheads="1"/>
          </p:cNvSpPr>
          <p:nvPr>
            <p:ph type="body" idx="1"/>
          </p:nvPr>
        </p:nvSpPr>
        <p:spPr>
          <a:xfrm>
            <a:off x="838200" y="1905000"/>
            <a:ext cx="8305800" cy="4953000"/>
          </a:xfrm>
        </p:spPr>
        <p:txBody>
          <a:bodyPr/>
          <a:lstStyle/>
          <a:p>
            <a:pPr>
              <a:lnSpc>
                <a:spcPct val="90000"/>
              </a:lnSpc>
            </a:pPr>
            <a:r>
              <a:rPr lang="en-US" altLang="vi-VN" sz="2400" b="1"/>
              <a:t>Đối với quốc gia có bộ chữ lớn (như Trung quốc, Nhật bản) bộ mã 8 bít không đủ chỗ cho tất cả các chữ. Nhật Bản đã đưa ra một dự án lập bộ chữ cho toàn cầu gọi là UNICODE. Bộ chữ được chia trang cho các quốc gia. Mặt chữ nào của một nước nào đã có sẽ được dùng lại tại các phần mềm khác.</a:t>
            </a:r>
          </a:p>
          <a:p>
            <a:pPr>
              <a:lnSpc>
                <a:spcPct val="90000"/>
              </a:lnSpc>
            </a:pPr>
            <a:r>
              <a:rPr lang="en-US" altLang="vi-VN" sz="2400" b="1"/>
              <a:t>Sau này các tổ chức chuẩn chấp nhận UNICODE dưới chuẩn ISO 10646</a:t>
            </a:r>
          </a:p>
          <a:p>
            <a:pPr>
              <a:lnSpc>
                <a:spcPct val="90000"/>
              </a:lnSpc>
            </a:pPr>
            <a:r>
              <a:rPr lang="en-US" altLang="vi-VN" sz="2400" b="1"/>
              <a:t>Mỗi quốc gia có thể nhận các trang mã (code page), mỗi ký tự được thể hiện qua mã của trang mã và số thứ tự (code point) của ký tự đó trong trang mã - một số 2 byte). Trong bảng mã UNICODE, chữ “ơ” có điểm mã là 01A1 (so sánh với bảng mã CP1258 của Microsoft, bảng mã 8 bít, chữ “ơ” có điểm mã F5)</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067381862"/>
      </p:ext>
    </p:extLst>
  </p:cSld>
  <p:clrMapOvr>
    <a:masterClrMapping/>
  </p:clrMapOvr>
  <p:transition spd="slow">
    <p:wipe dir="d"/>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994" name="AutoShape 2"/>
          <p:cNvSpPr>
            <a:spLocks noGrp="1" noChangeArrowheads="1"/>
          </p:cNvSpPr>
          <p:nvPr>
            <p:ph type="title"/>
          </p:nvPr>
        </p:nvSpPr>
        <p:spPr/>
        <p:txBody>
          <a:bodyPr/>
          <a:lstStyle/>
          <a:p>
            <a:r>
              <a:rPr lang="en-US" altLang="vi-VN"/>
              <a:t>MÃ TIẾNG VIỆT</a:t>
            </a:r>
          </a:p>
        </p:txBody>
      </p:sp>
      <p:sp>
        <p:nvSpPr>
          <p:cNvPr id="468995" name="Rectangle 3"/>
          <p:cNvSpPr>
            <a:spLocks noGrp="1" noChangeArrowheads="1"/>
          </p:cNvSpPr>
          <p:nvPr>
            <p:ph type="body" idx="1"/>
          </p:nvPr>
        </p:nvSpPr>
        <p:spPr>
          <a:xfrm>
            <a:off x="838200" y="1905000"/>
            <a:ext cx="8077200" cy="4724400"/>
          </a:xfrm>
        </p:spPr>
        <p:txBody>
          <a:bodyPr/>
          <a:lstStyle/>
          <a:p>
            <a:pPr>
              <a:lnSpc>
                <a:spcPct val="80000"/>
              </a:lnSpc>
            </a:pPr>
            <a:r>
              <a:rPr lang="en-US" altLang="vi-VN" sz="2000" b="1"/>
              <a:t>Từng tồn tại tới 40 mã tiếng Việt 8 bít dẫn đến tình trạng loạn mã, không chia sẻ được dữ liệu. Có 141 ký tự đặc thù Việt Nam không có chỗ (vùng mở rộng chỉ có 128 chỗ)</a:t>
            </a:r>
          </a:p>
          <a:p>
            <a:pPr>
              <a:lnSpc>
                <a:spcPct val="80000"/>
              </a:lnSpc>
            </a:pPr>
            <a:r>
              <a:rPr lang="en-US" altLang="vi-VN" sz="2000" b="1"/>
              <a:t>Năm 1993 xây dựng bộ mã TCVN 5712. Thực chất vẫn là một giải pháp chắp vá với 3 bộ mã khác nhau. Bộ mã 1, chiếm thêm một số chỗ trong vùng mã điều khiển – nguy hiểm cho truyền thông). Bộ mã 2 là bộ mã tổ hợp, dùng một chuối ký tự để thể hiện một mã cho các chữ thuần Việt. Bộ mã 3 hy sinh một số ký tự hoa có dấu ví dụ Ẫ. Cả 3 giải pháp đều không giải quyết được triệt để </a:t>
            </a:r>
          </a:p>
          <a:p>
            <a:pPr>
              <a:lnSpc>
                <a:spcPct val="80000"/>
              </a:lnSpc>
            </a:pPr>
            <a:r>
              <a:rPr lang="en-US" altLang="vi-VN" sz="2000" b="1"/>
              <a:t>Từ 2001, Bộ KHCN đã ban hành tiêu chuẩn TCVN 6909/2001 về việc sử dụng mã UNICODE có hiệu lực từ 1/1/2003. Các cơ quan nhà nước buộc phải dùng bộ mã này trong trao đổi dữ liệu.</a:t>
            </a:r>
          </a:p>
          <a:p>
            <a:pPr>
              <a:lnSpc>
                <a:spcPct val="80000"/>
              </a:lnSpc>
            </a:pPr>
            <a:r>
              <a:rPr lang="en-US" altLang="vi-VN" sz="2000" b="1"/>
              <a:t>TCVN 6909 vẫn chấp nhận cả hai kiểu: mã dựng sẵn (pre-compound) với mỗi ký tự thể hiện bới một mã 2 byte và kiểu tổ hợp cho phép dùng một chuỗi ký tự 8 bít để thể hiện một ký tự </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3594851663"/>
      </p:ext>
    </p:extLst>
  </p:cSld>
  <p:clrMapOvr>
    <a:masterClrMapping/>
  </p:clrMapOvr>
  <p:transition spd="slow">
    <p:wipe dir="d"/>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AutoShape 2"/>
          <p:cNvSpPr>
            <a:spLocks noGrp="1" noChangeArrowheads="1"/>
          </p:cNvSpPr>
          <p:nvPr>
            <p:ph type="title"/>
          </p:nvPr>
        </p:nvSpPr>
        <p:spPr/>
        <p:txBody>
          <a:bodyPr/>
          <a:lstStyle/>
          <a:p>
            <a:r>
              <a:rPr lang="en-US" altLang="vi-VN"/>
              <a:t>BIỂU DIỄN CÁC GIÁ TRỊ LOGIC  </a:t>
            </a:r>
          </a:p>
        </p:txBody>
      </p:sp>
      <p:sp>
        <p:nvSpPr>
          <p:cNvPr id="437251" name="Rectangle 3"/>
          <p:cNvSpPr>
            <a:spLocks noGrp="1" noChangeArrowheads="1"/>
          </p:cNvSpPr>
          <p:nvPr>
            <p:ph type="body" sz="half" idx="1"/>
          </p:nvPr>
        </p:nvSpPr>
        <p:spPr>
          <a:xfrm>
            <a:off x="990600" y="2133600"/>
            <a:ext cx="7391400" cy="4419600"/>
          </a:xfrm>
          <a:noFill/>
          <a:extLst>
            <a:ext uri="{909E8E84-426E-40DD-AFC4-6F175D3DCCD1}">
              <a14:hiddenFill xmlns:a14="http://schemas.microsoft.com/office/drawing/2010/main">
                <a:solidFill>
                  <a:srgbClr val="FFFF66"/>
                </a:solidFill>
              </a14:hiddenFill>
            </a:ext>
          </a:extLst>
        </p:spPr>
        <p:txBody>
          <a:bodyPr/>
          <a:lstStyle/>
          <a:p>
            <a:pPr marL="457200" indent="-457200"/>
            <a:r>
              <a:rPr lang="en-US" altLang="vi-VN" sz="2000" b="1"/>
              <a:t>Trong đời sống, có các loại thông tin mà giá trị của  nó có hai trạng thái đối lập có  thể là “có/không”, “đúng/sai”. Dữ liệu loại này gọi là dữ liệu logic</a:t>
            </a:r>
          </a:p>
          <a:p>
            <a:pPr marL="457200" indent="-457200"/>
            <a:r>
              <a:rPr lang="en-US" altLang="vi-VN" sz="2000" b="1"/>
              <a:t>Các dữ liệu logic có thể tương tác với nhau thông qua các phép toán logic mệnh đề như “Và”, “hoặc”, “không”  </a:t>
            </a:r>
          </a:p>
          <a:p>
            <a:pPr marL="457200" indent="-457200"/>
            <a:r>
              <a:rPr lang="en-US" altLang="vi-VN" sz="2000" b="1"/>
              <a:t>Về nguyên tắc có thể mã hoá các đại lượng logic bằng 1 bít (1 là đúng hoặc có, 0 là sai hoặc không có). Tuy nhiên người ta ít khi làm như thế vì đơn vị nhớ cơ sở là byte. Trong cài đặt cụ thể người ta có thể dung các kí tự như T (true) và F (false) để biểu diễn hai giá trị “đúng” và “sai”</a:t>
            </a:r>
          </a:p>
          <a:p>
            <a:pPr marL="457200" indent="-457200">
              <a:buFont typeface="Wingdings" panose="05000000000000000000" pitchFamily="2" charset="2"/>
              <a:buNone/>
            </a:pPr>
            <a:endParaRPr lang="en-US" altLang="vi-VN" sz="2000" b="1"/>
          </a:p>
        </p:txBody>
      </p:sp>
      <p:sp>
        <p:nvSpPr>
          <p:cNvPr id="2" name="Footer Placeholder 1"/>
          <p:cNvSpPr>
            <a:spLocks noGrp="1"/>
          </p:cNvSpPr>
          <p:nvPr>
            <p:ph type="ftr" sz="quarter" idx="11"/>
          </p:nvPr>
        </p:nvSpPr>
        <p:spPr/>
        <p:txBody>
          <a:bodyPr/>
          <a:lstStyle/>
          <a:p>
            <a:pPr>
              <a:defRPr/>
            </a:pPr>
            <a:r>
              <a:rPr lang="vi-VN" smtClean="0"/>
              <a:t>Trung tâm máy tính, Trường Đại học Công nghệ, ĐHQGHN</a:t>
            </a:r>
            <a:endParaRPr lang="en-US"/>
          </a:p>
        </p:txBody>
      </p:sp>
    </p:spTree>
    <p:extLst>
      <p:ext uri="{BB962C8B-B14F-4D97-AF65-F5344CB8AC3E}">
        <p14:creationId xmlns:p14="http://schemas.microsoft.com/office/powerpoint/2010/main" val="3489876070"/>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AutoShape 2"/>
          <p:cNvSpPr>
            <a:spLocks noGrp="1" noChangeArrowheads="1"/>
          </p:cNvSpPr>
          <p:nvPr>
            <p:ph type="title"/>
          </p:nvPr>
        </p:nvSpPr>
        <p:spPr/>
        <p:txBody>
          <a:bodyPr/>
          <a:lstStyle/>
          <a:p>
            <a:r>
              <a:rPr lang="en-US" altLang="vi-VN"/>
              <a:t>BIỂU DIỄN DỮ LIỆU HÌNH ẢNH </a:t>
            </a:r>
          </a:p>
        </p:txBody>
      </p:sp>
      <p:sp>
        <p:nvSpPr>
          <p:cNvPr id="430083" name="Rectangle 3"/>
          <p:cNvSpPr>
            <a:spLocks noGrp="1" noChangeArrowheads="1"/>
          </p:cNvSpPr>
          <p:nvPr>
            <p:ph type="body" sz="half" idx="1"/>
          </p:nvPr>
        </p:nvSpPr>
        <p:spPr>
          <a:xfrm>
            <a:off x="609600" y="2133600"/>
            <a:ext cx="4191000" cy="4724400"/>
          </a:xfrm>
        </p:spPr>
        <p:txBody>
          <a:bodyPr/>
          <a:lstStyle/>
          <a:p>
            <a:pPr>
              <a:lnSpc>
                <a:spcPct val="80000"/>
              </a:lnSpc>
            </a:pPr>
            <a:r>
              <a:rPr lang="en-US" altLang="vi-VN" sz="1800" b="1"/>
              <a:t>Ảnh là một tập hợp các điểm ảnh (pixel), có màu sắc tạo từ 3 màu cơ bản (red, green, blue) với cường độ khác nhau.</a:t>
            </a:r>
          </a:p>
          <a:p>
            <a:pPr>
              <a:lnSpc>
                <a:spcPct val="80000"/>
              </a:lnSpc>
            </a:pPr>
            <a:r>
              <a:rPr lang="en-US" altLang="vi-VN" sz="1800" b="1"/>
              <a:t>Ví dụ ảnh màu 24 bít, dùng mỗi byte để mã một màu với các mức từ 0 đến 255. Như vậy sẽ có 2</a:t>
            </a:r>
            <a:r>
              <a:rPr lang="en-US" altLang="vi-VN" sz="1800" b="1" baseline="30000"/>
              <a:t>24</a:t>
            </a:r>
            <a:r>
              <a:rPr lang="en-US" altLang="vi-VN" sz="1800" b="1"/>
              <a:t> (khoảng 19 triệu ) sắc độ màu khác nhau.</a:t>
            </a:r>
          </a:p>
          <a:p>
            <a:pPr>
              <a:lnSpc>
                <a:spcPct val="80000"/>
              </a:lnSpc>
            </a:pPr>
            <a:r>
              <a:rPr lang="en-US" altLang="vi-VN" sz="1800" b="1"/>
              <a:t>Có các chuẩn ảnh khác chủ yếu khác nhau về việc cấu trúc thông tin ảnh phù hợp với phương pháp nén ảnh và thể hiện ảnh. Một số chuẩn ảnh thông dụng là bitmap, jpeg, gif, tiff</a:t>
            </a:r>
          </a:p>
          <a:p>
            <a:pPr>
              <a:lnSpc>
                <a:spcPct val="80000"/>
              </a:lnSpc>
            </a:pPr>
            <a:r>
              <a:rPr lang="en-US" altLang="vi-VN" sz="1800" b="1"/>
              <a:t>Ảnh trực tiếp thể hiện bằng điểm ảnh gọi là ảnh bitmap hay ảnh raster. Còn một kiểu ảnh khác là ảnh vector</a:t>
            </a:r>
          </a:p>
          <a:p>
            <a:pPr>
              <a:lnSpc>
                <a:spcPct val="80000"/>
              </a:lnSpc>
            </a:pPr>
            <a:endParaRPr lang="en-US" altLang="vi-VN" sz="1800" b="1"/>
          </a:p>
        </p:txBody>
      </p:sp>
      <p:pic>
        <p:nvPicPr>
          <p:cNvPr id="430108"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2133600"/>
            <a:ext cx="3548063" cy="4505325"/>
          </a:xfrm>
          <a:prstGeom prst="rect">
            <a:avLst/>
          </a:prstGeom>
          <a:noFill/>
          <a:extLst>
            <a:ext uri="{909E8E84-426E-40DD-AFC4-6F175D3DCCD1}">
              <a14:hiddenFill xmlns:a14="http://schemas.microsoft.com/office/drawing/2010/main">
                <a:solidFill>
                  <a:srgbClr val="FFFFFF"/>
                </a:solidFill>
              </a14:hiddenFill>
            </a:ext>
          </a:extLst>
        </p:spPr>
      </p:pic>
      <p:grpSp>
        <p:nvGrpSpPr>
          <p:cNvPr id="430110" name="Group 30"/>
          <p:cNvGrpSpPr>
            <a:grpSpLocks/>
          </p:cNvGrpSpPr>
          <p:nvPr/>
        </p:nvGrpSpPr>
        <p:grpSpPr bwMode="auto">
          <a:xfrm>
            <a:off x="4724400" y="4800600"/>
            <a:ext cx="1524000" cy="1905000"/>
            <a:chOff x="2976" y="3216"/>
            <a:chExt cx="733" cy="1008"/>
          </a:xfrm>
        </p:grpSpPr>
        <p:pic>
          <p:nvPicPr>
            <p:cNvPr id="430107" name="Picture 27" descr="hh8"/>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976" y="3216"/>
              <a:ext cx="733" cy="1008"/>
            </a:xfrm>
            <a:prstGeom prst="rect">
              <a:avLst/>
            </a:prstGeom>
            <a:noFill/>
            <a:extLst>
              <a:ext uri="{909E8E84-426E-40DD-AFC4-6F175D3DCCD1}">
                <a14:hiddenFill xmlns:a14="http://schemas.microsoft.com/office/drawing/2010/main">
                  <a:solidFill>
                    <a:srgbClr val="FFFFFF"/>
                  </a:solidFill>
                </a14:hiddenFill>
              </a:ext>
            </a:extLst>
          </p:spPr>
        </p:pic>
        <p:sp>
          <p:nvSpPr>
            <p:cNvPr id="430109" name="Rectangle 29"/>
            <p:cNvSpPr>
              <a:spLocks noChangeArrowheads="1"/>
            </p:cNvSpPr>
            <p:nvPr/>
          </p:nvSpPr>
          <p:spPr bwMode="auto">
            <a:xfrm>
              <a:off x="3225" y="3270"/>
              <a:ext cx="384" cy="480"/>
            </a:xfrm>
            <a:prstGeom prst="rect">
              <a:avLst/>
            </a:prstGeom>
            <a:noFill/>
            <a:ln w="9525" algn="ctr">
              <a:solidFill>
                <a:srgbClr val="CC3300"/>
              </a:solidFill>
              <a:miter lim="800000"/>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grpSp>
      <p:sp>
        <p:nvSpPr>
          <p:cNvPr id="430111" name="Rectangle 31"/>
          <p:cNvSpPr>
            <a:spLocks noChangeArrowheads="1"/>
          </p:cNvSpPr>
          <p:nvPr/>
        </p:nvSpPr>
        <p:spPr bwMode="auto">
          <a:xfrm>
            <a:off x="6934200" y="3652838"/>
            <a:ext cx="762000" cy="838200"/>
          </a:xfrm>
          <a:prstGeom prst="rect">
            <a:avLst/>
          </a:prstGeom>
          <a:noFill/>
          <a:ln w="9525" algn="ctr">
            <a:solidFill>
              <a:srgbClr val="CC3300"/>
            </a:solidFill>
            <a:miter lim="800000"/>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pic>
        <p:nvPicPr>
          <p:cNvPr id="430118" name="Picture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7600" y="1524000"/>
            <a:ext cx="1476375" cy="1676400"/>
          </a:xfrm>
          <a:prstGeom prst="rect">
            <a:avLst/>
          </a:prstGeom>
          <a:noFill/>
          <a:ln w="9525">
            <a:solidFill>
              <a:srgbClr val="CC3300"/>
            </a:solidFill>
            <a:miter lim="800000"/>
            <a:headEnd/>
            <a:tailEnd/>
          </a:ln>
          <a:extLst>
            <a:ext uri="{909E8E84-426E-40DD-AFC4-6F175D3DCCD1}">
              <a14:hiddenFill xmlns:a14="http://schemas.microsoft.com/office/drawing/2010/main">
                <a:solidFill>
                  <a:srgbClr val="FFFFFF"/>
                </a:solidFill>
              </a14:hiddenFill>
            </a:ext>
          </a:extLst>
        </p:spPr>
      </p:pic>
      <p:sp>
        <p:nvSpPr>
          <p:cNvPr id="2" name="Footer Placeholder 1"/>
          <p:cNvSpPr>
            <a:spLocks noGrp="1"/>
          </p:cNvSpPr>
          <p:nvPr>
            <p:ph type="ftr" sz="quarter" idx="11"/>
          </p:nvPr>
        </p:nvSpPr>
        <p:spPr/>
        <p:txBody>
          <a:bodyPr/>
          <a:lstStyle/>
          <a:p>
            <a:pPr>
              <a:defRPr/>
            </a:pPr>
            <a:r>
              <a:rPr lang="vi-VN" smtClean="0"/>
              <a:t>Trung tâm máy tính, Trường Đại học Công nghệ, ĐHQGHN</a:t>
            </a:r>
            <a:endParaRPr lang="en-US"/>
          </a:p>
        </p:txBody>
      </p:sp>
    </p:spTree>
    <p:extLst>
      <p:ext uri="{BB962C8B-B14F-4D97-AF65-F5344CB8AC3E}">
        <p14:creationId xmlns:p14="http://schemas.microsoft.com/office/powerpoint/2010/main" val="11448576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30083">
                                            <p:txEl>
                                              <p:pRg st="0" end="0"/>
                                            </p:txEl>
                                          </p:spTgt>
                                        </p:tgtEl>
                                        <p:attrNameLst>
                                          <p:attrName>style.visibility</p:attrName>
                                        </p:attrNameLst>
                                      </p:cBhvr>
                                      <p:to>
                                        <p:strVal val="visible"/>
                                      </p:to>
                                    </p:set>
                                    <p:anim calcmode="lin" valueType="num">
                                      <p:cBhvr additive="base">
                                        <p:cTn id="7" dur="500" fill="hold"/>
                                        <p:tgtEl>
                                          <p:spTgt spid="4300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0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30110"/>
                                        </p:tgtEl>
                                        <p:attrNameLst>
                                          <p:attrName>style.visibility</p:attrName>
                                        </p:attrNameLst>
                                      </p:cBhvr>
                                      <p:to>
                                        <p:strVal val="visible"/>
                                      </p:to>
                                    </p:set>
                                    <p:anim calcmode="lin" valueType="num">
                                      <p:cBhvr additive="base">
                                        <p:cTn id="13" dur="500" fill="hold"/>
                                        <p:tgtEl>
                                          <p:spTgt spid="430110"/>
                                        </p:tgtEl>
                                        <p:attrNameLst>
                                          <p:attrName>ppt_x</p:attrName>
                                        </p:attrNameLst>
                                      </p:cBhvr>
                                      <p:tavLst>
                                        <p:tav tm="0">
                                          <p:val>
                                            <p:strVal val="#ppt_x"/>
                                          </p:val>
                                        </p:tav>
                                        <p:tav tm="100000">
                                          <p:val>
                                            <p:strVal val="#ppt_x"/>
                                          </p:val>
                                        </p:tav>
                                      </p:tavLst>
                                    </p:anim>
                                    <p:anim calcmode="lin" valueType="num">
                                      <p:cBhvr additive="base">
                                        <p:cTn id="14" dur="500" fill="hold"/>
                                        <p:tgtEl>
                                          <p:spTgt spid="430110"/>
                                        </p:tgtEl>
                                        <p:attrNameLst>
                                          <p:attrName>ppt_y</p:attrName>
                                        </p:attrNameLst>
                                      </p:cBhvr>
                                      <p:tavLst>
                                        <p:tav tm="0">
                                          <p:val>
                                            <p:strVal val="1+#ppt_h/2"/>
                                          </p:val>
                                        </p:tav>
                                        <p:tav tm="100000">
                                          <p:val>
                                            <p:strVal val="#ppt_y"/>
                                          </p:val>
                                        </p:tav>
                                      </p:tavLst>
                                    </p:anim>
                                  </p:childTnLst>
                                </p:cTn>
                              </p:par>
                            </p:childTnLst>
                          </p:cTn>
                        </p:par>
                        <p:par>
                          <p:cTn id="15" fill="hold" nodeType="afterGroup">
                            <p:stCondLst>
                              <p:cond delay="500"/>
                            </p:stCondLst>
                            <p:childTnLst>
                              <p:par>
                                <p:cTn id="16" presetID="53" presetClass="entr" presetSubtype="0" fill="hold" nodeType="afterEffect">
                                  <p:stCondLst>
                                    <p:cond delay="0"/>
                                  </p:stCondLst>
                                  <p:childTnLst>
                                    <p:set>
                                      <p:cBhvr>
                                        <p:cTn id="17" dur="1" fill="hold">
                                          <p:stCondLst>
                                            <p:cond delay="0"/>
                                          </p:stCondLst>
                                        </p:cTn>
                                        <p:tgtEl>
                                          <p:spTgt spid="430108"/>
                                        </p:tgtEl>
                                        <p:attrNameLst>
                                          <p:attrName>style.visibility</p:attrName>
                                        </p:attrNameLst>
                                      </p:cBhvr>
                                      <p:to>
                                        <p:strVal val="visible"/>
                                      </p:to>
                                    </p:set>
                                    <p:anim calcmode="lin" valueType="num">
                                      <p:cBhvr>
                                        <p:cTn id="18" dur="500" fill="hold"/>
                                        <p:tgtEl>
                                          <p:spTgt spid="430108"/>
                                        </p:tgtEl>
                                        <p:attrNameLst>
                                          <p:attrName>ppt_w</p:attrName>
                                        </p:attrNameLst>
                                      </p:cBhvr>
                                      <p:tavLst>
                                        <p:tav tm="0">
                                          <p:val>
                                            <p:fltVal val="0"/>
                                          </p:val>
                                        </p:tav>
                                        <p:tav tm="100000">
                                          <p:val>
                                            <p:strVal val="#ppt_w"/>
                                          </p:val>
                                        </p:tav>
                                      </p:tavLst>
                                    </p:anim>
                                    <p:anim calcmode="lin" valueType="num">
                                      <p:cBhvr>
                                        <p:cTn id="19" dur="500" fill="hold"/>
                                        <p:tgtEl>
                                          <p:spTgt spid="430108"/>
                                        </p:tgtEl>
                                        <p:attrNameLst>
                                          <p:attrName>ppt_h</p:attrName>
                                        </p:attrNameLst>
                                      </p:cBhvr>
                                      <p:tavLst>
                                        <p:tav tm="0">
                                          <p:val>
                                            <p:fltVal val="0"/>
                                          </p:val>
                                        </p:tav>
                                        <p:tav tm="100000">
                                          <p:val>
                                            <p:strVal val="#ppt_h"/>
                                          </p:val>
                                        </p:tav>
                                      </p:tavLst>
                                    </p:anim>
                                    <p:animEffect transition="in" filter="fade">
                                      <p:cBhvr>
                                        <p:cTn id="20" dur="500"/>
                                        <p:tgtEl>
                                          <p:spTgt spid="430108"/>
                                        </p:tgtEl>
                                      </p:cBhvr>
                                    </p:animEffect>
                                  </p:childTnLst>
                                </p:cTn>
                              </p:par>
                            </p:childTnLst>
                          </p:cTn>
                        </p:par>
                        <p:par>
                          <p:cTn id="21" fill="hold" nodeType="afterGroup">
                            <p:stCondLst>
                              <p:cond delay="1000"/>
                            </p:stCondLst>
                            <p:childTnLst>
                              <p:par>
                                <p:cTn id="22" presetID="2" presetClass="entr" presetSubtype="4" fill="hold" grpId="0" nodeType="afterEffect">
                                  <p:stCondLst>
                                    <p:cond delay="0"/>
                                  </p:stCondLst>
                                  <p:childTnLst>
                                    <p:set>
                                      <p:cBhvr>
                                        <p:cTn id="23" dur="1" fill="hold">
                                          <p:stCondLst>
                                            <p:cond delay="0"/>
                                          </p:stCondLst>
                                        </p:cTn>
                                        <p:tgtEl>
                                          <p:spTgt spid="430111"/>
                                        </p:tgtEl>
                                        <p:attrNameLst>
                                          <p:attrName>style.visibility</p:attrName>
                                        </p:attrNameLst>
                                      </p:cBhvr>
                                      <p:to>
                                        <p:strVal val="visible"/>
                                      </p:to>
                                    </p:set>
                                    <p:anim calcmode="lin" valueType="num">
                                      <p:cBhvr additive="base">
                                        <p:cTn id="24" dur="500" fill="hold"/>
                                        <p:tgtEl>
                                          <p:spTgt spid="430111"/>
                                        </p:tgtEl>
                                        <p:attrNameLst>
                                          <p:attrName>ppt_x</p:attrName>
                                        </p:attrNameLst>
                                      </p:cBhvr>
                                      <p:tavLst>
                                        <p:tav tm="0">
                                          <p:val>
                                            <p:strVal val="#ppt_x"/>
                                          </p:val>
                                        </p:tav>
                                        <p:tav tm="100000">
                                          <p:val>
                                            <p:strVal val="#ppt_x"/>
                                          </p:val>
                                        </p:tav>
                                      </p:tavLst>
                                    </p:anim>
                                    <p:anim calcmode="lin" valueType="num">
                                      <p:cBhvr additive="base">
                                        <p:cTn id="25" dur="500" fill="hold"/>
                                        <p:tgtEl>
                                          <p:spTgt spid="430111"/>
                                        </p:tgtEl>
                                        <p:attrNameLst>
                                          <p:attrName>ppt_y</p:attrName>
                                        </p:attrNameLst>
                                      </p:cBhvr>
                                      <p:tavLst>
                                        <p:tav tm="0">
                                          <p:val>
                                            <p:strVal val="1+#ppt_h/2"/>
                                          </p:val>
                                        </p:tav>
                                        <p:tav tm="100000">
                                          <p:val>
                                            <p:strVal val="#ppt_y"/>
                                          </p:val>
                                        </p:tav>
                                      </p:tavLst>
                                    </p:anim>
                                  </p:childTnLst>
                                </p:cTn>
                              </p:par>
                            </p:childTnLst>
                          </p:cTn>
                        </p:par>
                        <p:par>
                          <p:cTn id="26" fill="hold" nodeType="afterGroup">
                            <p:stCondLst>
                              <p:cond delay="1500"/>
                            </p:stCondLst>
                            <p:childTnLst>
                              <p:par>
                                <p:cTn id="27" presetID="53" presetClass="entr" presetSubtype="0" fill="hold" nodeType="afterEffect">
                                  <p:stCondLst>
                                    <p:cond delay="0"/>
                                  </p:stCondLst>
                                  <p:childTnLst>
                                    <p:set>
                                      <p:cBhvr>
                                        <p:cTn id="28" dur="1" fill="hold">
                                          <p:stCondLst>
                                            <p:cond delay="0"/>
                                          </p:stCondLst>
                                        </p:cTn>
                                        <p:tgtEl>
                                          <p:spTgt spid="430118"/>
                                        </p:tgtEl>
                                        <p:attrNameLst>
                                          <p:attrName>style.visibility</p:attrName>
                                        </p:attrNameLst>
                                      </p:cBhvr>
                                      <p:to>
                                        <p:strVal val="visible"/>
                                      </p:to>
                                    </p:set>
                                    <p:anim calcmode="lin" valueType="num">
                                      <p:cBhvr>
                                        <p:cTn id="29" dur="500" fill="hold"/>
                                        <p:tgtEl>
                                          <p:spTgt spid="430118"/>
                                        </p:tgtEl>
                                        <p:attrNameLst>
                                          <p:attrName>ppt_w</p:attrName>
                                        </p:attrNameLst>
                                      </p:cBhvr>
                                      <p:tavLst>
                                        <p:tav tm="0">
                                          <p:val>
                                            <p:fltVal val="0"/>
                                          </p:val>
                                        </p:tav>
                                        <p:tav tm="100000">
                                          <p:val>
                                            <p:strVal val="#ppt_w"/>
                                          </p:val>
                                        </p:tav>
                                      </p:tavLst>
                                    </p:anim>
                                    <p:anim calcmode="lin" valueType="num">
                                      <p:cBhvr>
                                        <p:cTn id="30" dur="500" fill="hold"/>
                                        <p:tgtEl>
                                          <p:spTgt spid="430118"/>
                                        </p:tgtEl>
                                        <p:attrNameLst>
                                          <p:attrName>ppt_h</p:attrName>
                                        </p:attrNameLst>
                                      </p:cBhvr>
                                      <p:tavLst>
                                        <p:tav tm="0">
                                          <p:val>
                                            <p:fltVal val="0"/>
                                          </p:val>
                                        </p:tav>
                                        <p:tav tm="100000">
                                          <p:val>
                                            <p:strVal val="#ppt_h"/>
                                          </p:val>
                                        </p:tav>
                                      </p:tavLst>
                                    </p:anim>
                                    <p:animEffect transition="in" filter="fade">
                                      <p:cBhvr>
                                        <p:cTn id="31" dur="500"/>
                                        <p:tgtEl>
                                          <p:spTgt spid="430118"/>
                                        </p:tgtEl>
                                      </p:cBhvr>
                                    </p:animEffect>
                                  </p:childTnLst>
                                </p:cTn>
                              </p:par>
                              <p:par>
                                <p:cTn id="32" presetID="2" presetClass="entr" presetSubtype="4" fill="hold" nodeType="withEffect">
                                  <p:stCondLst>
                                    <p:cond delay="0"/>
                                  </p:stCondLst>
                                  <p:childTnLst>
                                    <p:set>
                                      <p:cBhvr>
                                        <p:cTn id="33" dur="1" fill="hold">
                                          <p:stCondLst>
                                            <p:cond delay="0"/>
                                          </p:stCondLst>
                                        </p:cTn>
                                        <p:tgtEl>
                                          <p:spTgt spid="430083">
                                            <p:txEl>
                                              <p:pRg st="1" end="1"/>
                                            </p:txEl>
                                          </p:spTgt>
                                        </p:tgtEl>
                                        <p:attrNameLst>
                                          <p:attrName>style.visibility</p:attrName>
                                        </p:attrNameLst>
                                      </p:cBhvr>
                                      <p:to>
                                        <p:strVal val="visible"/>
                                      </p:to>
                                    </p:set>
                                    <p:anim calcmode="lin" valueType="num">
                                      <p:cBhvr additive="base">
                                        <p:cTn id="34" dur="500" fill="hold"/>
                                        <p:tgtEl>
                                          <p:spTgt spid="430083">
                                            <p:txEl>
                                              <p:pRg st="1" end="1"/>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430083">
                                            <p:txEl>
                                              <p:pRg st="1" end="1"/>
                                            </p:txEl>
                                          </p:spTgt>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430083">
                                            <p:txEl>
                                              <p:pRg st="2" end="2"/>
                                            </p:txEl>
                                          </p:spTgt>
                                        </p:tgtEl>
                                        <p:attrNameLst>
                                          <p:attrName>style.visibility</p:attrName>
                                        </p:attrNameLst>
                                      </p:cBhvr>
                                      <p:to>
                                        <p:strVal val="visible"/>
                                      </p:to>
                                    </p:set>
                                    <p:anim calcmode="lin" valueType="num">
                                      <p:cBhvr additive="base">
                                        <p:cTn id="38" dur="500" fill="hold"/>
                                        <p:tgtEl>
                                          <p:spTgt spid="430083">
                                            <p:txEl>
                                              <p:pRg st="2" end="2"/>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4300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430083">
                                            <p:txEl>
                                              <p:pRg st="3" end="3"/>
                                            </p:txEl>
                                          </p:spTgt>
                                        </p:tgtEl>
                                        <p:attrNameLst>
                                          <p:attrName>style.visibility</p:attrName>
                                        </p:attrNameLst>
                                      </p:cBhvr>
                                      <p:to>
                                        <p:strVal val="visible"/>
                                      </p:to>
                                    </p:set>
                                    <p:anim calcmode="lin" valueType="num">
                                      <p:cBhvr additive="base">
                                        <p:cTn id="44" dur="500" fill="hold"/>
                                        <p:tgtEl>
                                          <p:spTgt spid="430083">
                                            <p:txEl>
                                              <p:pRg st="3" end="3"/>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43008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AutoShape 2"/>
          <p:cNvSpPr>
            <a:spLocks noGrp="1" noChangeArrowheads="1"/>
          </p:cNvSpPr>
          <p:nvPr>
            <p:ph type="title"/>
          </p:nvPr>
        </p:nvSpPr>
        <p:spPr/>
        <p:txBody>
          <a:bodyPr/>
          <a:lstStyle/>
          <a:p>
            <a:r>
              <a:rPr lang="en-US" altLang="vi-VN"/>
              <a:t>BIỂU DIỄN ÂM THANH </a:t>
            </a:r>
          </a:p>
        </p:txBody>
      </p:sp>
      <p:sp>
        <p:nvSpPr>
          <p:cNvPr id="429059" name="Rectangle 3"/>
          <p:cNvSpPr>
            <a:spLocks noGrp="1" noChangeArrowheads="1"/>
          </p:cNvSpPr>
          <p:nvPr>
            <p:ph type="body" sz="half" idx="1"/>
          </p:nvPr>
        </p:nvSpPr>
        <p:spPr>
          <a:xfrm>
            <a:off x="762000" y="1905000"/>
            <a:ext cx="3733800" cy="4724400"/>
          </a:xfrm>
        </p:spPr>
        <p:txBody>
          <a:bodyPr/>
          <a:lstStyle/>
          <a:p>
            <a:pPr>
              <a:lnSpc>
                <a:spcPct val="90000"/>
              </a:lnSpc>
            </a:pPr>
            <a:r>
              <a:rPr lang="en-US" altLang="vi-VN" sz="2000" b="1"/>
              <a:t>Cách đơn giản nhất là mã hoá bằng cách xấp xỉ dao động sóng âm bằng một chuỗi các byte thể hiện biên độ dao dộng tương ứng theo từng khoảng thời gian bằng nhau. </a:t>
            </a:r>
          </a:p>
          <a:p>
            <a:pPr>
              <a:lnSpc>
                <a:spcPct val="90000"/>
              </a:lnSpc>
            </a:pPr>
            <a:r>
              <a:rPr lang="en-US" altLang="vi-VN" sz="2000" b="1"/>
              <a:t>Các đơn vị thời gian này cần phải đủ nhỏ để không làm nghèo âm thanh. Đơn vị thời gian này gọi là chu kỳ lấy mẫu. </a:t>
            </a:r>
          </a:p>
          <a:p>
            <a:pPr>
              <a:lnSpc>
                <a:spcPct val="80000"/>
              </a:lnSpc>
            </a:pPr>
            <a:r>
              <a:rPr lang="en-US" altLang="vi-VN" sz="2000" b="1"/>
              <a:t>Khi phát lại, người ta dùng một mạch điện để tái tạo lại âm thanh từ các biên độ dao động của từng chu kỳ lấy mẫu</a:t>
            </a:r>
          </a:p>
        </p:txBody>
      </p:sp>
      <p:pic>
        <p:nvPicPr>
          <p:cNvPr id="429093" name="Picture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057400"/>
            <a:ext cx="4038600" cy="3276600"/>
          </a:xfrm>
          <a:prstGeom prst="rect">
            <a:avLst/>
          </a:prstGeom>
          <a:noFill/>
          <a:extLst>
            <a:ext uri="{909E8E84-426E-40DD-AFC4-6F175D3DCCD1}">
              <a14:hiddenFill xmlns:a14="http://schemas.microsoft.com/office/drawing/2010/main">
                <a:solidFill>
                  <a:srgbClr val="FFFFFF"/>
                </a:solidFill>
              </a14:hiddenFill>
            </a:ext>
          </a:extLst>
        </p:spPr>
      </p:pic>
      <p:sp>
        <p:nvSpPr>
          <p:cNvPr id="429094" name="Rectangle 38"/>
          <p:cNvSpPr>
            <a:spLocks noChangeArrowheads="1"/>
          </p:cNvSpPr>
          <p:nvPr/>
        </p:nvSpPr>
        <p:spPr bwMode="auto">
          <a:xfrm>
            <a:off x="4572000" y="5562600"/>
            <a:ext cx="4191000" cy="10699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80000"/>
              </a:lnSpc>
              <a:spcBef>
                <a:spcPct val="20000"/>
              </a:spcBef>
              <a:buClr>
                <a:schemeClr val="tx1"/>
              </a:buClr>
              <a:buSzPct val="75000"/>
              <a:buFont typeface="Wingdings" panose="05000000000000000000" pitchFamily="2" charset="2"/>
              <a:buChar char="l"/>
            </a:pPr>
            <a:r>
              <a:rPr lang="en-US" altLang="vi-VN" sz="2000"/>
              <a:t>  </a:t>
            </a:r>
            <a:r>
              <a:rPr lang="en-US" altLang="vi-VN" sz="2000" b="1"/>
              <a:t>Có một số chuẩn định dạng âm thanh như wav,một số chuẩn khác cho phép nén âm thanh cùng với các hình ảnh động</a:t>
            </a:r>
          </a:p>
        </p:txBody>
      </p:sp>
      <p:graphicFrame>
        <p:nvGraphicFramePr>
          <p:cNvPr id="429095" name="Object 39">
            <a:hlinkClick r:id="" action="ppaction://ole?verb=0"/>
          </p:cNvPr>
          <p:cNvGraphicFramePr>
            <a:graphicFrameLocks noChangeAspect="1"/>
          </p:cNvGraphicFramePr>
          <p:nvPr>
            <p:ph sz="half" idx="2"/>
          </p:nvPr>
        </p:nvGraphicFramePr>
        <p:xfrm>
          <a:off x="8534400" y="6248400"/>
          <a:ext cx="609600" cy="609600"/>
        </p:xfrm>
        <a:graphic>
          <a:graphicData uri="http://schemas.openxmlformats.org/presentationml/2006/ole">
            <mc:AlternateContent xmlns:mc="http://schemas.openxmlformats.org/markup-compatibility/2006">
              <mc:Choice xmlns:v="urn:schemas-microsoft-com:vml" Requires="v">
                <p:oleObj spid="_x0000_s9220" name="Sound Recorder Document" r:id="rId4" imgW="304520" imgH="304520" progId="SoundRec">
                  <p:embed/>
                </p:oleObj>
              </mc:Choice>
              <mc:Fallback>
                <p:oleObj name="Sound Recorder Document" r:id="rId4" imgW="304520" imgH="304520" progId="SoundRec">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34400" y="6248400"/>
                        <a:ext cx="60960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Footer Placeholder 1"/>
          <p:cNvSpPr>
            <a:spLocks noGrp="1"/>
          </p:cNvSpPr>
          <p:nvPr>
            <p:ph type="ftr" sz="quarter" idx="11"/>
          </p:nvPr>
        </p:nvSpPr>
        <p:spPr/>
        <p:txBody>
          <a:bodyPr/>
          <a:lstStyle/>
          <a:p>
            <a:r>
              <a:rPr lang="vi-VN" altLang="vi-VN" smtClean="0"/>
              <a:t>Trung tâm máy tính, Trường Đại học Công nghệ, ĐHQGHN</a:t>
            </a:r>
            <a:endParaRPr lang="en-US" altLang="vi-VN"/>
          </a:p>
        </p:txBody>
      </p:sp>
    </p:spTree>
    <p:extLst>
      <p:ext uri="{BB962C8B-B14F-4D97-AF65-F5344CB8AC3E}">
        <p14:creationId xmlns:p14="http://schemas.microsoft.com/office/powerpoint/2010/main" val="38878037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29059">
                                            <p:txEl>
                                              <p:pRg st="0" end="0"/>
                                            </p:txEl>
                                          </p:spTgt>
                                        </p:tgtEl>
                                        <p:attrNameLst>
                                          <p:attrName>style.visibility</p:attrName>
                                        </p:attrNameLst>
                                      </p:cBhvr>
                                      <p:to>
                                        <p:strVal val="visible"/>
                                      </p:to>
                                    </p:set>
                                    <p:anim calcmode="lin" valueType="num">
                                      <p:cBhvr additive="base">
                                        <p:cTn id="7" dur="500" fill="hold"/>
                                        <p:tgtEl>
                                          <p:spTgt spid="429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9059">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429059">
                                            <p:txEl>
                                              <p:pRg st="1" end="1"/>
                                            </p:txEl>
                                          </p:spTgt>
                                        </p:tgtEl>
                                        <p:attrNameLst>
                                          <p:attrName>style.visibility</p:attrName>
                                        </p:attrNameLst>
                                      </p:cBhvr>
                                      <p:to>
                                        <p:strVal val="visible"/>
                                      </p:to>
                                    </p:set>
                                    <p:anim calcmode="lin" valueType="num">
                                      <p:cBhvr additive="base">
                                        <p:cTn id="12" dur="500" fill="hold"/>
                                        <p:tgtEl>
                                          <p:spTgt spid="42905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29059">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fill="hold" nodeType="afterEffect">
                                  <p:stCondLst>
                                    <p:cond delay="0"/>
                                  </p:stCondLst>
                                  <p:childTnLst>
                                    <p:set>
                                      <p:cBhvr>
                                        <p:cTn id="16" dur="1" fill="hold">
                                          <p:stCondLst>
                                            <p:cond delay="0"/>
                                          </p:stCondLst>
                                        </p:cTn>
                                        <p:tgtEl>
                                          <p:spTgt spid="429059">
                                            <p:txEl>
                                              <p:pRg st="2" end="2"/>
                                            </p:txEl>
                                          </p:spTgt>
                                        </p:tgtEl>
                                        <p:attrNameLst>
                                          <p:attrName>style.visibility</p:attrName>
                                        </p:attrNameLst>
                                      </p:cBhvr>
                                      <p:to>
                                        <p:strVal val="visible"/>
                                      </p:to>
                                    </p:set>
                                    <p:anim calcmode="lin" valueType="num">
                                      <p:cBhvr additive="base">
                                        <p:cTn id="17" dur="500" fill="hold"/>
                                        <p:tgtEl>
                                          <p:spTgt spid="4290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290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29094"/>
                                        </p:tgtEl>
                                        <p:attrNameLst>
                                          <p:attrName>style.visibility</p:attrName>
                                        </p:attrNameLst>
                                      </p:cBhvr>
                                      <p:to>
                                        <p:strVal val="visible"/>
                                      </p:to>
                                    </p:set>
                                    <p:anim calcmode="lin" valueType="num">
                                      <p:cBhvr additive="base">
                                        <p:cTn id="23" dur="500" fill="hold"/>
                                        <p:tgtEl>
                                          <p:spTgt spid="429094"/>
                                        </p:tgtEl>
                                        <p:attrNameLst>
                                          <p:attrName>ppt_x</p:attrName>
                                        </p:attrNameLst>
                                      </p:cBhvr>
                                      <p:tavLst>
                                        <p:tav tm="0">
                                          <p:val>
                                            <p:strVal val="#ppt_x"/>
                                          </p:val>
                                        </p:tav>
                                        <p:tav tm="100000">
                                          <p:val>
                                            <p:strVal val="#ppt_x"/>
                                          </p:val>
                                        </p:tav>
                                      </p:tavLst>
                                    </p:anim>
                                    <p:anim calcmode="lin" valueType="num">
                                      <p:cBhvr additive="base">
                                        <p:cTn id="24" dur="500" fill="hold"/>
                                        <p:tgtEl>
                                          <p:spTgt spid="4290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909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AutoShape 2"/>
          <p:cNvSpPr>
            <a:spLocks noGrp="1" noChangeArrowheads="1"/>
          </p:cNvSpPr>
          <p:nvPr>
            <p:ph type="title"/>
          </p:nvPr>
        </p:nvSpPr>
        <p:spPr/>
        <p:txBody>
          <a:bodyPr/>
          <a:lstStyle/>
          <a:p>
            <a:r>
              <a:rPr lang="en-US" altLang="vi-VN"/>
              <a:t>TRI THỨC = SỰ KIỆN + LUẬT </a:t>
            </a:r>
          </a:p>
        </p:txBody>
      </p:sp>
      <p:sp>
        <p:nvSpPr>
          <p:cNvPr id="441347" name="Rectangle 3"/>
          <p:cNvSpPr>
            <a:spLocks noGrp="1" noChangeArrowheads="1"/>
          </p:cNvSpPr>
          <p:nvPr>
            <p:ph type="body" idx="1"/>
          </p:nvPr>
        </p:nvSpPr>
        <p:spPr>
          <a:xfrm>
            <a:off x="990600" y="2133600"/>
            <a:ext cx="7543800" cy="4724400"/>
          </a:xfrm>
        </p:spPr>
        <p:txBody>
          <a:bodyPr/>
          <a:lstStyle/>
          <a:p>
            <a:pPr>
              <a:lnSpc>
                <a:spcPct val="90000"/>
              </a:lnSpc>
            </a:pPr>
            <a:r>
              <a:rPr lang="en-US" altLang="vi-VN" sz="2400" b="1"/>
              <a:t>Tri thức (knowledge) không chỉ thể hiện bằng các sự kiện (fact) mà ta có thể biểu diễn như các dữ liệu thông thường mà nó còn thể hiện cách suy luận cho bằng các luật (rule)</a:t>
            </a:r>
          </a:p>
          <a:p>
            <a:pPr>
              <a:lnSpc>
                <a:spcPct val="90000"/>
              </a:lnSpc>
            </a:pPr>
            <a:r>
              <a:rPr lang="en-US" altLang="vi-VN" sz="2400" b="1"/>
              <a:t>VD quan hệ “Làbố” có thể cho bằng 2 chuỗi ký tự hiểu theo nghĩa tên bố và tên con. Làbố (Hùng, Cường) nghĩa là Hùng là bô của Cường. </a:t>
            </a:r>
          </a:p>
          <a:p>
            <a:pPr>
              <a:lnSpc>
                <a:spcPct val="90000"/>
              </a:lnSpc>
            </a:pPr>
            <a:r>
              <a:rPr lang="en-US" altLang="vi-VN" sz="2400" b="1"/>
              <a:t>Quy tắc “</a:t>
            </a:r>
            <a:r>
              <a:rPr lang="en-US" altLang="vi-VN" sz="2400" b="1">
                <a:solidFill>
                  <a:srgbClr val="CC3300"/>
                </a:solidFill>
              </a:rPr>
              <a:t>Nếu</a:t>
            </a:r>
            <a:r>
              <a:rPr lang="en-US" altLang="vi-VN" sz="2400" b="1"/>
              <a:t> (A là bố B) và (B là bố C) </a:t>
            </a:r>
            <a:r>
              <a:rPr lang="en-US" altLang="vi-VN" sz="2400" b="1">
                <a:solidFill>
                  <a:srgbClr val="CC3300"/>
                </a:solidFill>
              </a:rPr>
              <a:t>thì</a:t>
            </a:r>
            <a:r>
              <a:rPr lang="en-US" altLang="vi-VN" sz="2400" b="1"/>
              <a:t> A là ông nội C” cho phép từ một số quan hệ này suy ra một số quan hệ khác</a:t>
            </a:r>
          </a:p>
          <a:p>
            <a:pPr>
              <a:lnSpc>
                <a:spcPct val="90000"/>
              </a:lnSpc>
            </a:pPr>
            <a:r>
              <a:rPr lang="en-US" altLang="vi-VN" sz="2400" b="1"/>
              <a:t>Chẳng hạn từ Làbố (Bé, Cường) và Làbố (Cường, Đại) thì theo quy tắc trên sẽ rút ra Bé là ông nội của Đại</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772701306"/>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1347">
                                            <p:txEl>
                                              <p:pRg st="1" end="1"/>
                                            </p:txEl>
                                          </p:spTgt>
                                        </p:tgtEl>
                                        <p:attrNameLst>
                                          <p:attrName>style.visibility</p:attrName>
                                        </p:attrNameLst>
                                      </p:cBhvr>
                                      <p:to>
                                        <p:strVal val="visible"/>
                                      </p:to>
                                    </p:set>
                                    <p:anim calcmode="lin" valueType="num">
                                      <p:cBhvr additive="base">
                                        <p:cTn id="7" dur="500" fill="hold"/>
                                        <p:tgtEl>
                                          <p:spTgt spid="4413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13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1347">
                                            <p:txEl>
                                              <p:pRg st="2" end="2"/>
                                            </p:txEl>
                                          </p:spTgt>
                                        </p:tgtEl>
                                        <p:attrNameLst>
                                          <p:attrName>style.visibility</p:attrName>
                                        </p:attrNameLst>
                                      </p:cBhvr>
                                      <p:to>
                                        <p:strVal val="visible"/>
                                      </p:to>
                                    </p:set>
                                    <p:anim calcmode="lin" valueType="num">
                                      <p:cBhvr additive="base">
                                        <p:cTn id="13" dur="500" fill="hold"/>
                                        <p:tgtEl>
                                          <p:spTgt spid="44134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13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41347">
                                            <p:txEl>
                                              <p:pRg st="3" end="3"/>
                                            </p:txEl>
                                          </p:spTgt>
                                        </p:tgtEl>
                                        <p:attrNameLst>
                                          <p:attrName>style.visibility</p:attrName>
                                        </p:attrNameLst>
                                      </p:cBhvr>
                                      <p:to>
                                        <p:strVal val="visible"/>
                                      </p:to>
                                    </p:set>
                                    <p:anim calcmode="lin" valueType="num">
                                      <p:cBhvr additive="base">
                                        <p:cTn id="19" dur="500" fill="hold"/>
                                        <p:tgtEl>
                                          <p:spTgt spid="44134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134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AutoShape 2"/>
          <p:cNvSpPr>
            <a:spLocks noGrp="1" noChangeArrowheads="1"/>
          </p:cNvSpPr>
          <p:nvPr>
            <p:ph type="title"/>
          </p:nvPr>
        </p:nvSpPr>
        <p:spPr/>
        <p:txBody>
          <a:bodyPr/>
          <a:lstStyle/>
          <a:p>
            <a:r>
              <a:rPr lang="en-US" altLang="vi-VN"/>
              <a:t>TRUYỀN DỮ LIỆU </a:t>
            </a:r>
          </a:p>
        </p:txBody>
      </p:sp>
      <p:sp>
        <p:nvSpPr>
          <p:cNvPr id="442371" name="Rectangle 3"/>
          <p:cNvSpPr>
            <a:spLocks noGrp="1" noChangeArrowheads="1"/>
          </p:cNvSpPr>
          <p:nvPr>
            <p:ph type="body" idx="1"/>
          </p:nvPr>
        </p:nvSpPr>
        <p:spPr>
          <a:xfrm>
            <a:off x="762000" y="2209800"/>
            <a:ext cx="3810000" cy="4343400"/>
          </a:xfrm>
        </p:spPr>
        <p:txBody>
          <a:bodyPr/>
          <a:lstStyle/>
          <a:p>
            <a:pPr>
              <a:lnSpc>
                <a:spcPct val="80000"/>
              </a:lnSpc>
            </a:pPr>
            <a:r>
              <a:rPr lang="en-US" altLang="vi-VN" sz="1800" b="1"/>
              <a:t>Dữ liệu được lưu trữ dưới dạng trạng thái nhị phân nhưng truyền đi bằng sóng điện từ</a:t>
            </a:r>
          </a:p>
          <a:p>
            <a:pPr>
              <a:lnSpc>
                <a:spcPct val="80000"/>
              </a:lnSpc>
            </a:pPr>
            <a:r>
              <a:rPr lang="en-US" altLang="vi-VN" sz="1800" b="1"/>
              <a:t>Cần điều chế (modulation) tín hiệu trên các sóng mang trong các kênh truyền vật lý. </a:t>
            </a:r>
          </a:p>
          <a:p>
            <a:pPr>
              <a:lnSpc>
                <a:spcPct val="80000"/>
              </a:lnSpc>
            </a:pPr>
            <a:r>
              <a:rPr lang="en-US" altLang="vi-VN" sz="1800" b="1"/>
              <a:t>Có thể điều chế theo tần số, biên độ và pha. </a:t>
            </a:r>
          </a:p>
          <a:p>
            <a:pPr>
              <a:lnSpc>
                <a:spcPct val="80000"/>
              </a:lnSpc>
            </a:pPr>
            <a:r>
              <a:rPr lang="en-US" altLang="vi-VN" sz="1800" b="1"/>
              <a:t>Đôi khi người ta điều chế bằng cả điều pha và điều biên, cho phép truyền thông với tốc độ cao hơn cả tần số của sóng mang như trong modem 9.6 kb/s với mã hoá kiểu chòm sao (constellation)  </a:t>
            </a:r>
          </a:p>
        </p:txBody>
      </p:sp>
      <p:pic>
        <p:nvPicPr>
          <p:cNvPr id="442393"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2133600"/>
            <a:ext cx="3962400" cy="4191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681395273"/>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42371">
                                            <p:txEl>
                                              <p:pRg st="1" end="1"/>
                                            </p:txEl>
                                          </p:spTgt>
                                        </p:tgtEl>
                                        <p:attrNameLst>
                                          <p:attrName>style.visibility</p:attrName>
                                        </p:attrNameLst>
                                      </p:cBhvr>
                                      <p:to>
                                        <p:strVal val="visible"/>
                                      </p:to>
                                    </p:set>
                                    <p:anim calcmode="lin" valueType="num">
                                      <p:cBhvr additive="base">
                                        <p:cTn id="7" dur="500" fill="hold"/>
                                        <p:tgtEl>
                                          <p:spTgt spid="44237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23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42371">
                                            <p:txEl>
                                              <p:pRg st="2" end="2"/>
                                            </p:txEl>
                                          </p:spTgt>
                                        </p:tgtEl>
                                        <p:attrNameLst>
                                          <p:attrName>style.visibility</p:attrName>
                                        </p:attrNameLst>
                                      </p:cBhvr>
                                      <p:to>
                                        <p:strVal val="visible"/>
                                      </p:to>
                                    </p:set>
                                    <p:anim calcmode="lin" valueType="num">
                                      <p:cBhvr additive="base">
                                        <p:cTn id="13" dur="500" fill="hold"/>
                                        <p:tgtEl>
                                          <p:spTgt spid="44237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23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42371">
                                            <p:txEl>
                                              <p:pRg st="3" end="3"/>
                                            </p:txEl>
                                          </p:spTgt>
                                        </p:tgtEl>
                                        <p:attrNameLst>
                                          <p:attrName>style.visibility</p:attrName>
                                        </p:attrNameLst>
                                      </p:cBhvr>
                                      <p:to>
                                        <p:strVal val="visible"/>
                                      </p:to>
                                    </p:set>
                                    <p:anim calcmode="lin" valueType="num">
                                      <p:cBhvr additive="base">
                                        <p:cTn id="19" dur="500" fill="hold"/>
                                        <p:tgtEl>
                                          <p:spTgt spid="44237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237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AutoShape 2"/>
          <p:cNvSpPr>
            <a:spLocks noGrp="1" noChangeArrowheads="1"/>
          </p:cNvSpPr>
          <p:nvPr>
            <p:ph type="title"/>
          </p:nvPr>
        </p:nvSpPr>
        <p:spPr/>
        <p:txBody>
          <a:bodyPr/>
          <a:lstStyle/>
          <a:p>
            <a:r>
              <a:rPr lang="en-US" altLang="vi-VN"/>
              <a:t>TỔNG KẾT</a:t>
            </a:r>
          </a:p>
        </p:txBody>
      </p:sp>
      <p:sp>
        <p:nvSpPr>
          <p:cNvPr id="477187" name="Rectangle 3"/>
          <p:cNvSpPr>
            <a:spLocks noGrp="1" noChangeArrowheads="1"/>
          </p:cNvSpPr>
          <p:nvPr>
            <p:ph type="body" idx="1"/>
          </p:nvPr>
        </p:nvSpPr>
        <p:spPr/>
        <p:txBody>
          <a:bodyPr>
            <a:normAutofit lnSpcReduction="10000"/>
          </a:bodyPr>
          <a:lstStyle/>
          <a:p>
            <a:r>
              <a:rPr lang="en-US" altLang="vi-VN"/>
              <a:t>Dữ liệu là cách thể hiện thông tin với mục đích lưu trữ, xử lý và truyền tin</a:t>
            </a:r>
          </a:p>
          <a:p>
            <a:r>
              <a:rPr lang="en-US" altLang="vi-VN"/>
              <a:t>Có nhiều loại dữ liệu như số, văn bản, logic, đa phương tiện và tri thức. Mỗi loại có những đặc thù riêng đi kèm với các mã hoá</a:t>
            </a:r>
          </a:p>
          <a:p>
            <a:r>
              <a:rPr lang="en-US" altLang="vi-VN"/>
              <a:t>Để truyền dữ liệu, người ta phải điều chế. Đối với tín hiệu điện, thường phải gửi theo sóng mang với cơ chế mã hoá theo kiểu điều tần, điều pha, điều biên hay hỗn hợp.</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72839229"/>
      </p:ext>
    </p:extLst>
  </p:cSld>
  <p:clrMapOvr>
    <a:masterClrMapping/>
  </p:clrMapOvr>
  <p:transition spd="slow">
    <p:wipe di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AutoShape 2"/>
          <p:cNvSpPr>
            <a:spLocks noGrp="1" noChangeArrowheads="1"/>
          </p:cNvSpPr>
          <p:nvPr>
            <p:ph type="title"/>
          </p:nvPr>
        </p:nvSpPr>
        <p:spPr/>
        <p:txBody>
          <a:bodyPr/>
          <a:lstStyle/>
          <a:p>
            <a:r>
              <a:rPr lang="en-US" altLang="vi-VN"/>
              <a:t>CÂU HỎI VÀ BÀI TẬP</a:t>
            </a:r>
          </a:p>
        </p:txBody>
      </p:sp>
      <p:sp>
        <p:nvSpPr>
          <p:cNvPr id="476163" name="Rectangle 3"/>
          <p:cNvSpPr>
            <a:spLocks noGrp="1" noChangeArrowheads="1"/>
          </p:cNvSpPr>
          <p:nvPr>
            <p:ph type="body" idx="1"/>
          </p:nvPr>
        </p:nvSpPr>
        <p:spPr>
          <a:xfrm>
            <a:off x="838200" y="2133600"/>
            <a:ext cx="8077200" cy="3952875"/>
          </a:xfrm>
        </p:spPr>
        <p:txBody>
          <a:bodyPr>
            <a:normAutofit fontScale="85000" lnSpcReduction="10000"/>
          </a:bodyPr>
          <a:lstStyle/>
          <a:p>
            <a:pPr marL="457200" indent="-457200">
              <a:buFont typeface="Wingdings" panose="05000000000000000000" pitchFamily="2" charset="2"/>
              <a:buAutoNum type="arabicPeriod"/>
            </a:pPr>
            <a:r>
              <a:rPr lang="en-US" altLang="vi-VN"/>
              <a:t>Người ta nói dữ liệu là hình thức biểu diễn của thông tin. Cũng có người nói dữ liệu là thông tin được xử lý bằng máy tính. Hai cách nói này có mâu thuẫn không. </a:t>
            </a:r>
          </a:p>
          <a:p>
            <a:pPr marL="457200" indent="-457200">
              <a:buFont typeface="Wingdings" panose="05000000000000000000" pitchFamily="2" charset="2"/>
              <a:buAutoNum type="arabicPeriod"/>
            </a:pPr>
            <a:r>
              <a:rPr lang="en-US" altLang="vi-VN"/>
              <a:t>Thế nào là dữ liệu số, thế nào là dữ liệu phi số</a:t>
            </a:r>
          </a:p>
          <a:p>
            <a:pPr marL="457200" indent="-457200">
              <a:buFont typeface="Wingdings" panose="05000000000000000000" pitchFamily="2" charset="2"/>
              <a:buAutoNum type="arabicPeriod"/>
            </a:pPr>
            <a:r>
              <a:rPr lang="en-US" altLang="vi-VN"/>
              <a:t>Tại sao cần các chế độ biểu diễn số khác nhau như chế độ dấu phảy động và chế độ dấu phảy tĩnh</a:t>
            </a:r>
          </a:p>
          <a:p>
            <a:pPr marL="457200" indent="-457200">
              <a:buFont typeface="Wingdings" panose="05000000000000000000" pitchFamily="2" charset="2"/>
              <a:buAutoNum type="arabicPeriod"/>
            </a:pPr>
            <a:r>
              <a:rPr lang="en-US" altLang="vi-VN"/>
              <a:t>Nêu các phương pháp điều chế tín hiệu để truyền dữ liệu</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922639406"/>
      </p:ext>
    </p:extLst>
  </p:cSld>
  <p:clrMapOvr>
    <a:masterClrMapping/>
  </p:clrMapOvr>
  <p:transition spd="slow">
    <p:wipe dir="d"/>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AutoShape 2"/>
          <p:cNvSpPr>
            <a:spLocks noGrp="1" noChangeArrowheads="1"/>
          </p:cNvSpPr>
          <p:nvPr>
            <p:ph type="title"/>
          </p:nvPr>
        </p:nvSpPr>
        <p:spPr/>
        <p:txBody>
          <a:bodyPr/>
          <a:lstStyle/>
          <a:p>
            <a:r>
              <a:rPr lang="en-US" altLang="vi-VN" dirty="0" err="1"/>
              <a:t>HẾT</a:t>
            </a:r>
            <a:r>
              <a:rPr lang="en-US" altLang="vi-VN" dirty="0"/>
              <a:t> </a:t>
            </a:r>
            <a:r>
              <a:rPr lang="en-US" altLang="vi-VN" dirty="0" err="1"/>
              <a:t>BÀI</a:t>
            </a:r>
            <a:r>
              <a:rPr lang="en-US" altLang="vi-VN" dirty="0"/>
              <a:t> </a:t>
            </a:r>
            <a:r>
              <a:rPr lang="en-US" altLang="vi-VN" dirty="0" smtClean="0"/>
              <a:t>5. </a:t>
            </a:r>
            <a:r>
              <a:rPr lang="en-US" altLang="vi-VN" dirty="0" err="1"/>
              <a:t>HỎI</a:t>
            </a:r>
            <a:r>
              <a:rPr lang="en-US" altLang="vi-VN" dirty="0"/>
              <a:t> </a:t>
            </a:r>
            <a:r>
              <a:rPr lang="en-US" altLang="vi-VN" dirty="0" err="1"/>
              <a:t>VÀ</a:t>
            </a:r>
            <a:r>
              <a:rPr lang="en-US" altLang="vi-VN" dirty="0"/>
              <a:t> </a:t>
            </a:r>
            <a:r>
              <a:rPr lang="en-US" altLang="vi-VN" dirty="0" err="1"/>
              <a:t>ĐÁP</a:t>
            </a:r>
            <a:endParaRPr lang="en-US" altLang="vi-VN" dirty="0"/>
          </a:p>
        </p:txBody>
      </p:sp>
      <p:graphicFrame>
        <p:nvGraphicFramePr>
          <p:cNvPr id="375812" name="Object 4"/>
          <p:cNvGraphicFramePr>
            <a:graphicFrameLocks noChangeAspect="1"/>
          </p:cNvGraphicFramePr>
          <p:nvPr>
            <p:ph idx="1"/>
          </p:nvPr>
        </p:nvGraphicFramePr>
        <p:xfrm>
          <a:off x="2767013" y="1905000"/>
          <a:ext cx="3833812" cy="4181475"/>
        </p:xfrm>
        <a:graphic>
          <a:graphicData uri="http://schemas.openxmlformats.org/presentationml/2006/ole">
            <mc:AlternateContent xmlns:mc="http://schemas.openxmlformats.org/markup-compatibility/2006">
              <mc:Choice xmlns:v="urn:schemas-microsoft-com:vml" Requires="v">
                <p:oleObj spid="_x0000_s10244" name="Clip" r:id="rId4" imgW="5157360" imgH="5624280" progId="MS_ClipArt_Gallery.2">
                  <p:embed/>
                </p:oleObj>
              </mc:Choice>
              <mc:Fallback>
                <p:oleObj name="Clip" r:id="rId4" imgW="5157360" imgH="5624280" progId="MS_ClipArt_Gallery.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67013" y="1905000"/>
                        <a:ext cx="3833812" cy="418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094018234"/>
      </p:ext>
    </p:extLst>
  </p:cSld>
  <p:clrMapOvr>
    <a:masterClrMapping/>
  </p:clrMapOvr>
  <p:transition spd="slow">
    <p:wipe dir="d"/>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895600"/>
            <a:ext cx="6934200" cy="762000"/>
          </a:xfrm>
        </p:spPr>
        <p:txBody>
          <a:bodyPr>
            <a:normAutofit/>
          </a:bodyPr>
          <a:lstStyle/>
          <a:p>
            <a:r>
              <a:rPr lang="en-US" dirty="0" err="1" smtClean="0"/>
              <a:t>Bài</a:t>
            </a:r>
            <a:r>
              <a:rPr lang="en-US" dirty="0" smtClean="0"/>
              <a:t> </a:t>
            </a:r>
            <a:r>
              <a:rPr lang="en-US" dirty="0" smtClean="0"/>
              <a:t>6. </a:t>
            </a:r>
            <a:r>
              <a:rPr lang="en-US" dirty="0" err="1" smtClean="0"/>
              <a:t>thuật</a:t>
            </a:r>
            <a:r>
              <a:rPr lang="en-US" dirty="0" smtClean="0"/>
              <a:t> </a:t>
            </a:r>
            <a:r>
              <a:rPr lang="en-US" dirty="0" err="1" smtClean="0"/>
              <a:t>toán</a:t>
            </a:r>
            <a:endParaRPr lang="vi-VN" dirty="0"/>
          </a:p>
        </p:txBody>
      </p:sp>
      <p:sp>
        <p:nvSpPr>
          <p:cNvPr id="4" name="Footer Placeholder 3"/>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107488706"/>
      </p:ext>
    </p:extLst>
  </p:cSld>
  <p:clrMapOvr>
    <a:masterClrMapping/>
  </p:clrMapOvr>
  <p:transition spd="slow">
    <p:wipe dir="d"/>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AutoShape 2"/>
          <p:cNvSpPr>
            <a:spLocks noGrp="1" noChangeArrowheads="1"/>
          </p:cNvSpPr>
          <p:nvPr>
            <p:ph type="title"/>
          </p:nvPr>
        </p:nvSpPr>
        <p:spPr/>
        <p:txBody>
          <a:bodyPr/>
          <a:lstStyle/>
          <a:p>
            <a:r>
              <a:rPr lang="en-US" altLang="vi-VN"/>
              <a:t>NỘI DUNG</a:t>
            </a:r>
          </a:p>
        </p:txBody>
      </p:sp>
      <p:sp>
        <p:nvSpPr>
          <p:cNvPr id="476163" name="Rectangle 3"/>
          <p:cNvSpPr>
            <a:spLocks noGrp="1" noChangeArrowheads="1"/>
          </p:cNvSpPr>
          <p:nvPr>
            <p:ph type="body" idx="1"/>
          </p:nvPr>
        </p:nvSpPr>
        <p:spPr/>
        <p:txBody>
          <a:bodyPr/>
          <a:lstStyle/>
          <a:p>
            <a:r>
              <a:rPr lang="en-US" altLang="vi-VN"/>
              <a:t>Bài toán và thuật toán</a:t>
            </a:r>
          </a:p>
          <a:p>
            <a:r>
              <a:rPr lang="en-US" altLang="vi-VN"/>
              <a:t>Các phương pháp biểu diễn thuật toán</a:t>
            </a:r>
          </a:p>
          <a:p>
            <a:r>
              <a:rPr lang="en-US" altLang="vi-VN"/>
              <a:t>Các đặc trưng của thuật toán</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503042510"/>
      </p:ext>
    </p:extLst>
  </p:cSld>
  <p:clrMapOvr>
    <a:masterClrMapping/>
  </p:clrMapOvr>
  <p:transition spd="slow">
    <p:wipe dir="d"/>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AutoShape 2"/>
          <p:cNvSpPr>
            <a:spLocks noGrp="1" noChangeArrowheads="1"/>
          </p:cNvSpPr>
          <p:nvPr>
            <p:ph type="title"/>
          </p:nvPr>
        </p:nvSpPr>
        <p:spPr/>
        <p:txBody>
          <a:bodyPr/>
          <a:lstStyle/>
          <a:p>
            <a:r>
              <a:rPr lang="en-US" altLang="vi-VN"/>
              <a:t>KHÁI NIỆM BÀI TOÁN</a:t>
            </a:r>
          </a:p>
        </p:txBody>
      </p:sp>
      <p:sp>
        <p:nvSpPr>
          <p:cNvPr id="477188" name="Text Box 4"/>
          <p:cNvSpPr txBox="1">
            <a:spLocks noChangeArrowheads="1"/>
          </p:cNvSpPr>
          <p:nvPr/>
        </p:nvSpPr>
        <p:spPr bwMode="auto">
          <a:xfrm>
            <a:off x="1143000" y="2133600"/>
            <a:ext cx="1905000" cy="701675"/>
          </a:xfrm>
          <a:prstGeom prst="rect">
            <a:avLst/>
          </a:prstGeom>
          <a:solidFill>
            <a:schemeClr val="accent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000"/>
              <a:t>Cho số tự nhiên n</a:t>
            </a:r>
          </a:p>
        </p:txBody>
      </p:sp>
      <p:sp>
        <p:nvSpPr>
          <p:cNvPr id="477190" name="Text Box 6"/>
          <p:cNvSpPr txBox="1">
            <a:spLocks noChangeArrowheads="1"/>
          </p:cNvSpPr>
          <p:nvPr/>
        </p:nvSpPr>
        <p:spPr bwMode="auto">
          <a:xfrm>
            <a:off x="3581400" y="2133600"/>
            <a:ext cx="2362200" cy="1006475"/>
          </a:xfrm>
          <a:prstGeom prst="rect">
            <a:avLst/>
          </a:prstGeom>
          <a:solidFill>
            <a:srgbClr val="FFFF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000"/>
              <a:t>n có phải số nguyên tố hay không</a:t>
            </a:r>
          </a:p>
        </p:txBody>
      </p:sp>
      <p:sp>
        <p:nvSpPr>
          <p:cNvPr id="477191" name="Text Box 7"/>
          <p:cNvSpPr txBox="1">
            <a:spLocks noChangeArrowheads="1"/>
          </p:cNvSpPr>
          <p:nvPr/>
        </p:nvSpPr>
        <p:spPr bwMode="auto">
          <a:xfrm>
            <a:off x="6553200" y="2133600"/>
            <a:ext cx="1828800" cy="701675"/>
          </a:xfrm>
          <a:prstGeom prst="rect">
            <a:avLst/>
          </a:prstGeom>
          <a:solidFill>
            <a:srgbClr val="BEBDA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000"/>
              <a:t>“có” hay “không”</a:t>
            </a:r>
          </a:p>
        </p:txBody>
      </p:sp>
      <p:sp>
        <p:nvSpPr>
          <p:cNvPr id="477192" name="Text Box 8"/>
          <p:cNvSpPr txBox="1">
            <a:spLocks noChangeArrowheads="1"/>
          </p:cNvSpPr>
          <p:nvPr/>
        </p:nvSpPr>
        <p:spPr bwMode="auto">
          <a:xfrm>
            <a:off x="1143000" y="3429000"/>
            <a:ext cx="1905000" cy="701675"/>
          </a:xfrm>
          <a:prstGeom prst="rect">
            <a:avLst/>
          </a:prstGeom>
          <a:solidFill>
            <a:schemeClr val="accent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000"/>
              <a:t> Cho hồ sơ điểm sinh viên</a:t>
            </a:r>
          </a:p>
        </p:txBody>
      </p:sp>
      <p:sp>
        <p:nvSpPr>
          <p:cNvPr id="477193" name="Text Box 9"/>
          <p:cNvSpPr txBox="1">
            <a:spLocks noChangeArrowheads="1"/>
          </p:cNvSpPr>
          <p:nvPr/>
        </p:nvSpPr>
        <p:spPr bwMode="auto">
          <a:xfrm>
            <a:off x="3581400" y="3429000"/>
            <a:ext cx="2362200" cy="1006475"/>
          </a:xfrm>
          <a:prstGeom prst="rect">
            <a:avLst/>
          </a:prstGeom>
          <a:solidFill>
            <a:srgbClr val="FFFF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000"/>
              <a:t>Tìm tất cả các sinh viên có điểm trung bình trên 8</a:t>
            </a:r>
          </a:p>
        </p:txBody>
      </p:sp>
      <p:sp>
        <p:nvSpPr>
          <p:cNvPr id="477194" name="Text Box 10"/>
          <p:cNvSpPr txBox="1">
            <a:spLocks noChangeArrowheads="1"/>
          </p:cNvSpPr>
          <p:nvPr/>
        </p:nvSpPr>
        <p:spPr bwMode="auto">
          <a:xfrm>
            <a:off x="6629400" y="3429000"/>
            <a:ext cx="1752600" cy="701675"/>
          </a:xfrm>
          <a:prstGeom prst="rect">
            <a:avLst/>
          </a:prstGeom>
          <a:solidFill>
            <a:srgbClr val="BEBDA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000"/>
              <a:t>Danh sách sv thoả mãn</a:t>
            </a:r>
          </a:p>
        </p:txBody>
      </p:sp>
      <p:sp>
        <p:nvSpPr>
          <p:cNvPr id="477195" name="Text Box 11"/>
          <p:cNvSpPr txBox="1">
            <a:spLocks noChangeArrowheads="1"/>
          </p:cNvSpPr>
          <p:nvPr/>
        </p:nvSpPr>
        <p:spPr bwMode="auto">
          <a:xfrm>
            <a:off x="1143000" y="4708525"/>
            <a:ext cx="1905000" cy="701675"/>
          </a:xfrm>
          <a:prstGeom prst="rect">
            <a:avLst/>
          </a:prstGeom>
          <a:solidFill>
            <a:schemeClr val="accent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000"/>
              <a:t> Thiết kế hình học, tải trọng</a:t>
            </a:r>
          </a:p>
        </p:txBody>
      </p:sp>
      <p:sp>
        <p:nvSpPr>
          <p:cNvPr id="477196" name="Text Box 12"/>
          <p:cNvSpPr txBox="1">
            <a:spLocks noChangeArrowheads="1"/>
          </p:cNvSpPr>
          <p:nvPr/>
        </p:nvSpPr>
        <p:spPr bwMode="auto">
          <a:xfrm>
            <a:off x="3581400" y="4708525"/>
            <a:ext cx="2362200" cy="396875"/>
          </a:xfrm>
          <a:prstGeom prst="rect">
            <a:avLst/>
          </a:prstGeom>
          <a:solidFill>
            <a:srgbClr val="FFFF66"/>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000"/>
              <a:t>Tính sức bền </a:t>
            </a:r>
          </a:p>
        </p:txBody>
      </p:sp>
      <p:sp>
        <p:nvSpPr>
          <p:cNvPr id="477197" name="Text Box 13"/>
          <p:cNvSpPr txBox="1">
            <a:spLocks noChangeArrowheads="1"/>
          </p:cNvSpPr>
          <p:nvPr/>
        </p:nvSpPr>
        <p:spPr bwMode="auto">
          <a:xfrm>
            <a:off x="6629400" y="4708525"/>
            <a:ext cx="1752600" cy="457200"/>
          </a:xfrm>
          <a:prstGeom prst="rect">
            <a:avLst/>
          </a:prstGeom>
          <a:solidFill>
            <a:srgbClr val="BEBDA8"/>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400"/>
              <a:t>Đ</a:t>
            </a:r>
            <a:r>
              <a:rPr lang="en-US" altLang="vi-VN" sz="2000"/>
              <a:t>ộ bền  </a:t>
            </a:r>
          </a:p>
        </p:txBody>
      </p:sp>
      <p:sp>
        <p:nvSpPr>
          <p:cNvPr id="477198" name="Oval 14"/>
          <p:cNvSpPr>
            <a:spLocks noChangeArrowheads="1"/>
          </p:cNvSpPr>
          <p:nvPr/>
        </p:nvSpPr>
        <p:spPr bwMode="auto">
          <a:xfrm>
            <a:off x="990600" y="2133600"/>
            <a:ext cx="2667000" cy="3581400"/>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77201" name="AutoShape 17"/>
          <p:cNvSpPr>
            <a:spLocks noChangeArrowheads="1"/>
          </p:cNvSpPr>
          <p:nvPr/>
        </p:nvSpPr>
        <p:spPr bwMode="auto">
          <a:xfrm>
            <a:off x="3733800" y="228600"/>
            <a:ext cx="1524000" cy="457200"/>
          </a:xfrm>
          <a:prstGeom prst="wedgeRoundRectCallout">
            <a:avLst>
              <a:gd name="adj1" fmla="val -103750"/>
              <a:gd name="adj2" fmla="val 357639"/>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vi-VN" sz="2400"/>
              <a:t>Input</a:t>
            </a:r>
          </a:p>
        </p:txBody>
      </p:sp>
      <p:sp>
        <p:nvSpPr>
          <p:cNvPr id="477202" name="AutoShape 18"/>
          <p:cNvSpPr>
            <a:spLocks noChangeArrowheads="1"/>
          </p:cNvSpPr>
          <p:nvPr/>
        </p:nvSpPr>
        <p:spPr bwMode="auto">
          <a:xfrm>
            <a:off x="5105400" y="381000"/>
            <a:ext cx="1524000" cy="457200"/>
          </a:xfrm>
          <a:prstGeom prst="wedgeRoundRectCallout">
            <a:avLst>
              <a:gd name="adj1" fmla="val -23542"/>
              <a:gd name="adj2" fmla="val 337153"/>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vi-VN" sz="2400"/>
              <a:t>Yêu cầu</a:t>
            </a:r>
          </a:p>
        </p:txBody>
      </p:sp>
      <p:sp>
        <p:nvSpPr>
          <p:cNvPr id="477203" name="AutoShape 19"/>
          <p:cNvSpPr>
            <a:spLocks noChangeArrowheads="1"/>
          </p:cNvSpPr>
          <p:nvPr/>
        </p:nvSpPr>
        <p:spPr bwMode="auto">
          <a:xfrm>
            <a:off x="6553200" y="685800"/>
            <a:ext cx="1524000" cy="457200"/>
          </a:xfrm>
          <a:prstGeom prst="wedgeRoundRectCallout">
            <a:avLst>
              <a:gd name="adj1" fmla="val 16667"/>
              <a:gd name="adj2" fmla="val 275000"/>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vi-VN" sz="2400"/>
              <a:t>Output</a:t>
            </a:r>
          </a:p>
        </p:txBody>
      </p:sp>
      <p:sp>
        <p:nvSpPr>
          <p:cNvPr id="477204" name="Text Box 20"/>
          <p:cNvSpPr txBox="1">
            <a:spLocks noChangeArrowheads="1"/>
          </p:cNvSpPr>
          <p:nvPr/>
        </p:nvSpPr>
        <p:spPr bwMode="auto">
          <a:xfrm>
            <a:off x="2286000" y="5715000"/>
            <a:ext cx="5410200" cy="8223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400"/>
              <a:t>Cho một bài toán nghĩa là cho input, và yêu cầu để tìm (tính) ra output </a:t>
            </a:r>
          </a:p>
        </p:txBody>
      </p:sp>
      <p:sp>
        <p:nvSpPr>
          <p:cNvPr id="477205" name="Oval 21"/>
          <p:cNvSpPr>
            <a:spLocks noChangeArrowheads="1"/>
          </p:cNvSpPr>
          <p:nvPr/>
        </p:nvSpPr>
        <p:spPr bwMode="auto">
          <a:xfrm>
            <a:off x="3657600" y="1905000"/>
            <a:ext cx="2667000" cy="3429000"/>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77206" name="Oval 22"/>
          <p:cNvSpPr>
            <a:spLocks noChangeArrowheads="1"/>
          </p:cNvSpPr>
          <p:nvPr/>
        </p:nvSpPr>
        <p:spPr bwMode="auto">
          <a:xfrm>
            <a:off x="6324600" y="1981200"/>
            <a:ext cx="2667000" cy="3505200"/>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271703925"/>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7188"/>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77190"/>
                                        </p:tgtEl>
                                        <p:attrNameLst>
                                          <p:attrName>style.visibility</p:attrName>
                                        </p:attrNameLst>
                                      </p:cBhvr>
                                      <p:to>
                                        <p:strVal val="visible"/>
                                      </p:to>
                                    </p:set>
                                  </p:childTnLst>
                                </p:cTn>
                              </p:par>
                            </p:childTnLst>
                          </p:cTn>
                        </p:par>
                        <p:par>
                          <p:cTn id="10" fill="hold" nodeType="afterGroup">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47719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77192"/>
                                        </p:tgtEl>
                                        <p:attrNameLst>
                                          <p:attrName>style.visibility</p:attrName>
                                        </p:attrNameLst>
                                      </p:cBhvr>
                                      <p:to>
                                        <p:strVal val="visible"/>
                                      </p:to>
                                    </p:set>
                                  </p:childTnLst>
                                </p:cTn>
                              </p:par>
                            </p:childTnLst>
                          </p:cTn>
                        </p:par>
                        <p:par>
                          <p:cTn id="17" fill="hold" nodeType="afterGroup">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477193"/>
                                        </p:tgtEl>
                                        <p:attrNameLst>
                                          <p:attrName>style.visibility</p:attrName>
                                        </p:attrNameLst>
                                      </p:cBhvr>
                                      <p:to>
                                        <p:strVal val="visible"/>
                                      </p:to>
                                    </p:set>
                                  </p:childTnLst>
                                </p:cTn>
                              </p:par>
                            </p:childTnLst>
                          </p:cTn>
                        </p:par>
                        <p:par>
                          <p:cTn id="20" fill="hold" nodeType="afterGroup">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47719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7195"/>
                                        </p:tgtEl>
                                        <p:attrNameLst>
                                          <p:attrName>style.visibility</p:attrName>
                                        </p:attrNameLst>
                                      </p:cBhvr>
                                      <p:to>
                                        <p:strVal val="visible"/>
                                      </p:to>
                                    </p:set>
                                  </p:childTnLst>
                                </p:cTn>
                              </p:par>
                            </p:childTnLst>
                          </p:cTn>
                        </p:par>
                        <p:par>
                          <p:cTn id="27" fill="hold" nodeType="afterGroup">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477196"/>
                                        </p:tgtEl>
                                        <p:attrNameLst>
                                          <p:attrName>style.visibility</p:attrName>
                                        </p:attrNameLst>
                                      </p:cBhvr>
                                      <p:to>
                                        <p:strVal val="visible"/>
                                      </p:to>
                                    </p:set>
                                  </p:childTnLst>
                                </p:cTn>
                              </p:par>
                            </p:childTnLst>
                          </p:cTn>
                        </p:par>
                        <p:par>
                          <p:cTn id="30" fill="hold" nodeType="afterGroup">
                            <p:stCondLst>
                              <p:cond delay="0"/>
                            </p:stCondLst>
                            <p:childTnLst>
                              <p:par>
                                <p:cTn id="31" presetID="1" presetClass="entr" presetSubtype="0" fill="hold" grpId="0" nodeType="afterEffect">
                                  <p:stCondLst>
                                    <p:cond delay="0"/>
                                  </p:stCondLst>
                                  <p:childTnLst>
                                    <p:set>
                                      <p:cBhvr>
                                        <p:cTn id="32" dur="1" fill="hold">
                                          <p:stCondLst>
                                            <p:cond delay="0"/>
                                          </p:stCondLst>
                                        </p:cTn>
                                        <p:tgtEl>
                                          <p:spTgt spid="477197"/>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53" presetClass="entr" presetSubtype="0" fill="hold" grpId="0" nodeType="clickEffect">
                                  <p:stCondLst>
                                    <p:cond delay="0"/>
                                  </p:stCondLst>
                                  <p:childTnLst>
                                    <p:set>
                                      <p:cBhvr>
                                        <p:cTn id="36" dur="1" fill="hold">
                                          <p:stCondLst>
                                            <p:cond delay="0"/>
                                          </p:stCondLst>
                                        </p:cTn>
                                        <p:tgtEl>
                                          <p:spTgt spid="477198"/>
                                        </p:tgtEl>
                                        <p:attrNameLst>
                                          <p:attrName>style.visibility</p:attrName>
                                        </p:attrNameLst>
                                      </p:cBhvr>
                                      <p:to>
                                        <p:strVal val="visible"/>
                                      </p:to>
                                    </p:set>
                                    <p:anim calcmode="lin" valueType="num">
                                      <p:cBhvr>
                                        <p:cTn id="37" dur="500" fill="hold"/>
                                        <p:tgtEl>
                                          <p:spTgt spid="477198"/>
                                        </p:tgtEl>
                                        <p:attrNameLst>
                                          <p:attrName>ppt_w</p:attrName>
                                        </p:attrNameLst>
                                      </p:cBhvr>
                                      <p:tavLst>
                                        <p:tav tm="0">
                                          <p:val>
                                            <p:fltVal val="0"/>
                                          </p:val>
                                        </p:tav>
                                        <p:tav tm="100000">
                                          <p:val>
                                            <p:strVal val="#ppt_w"/>
                                          </p:val>
                                        </p:tav>
                                      </p:tavLst>
                                    </p:anim>
                                    <p:anim calcmode="lin" valueType="num">
                                      <p:cBhvr>
                                        <p:cTn id="38" dur="500" fill="hold"/>
                                        <p:tgtEl>
                                          <p:spTgt spid="477198"/>
                                        </p:tgtEl>
                                        <p:attrNameLst>
                                          <p:attrName>ppt_h</p:attrName>
                                        </p:attrNameLst>
                                      </p:cBhvr>
                                      <p:tavLst>
                                        <p:tav tm="0">
                                          <p:val>
                                            <p:fltVal val="0"/>
                                          </p:val>
                                        </p:tav>
                                        <p:tav tm="100000">
                                          <p:val>
                                            <p:strVal val="#ppt_h"/>
                                          </p:val>
                                        </p:tav>
                                      </p:tavLst>
                                    </p:anim>
                                    <p:animEffect transition="in" filter="fade">
                                      <p:cBhvr>
                                        <p:cTn id="39" dur="500"/>
                                        <p:tgtEl>
                                          <p:spTgt spid="477198"/>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477201"/>
                                        </p:tgtEl>
                                        <p:attrNameLst>
                                          <p:attrName>style.visibility</p:attrName>
                                        </p:attrNameLst>
                                      </p:cBhvr>
                                      <p:to>
                                        <p:strVal val="visible"/>
                                      </p:to>
                                    </p:set>
                                    <p:animEffect transition="in" filter="wipe(up)">
                                      <p:cBhvr>
                                        <p:cTn id="42" dur="500"/>
                                        <p:tgtEl>
                                          <p:spTgt spid="47720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3" presetClass="entr" presetSubtype="0" fill="hold" grpId="0" nodeType="clickEffect">
                                  <p:stCondLst>
                                    <p:cond delay="0"/>
                                  </p:stCondLst>
                                  <p:childTnLst>
                                    <p:set>
                                      <p:cBhvr>
                                        <p:cTn id="46" dur="1" fill="hold">
                                          <p:stCondLst>
                                            <p:cond delay="0"/>
                                          </p:stCondLst>
                                        </p:cTn>
                                        <p:tgtEl>
                                          <p:spTgt spid="477206"/>
                                        </p:tgtEl>
                                        <p:attrNameLst>
                                          <p:attrName>style.visibility</p:attrName>
                                        </p:attrNameLst>
                                      </p:cBhvr>
                                      <p:to>
                                        <p:strVal val="visible"/>
                                      </p:to>
                                    </p:set>
                                    <p:anim calcmode="lin" valueType="num">
                                      <p:cBhvr>
                                        <p:cTn id="47" dur="500" fill="hold"/>
                                        <p:tgtEl>
                                          <p:spTgt spid="477206"/>
                                        </p:tgtEl>
                                        <p:attrNameLst>
                                          <p:attrName>ppt_w</p:attrName>
                                        </p:attrNameLst>
                                      </p:cBhvr>
                                      <p:tavLst>
                                        <p:tav tm="0">
                                          <p:val>
                                            <p:fltVal val="0"/>
                                          </p:val>
                                        </p:tav>
                                        <p:tav tm="100000">
                                          <p:val>
                                            <p:strVal val="#ppt_w"/>
                                          </p:val>
                                        </p:tav>
                                      </p:tavLst>
                                    </p:anim>
                                    <p:anim calcmode="lin" valueType="num">
                                      <p:cBhvr>
                                        <p:cTn id="48" dur="500" fill="hold"/>
                                        <p:tgtEl>
                                          <p:spTgt spid="477206"/>
                                        </p:tgtEl>
                                        <p:attrNameLst>
                                          <p:attrName>ppt_h</p:attrName>
                                        </p:attrNameLst>
                                      </p:cBhvr>
                                      <p:tavLst>
                                        <p:tav tm="0">
                                          <p:val>
                                            <p:fltVal val="0"/>
                                          </p:val>
                                        </p:tav>
                                        <p:tav tm="100000">
                                          <p:val>
                                            <p:strVal val="#ppt_h"/>
                                          </p:val>
                                        </p:tav>
                                      </p:tavLst>
                                    </p:anim>
                                    <p:animEffect transition="in" filter="fade">
                                      <p:cBhvr>
                                        <p:cTn id="49" dur="500"/>
                                        <p:tgtEl>
                                          <p:spTgt spid="477206"/>
                                        </p:tgtEl>
                                      </p:cBhvr>
                                    </p:animEffect>
                                  </p:childTnLst>
                                </p:cTn>
                              </p:par>
                              <p:par>
                                <p:cTn id="50" presetID="22" presetClass="entr" presetSubtype="1" fill="hold" grpId="0" nodeType="withEffect">
                                  <p:stCondLst>
                                    <p:cond delay="0"/>
                                  </p:stCondLst>
                                  <p:childTnLst>
                                    <p:set>
                                      <p:cBhvr>
                                        <p:cTn id="51" dur="1" fill="hold">
                                          <p:stCondLst>
                                            <p:cond delay="0"/>
                                          </p:stCondLst>
                                        </p:cTn>
                                        <p:tgtEl>
                                          <p:spTgt spid="477203"/>
                                        </p:tgtEl>
                                        <p:attrNameLst>
                                          <p:attrName>style.visibility</p:attrName>
                                        </p:attrNameLst>
                                      </p:cBhvr>
                                      <p:to>
                                        <p:strVal val="visible"/>
                                      </p:to>
                                    </p:set>
                                    <p:animEffect transition="in" filter="wipe(up)">
                                      <p:cBhvr>
                                        <p:cTn id="52" dur="500"/>
                                        <p:tgtEl>
                                          <p:spTgt spid="47720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ntr" presetSubtype="0" fill="hold" grpId="0" nodeType="clickEffect">
                                  <p:stCondLst>
                                    <p:cond delay="0"/>
                                  </p:stCondLst>
                                  <p:childTnLst>
                                    <p:set>
                                      <p:cBhvr>
                                        <p:cTn id="56" dur="1" fill="hold">
                                          <p:stCondLst>
                                            <p:cond delay="0"/>
                                          </p:stCondLst>
                                        </p:cTn>
                                        <p:tgtEl>
                                          <p:spTgt spid="477205"/>
                                        </p:tgtEl>
                                        <p:attrNameLst>
                                          <p:attrName>style.visibility</p:attrName>
                                        </p:attrNameLst>
                                      </p:cBhvr>
                                      <p:to>
                                        <p:strVal val="visible"/>
                                      </p:to>
                                    </p:set>
                                    <p:anim calcmode="lin" valueType="num">
                                      <p:cBhvr>
                                        <p:cTn id="57" dur="500" fill="hold"/>
                                        <p:tgtEl>
                                          <p:spTgt spid="477205"/>
                                        </p:tgtEl>
                                        <p:attrNameLst>
                                          <p:attrName>ppt_w</p:attrName>
                                        </p:attrNameLst>
                                      </p:cBhvr>
                                      <p:tavLst>
                                        <p:tav tm="0">
                                          <p:val>
                                            <p:fltVal val="0"/>
                                          </p:val>
                                        </p:tav>
                                        <p:tav tm="100000">
                                          <p:val>
                                            <p:strVal val="#ppt_w"/>
                                          </p:val>
                                        </p:tav>
                                      </p:tavLst>
                                    </p:anim>
                                    <p:anim calcmode="lin" valueType="num">
                                      <p:cBhvr>
                                        <p:cTn id="58" dur="500" fill="hold"/>
                                        <p:tgtEl>
                                          <p:spTgt spid="477205"/>
                                        </p:tgtEl>
                                        <p:attrNameLst>
                                          <p:attrName>ppt_h</p:attrName>
                                        </p:attrNameLst>
                                      </p:cBhvr>
                                      <p:tavLst>
                                        <p:tav tm="0">
                                          <p:val>
                                            <p:fltVal val="0"/>
                                          </p:val>
                                        </p:tav>
                                        <p:tav tm="100000">
                                          <p:val>
                                            <p:strVal val="#ppt_h"/>
                                          </p:val>
                                        </p:tav>
                                      </p:tavLst>
                                    </p:anim>
                                    <p:animEffect transition="in" filter="fade">
                                      <p:cBhvr>
                                        <p:cTn id="59" dur="500"/>
                                        <p:tgtEl>
                                          <p:spTgt spid="477205"/>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477202"/>
                                        </p:tgtEl>
                                        <p:attrNameLst>
                                          <p:attrName>style.visibility</p:attrName>
                                        </p:attrNameLst>
                                      </p:cBhvr>
                                      <p:to>
                                        <p:strVal val="visible"/>
                                      </p:to>
                                    </p:set>
                                    <p:animEffect transition="in" filter="wipe(up)">
                                      <p:cBhvr>
                                        <p:cTn id="62" dur="500"/>
                                        <p:tgtEl>
                                          <p:spTgt spid="47720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77204"/>
                                        </p:tgtEl>
                                        <p:attrNameLst>
                                          <p:attrName>style.visibility</p:attrName>
                                        </p:attrNameLst>
                                      </p:cBhvr>
                                      <p:to>
                                        <p:strVal val="visible"/>
                                      </p:to>
                                    </p:set>
                                    <p:anim calcmode="lin" valueType="num">
                                      <p:cBhvr additive="base">
                                        <p:cTn id="67" dur="500" fill="hold"/>
                                        <p:tgtEl>
                                          <p:spTgt spid="477204"/>
                                        </p:tgtEl>
                                        <p:attrNameLst>
                                          <p:attrName>ppt_x</p:attrName>
                                        </p:attrNameLst>
                                      </p:cBhvr>
                                      <p:tavLst>
                                        <p:tav tm="0">
                                          <p:val>
                                            <p:strVal val="#ppt_x"/>
                                          </p:val>
                                        </p:tav>
                                        <p:tav tm="100000">
                                          <p:val>
                                            <p:strVal val="#ppt_x"/>
                                          </p:val>
                                        </p:tav>
                                      </p:tavLst>
                                    </p:anim>
                                    <p:anim calcmode="lin" valueType="num">
                                      <p:cBhvr additive="base">
                                        <p:cTn id="68" dur="500" fill="hold"/>
                                        <p:tgtEl>
                                          <p:spTgt spid="4772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90" grpId="0" animBg="1"/>
      <p:bldP spid="477191" grpId="0" animBg="1"/>
      <p:bldP spid="477192" grpId="0" animBg="1"/>
      <p:bldP spid="477193" grpId="0" animBg="1"/>
      <p:bldP spid="477194" grpId="0" animBg="1"/>
      <p:bldP spid="477195" grpId="0" animBg="1"/>
      <p:bldP spid="477196" grpId="0" animBg="1"/>
      <p:bldP spid="477197" grpId="0" animBg="1"/>
      <p:bldP spid="477198" grpId="0" animBg="1"/>
      <p:bldP spid="477201" grpId="0" animBg="1"/>
      <p:bldP spid="477202" grpId="0" animBg="1"/>
      <p:bldP spid="477203" grpId="0" animBg="1"/>
      <p:bldP spid="477204" grpId="0"/>
      <p:bldP spid="477205" grpId="0" animBg="1"/>
      <p:bldP spid="47720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AutoShape 2"/>
          <p:cNvSpPr>
            <a:spLocks noGrp="1" noChangeArrowheads="1"/>
          </p:cNvSpPr>
          <p:nvPr>
            <p:ph type="title"/>
          </p:nvPr>
        </p:nvSpPr>
        <p:spPr/>
        <p:txBody>
          <a:bodyPr/>
          <a:lstStyle/>
          <a:p>
            <a:r>
              <a:rPr lang="en-US" altLang="vi-VN"/>
              <a:t>KHÁI NIỆM THUẬT TOÁN</a:t>
            </a:r>
          </a:p>
        </p:txBody>
      </p:sp>
      <p:sp>
        <p:nvSpPr>
          <p:cNvPr id="479235" name="Rectangle 3"/>
          <p:cNvSpPr>
            <a:spLocks noGrp="1" noChangeArrowheads="1"/>
          </p:cNvSpPr>
          <p:nvPr>
            <p:ph type="body" idx="1"/>
          </p:nvPr>
        </p:nvSpPr>
        <p:spPr>
          <a:xfrm>
            <a:off x="838200" y="1905000"/>
            <a:ext cx="7693025" cy="4648200"/>
          </a:xfrm>
        </p:spPr>
        <p:txBody>
          <a:bodyPr/>
          <a:lstStyle/>
          <a:p>
            <a:r>
              <a:rPr lang="en-US" altLang="vi-VN" sz="2400"/>
              <a:t>Thuật toán (algorithm) là một quá trình gồm một dãy hữu hạn các thao tác có thể thực hiện được sắp xếp theo một trình tự xác định dùng để giải một bài toán  </a:t>
            </a:r>
          </a:p>
          <a:p>
            <a:r>
              <a:rPr lang="en-US" altLang="vi-VN" sz="2400"/>
              <a:t>Ví dụ : thuật toán Euclid tìm ước số chung lớn nhất của hai số tự nhiên. Thay vì phải tính toán theo định nghĩa chỉ làm rõ cấu trúc của USCLN (tích của các ước số chung với số mũ nhỏ nhất) thuật toán Euclid dựa trên các tính chất sau:</a:t>
            </a:r>
          </a:p>
          <a:p>
            <a:pPr lvl="1"/>
            <a:r>
              <a:rPr lang="en-US" altLang="vi-VN" sz="2000"/>
              <a:t>USCLN(a,b) = USCLN (b,a))</a:t>
            </a:r>
          </a:p>
          <a:p>
            <a:pPr lvl="1"/>
            <a:r>
              <a:rPr lang="en-US" altLang="vi-VN" sz="2000"/>
              <a:t>Nếu a&gt; b, USCLN(a,b) = USCLN (a-b,b)</a:t>
            </a:r>
          </a:p>
          <a:p>
            <a:pPr lvl="1"/>
            <a:r>
              <a:rPr lang="en-US" altLang="vi-VN" sz="2000"/>
              <a:t>USCLN(a,a)= a</a:t>
            </a:r>
          </a:p>
          <a:p>
            <a:pPr lvl="1"/>
            <a:endParaRPr lang="en-US" altLang="vi-VN" sz="2000"/>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4186282670"/>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479235">
                                            <p:txEl>
                                              <p:pRg st="1" end="1"/>
                                            </p:txEl>
                                          </p:spTgt>
                                        </p:tgtEl>
                                        <p:attrNameLst>
                                          <p:attrName>style.visibility</p:attrName>
                                        </p:attrNameLst>
                                      </p:cBhvr>
                                      <p:to>
                                        <p:strVal val="visible"/>
                                      </p:to>
                                    </p:set>
                                    <p:animEffect transition="in" filter="slide(fromBottom)">
                                      <p:cBhvr>
                                        <p:cTn id="7" dur="500"/>
                                        <p:tgtEl>
                                          <p:spTgt spid="479235">
                                            <p:txEl>
                                              <p:pRg st="1" end="1"/>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479235">
                                            <p:txEl>
                                              <p:pRg st="2" end="2"/>
                                            </p:txEl>
                                          </p:spTgt>
                                        </p:tgtEl>
                                        <p:attrNameLst>
                                          <p:attrName>style.visibility</p:attrName>
                                        </p:attrNameLst>
                                      </p:cBhvr>
                                      <p:to>
                                        <p:strVal val="visible"/>
                                      </p:to>
                                    </p:set>
                                    <p:animEffect transition="in" filter="slide(fromBottom)">
                                      <p:cBhvr>
                                        <p:cTn id="10" dur="500"/>
                                        <p:tgtEl>
                                          <p:spTgt spid="479235">
                                            <p:txEl>
                                              <p:pRg st="2" end="2"/>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479235">
                                            <p:txEl>
                                              <p:pRg st="3" end="3"/>
                                            </p:txEl>
                                          </p:spTgt>
                                        </p:tgtEl>
                                        <p:attrNameLst>
                                          <p:attrName>style.visibility</p:attrName>
                                        </p:attrNameLst>
                                      </p:cBhvr>
                                      <p:to>
                                        <p:strVal val="visible"/>
                                      </p:to>
                                    </p:set>
                                    <p:animEffect transition="in" filter="slide(fromBottom)">
                                      <p:cBhvr>
                                        <p:cTn id="13" dur="500"/>
                                        <p:tgtEl>
                                          <p:spTgt spid="479235">
                                            <p:txEl>
                                              <p:pRg st="3" end="3"/>
                                            </p:txEl>
                                          </p:spTgt>
                                        </p:tgtEl>
                                      </p:cBhvr>
                                    </p:animEffect>
                                  </p:childTnLst>
                                </p:cTn>
                              </p:par>
                              <p:par>
                                <p:cTn id="14" presetID="12" presetClass="entr" presetSubtype="4" fill="hold" nodeType="withEffect">
                                  <p:stCondLst>
                                    <p:cond delay="0"/>
                                  </p:stCondLst>
                                  <p:childTnLst>
                                    <p:set>
                                      <p:cBhvr>
                                        <p:cTn id="15" dur="1" fill="hold">
                                          <p:stCondLst>
                                            <p:cond delay="0"/>
                                          </p:stCondLst>
                                        </p:cTn>
                                        <p:tgtEl>
                                          <p:spTgt spid="479235">
                                            <p:txEl>
                                              <p:pRg st="4" end="4"/>
                                            </p:txEl>
                                          </p:spTgt>
                                        </p:tgtEl>
                                        <p:attrNameLst>
                                          <p:attrName>style.visibility</p:attrName>
                                        </p:attrNameLst>
                                      </p:cBhvr>
                                      <p:to>
                                        <p:strVal val="visible"/>
                                      </p:to>
                                    </p:set>
                                    <p:animEffect transition="in" filter="slide(fromBottom)">
                                      <p:cBhvr>
                                        <p:cTn id="16" dur="500"/>
                                        <p:tgtEl>
                                          <p:spTgt spid="4792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AutoShape 2"/>
          <p:cNvSpPr>
            <a:spLocks noGrp="1" noChangeArrowheads="1"/>
          </p:cNvSpPr>
          <p:nvPr>
            <p:ph type="title"/>
          </p:nvPr>
        </p:nvSpPr>
        <p:spPr/>
        <p:txBody>
          <a:bodyPr/>
          <a:lstStyle/>
          <a:p>
            <a:r>
              <a:rPr lang="en-US" altLang="vi-VN" sz="3200"/>
              <a:t>THUẬT TOÁN EUCLID </a:t>
            </a:r>
            <a:br>
              <a:rPr lang="en-US" altLang="vi-VN" sz="3200"/>
            </a:br>
            <a:r>
              <a:rPr lang="en-US" altLang="vi-VN" sz="3200"/>
              <a:t>TIM USCLN CỦA HAI SỐ TỰ NHIÊN</a:t>
            </a:r>
          </a:p>
        </p:txBody>
      </p:sp>
      <p:sp>
        <p:nvSpPr>
          <p:cNvPr id="433224" name="Rectangle 72"/>
          <p:cNvSpPr>
            <a:spLocks noGrp="1" noChangeArrowheads="1"/>
          </p:cNvSpPr>
          <p:nvPr>
            <p:ph type="body" idx="1"/>
          </p:nvPr>
        </p:nvSpPr>
        <p:spPr>
          <a:xfrm>
            <a:off x="838200" y="2133600"/>
            <a:ext cx="7693025" cy="4181475"/>
          </a:xfrm>
        </p:spPr>
        <p:txBody>
          <a:bodyPr/>
          <a:lstStyle/>
          <a:p>
            <a:pPr marL="533400" indent="-533400">
              <a:lnSpc>
                <a:spcPct val="90000"/>
              </a:lnSpc>
            </a:pPr>
            <a:r>
              <a:rPr lang="en-US" altLang="vi-VN" sz="2400"/>
              <a:t>Bài toán: Cho hai số m, n tìm d = USCLN(m,n)</a:t>
            </a:r>
          </a:p>
          <a:p>
            <a:pPr marL="533400" indent="-533400">
              <a:lnSpc>
                <a:spcPct val="90000"/>
              </a:lnSpc>
              <a:buFont typeface="Wingdings" panose="05000000000000000000" pitchFamily="2" charset="2"/>
              <a:buAutoNum type="arabicPeriod"/>
            </a:pPr>
            <a:r>
              <a:rPr lang="en-US" altLang="vi-VN" sz="2400"/>
              <a:t>Bước 1: Kiểm tra nếu m= n thì về bước 5, nếu không thực hiện tiếp bước 2</a:t>
            </a:r>
          </a:p>
          <a:p>
            <a:pPr marL="533400" indent="-533400">
              <a:lnSpc>
                <a:spcPct val="90000"/>
              </a:lnSpc>
              <a:buFont typeface="Wingdings" panose="05000000000000000000" pitchFamily="2" charset="2"/>
              <a:buAutoNum type="arabicPeriod"/>
            </a:pPr>
            <a:r>
              <a:rPr lang="en-US" altLang="vi-VN" sz="2400"/>
              <a:t>Bước 2: Nếu m&gt; n thì về bước 4 nếu không thực hiện tiếp bước 3</a:t>
            </a:r>
          </a:p>
          <a:p>
            <a:pPr marL="533400" indent="-533400">
              <a:lnSpc>
                <a:spcPct val="90000"/>
              </a:lnSpc>
              <a:buFont typeface="Wingdings" panose="05000000000000000000" pitchFamily="2" charset="2"/>
              <a:buAutoNum type="arabicPeriod"/>
            </a:pPr>
            <a:r>
              <a:rPr lang="en-US" altLang="vi-VN" sz="2400"/>
              <a:t>Bước 3: m &lt;n, bớt m đi một lượng bằng n và quay về bước 1</a:t>
            </a:r>
          </a:p>
          <a:p>
            <a:pPr marL="533400" indent="-533400">
              <a:lnSpc>
                <a:spcPct val="90000"/>
              </a:lnSpc>
              <a:buFont typeface="Wingdings" panose="05000000000000000000" pitchFamily="2" charset="2"/>
              <a:buAutoNum type="arabicPeriod"/>
            </a:pPr>
            <a:r>
              <a:rPr lang="en-US" altLang="vi-VN" sz="2400"/>
              <a:t>Bước 4: bớt m đi một lượng bằng n và quay về bước 1</a:t>
            </a:r>
          </a:p>
          <a:p>
            <a:pPr marL="533400" indent="-533400">
              <a:lnSpc>
                <a:spcPct val="90000"/>
              </a:lnSpc>
              <a:buFont typeface="Wingdings" panose="05000000000000000000" pitchFamily="2" charset="2"/>
              <a:buAutoNum type="arabicPeriod"/>
            </a:pPr>
            <a:r>
              <a:rPr lang="en-US" altLang="vi-VN" sz="2400"/>
              <a:t>Bước 5: Lấy d chính là giá trị chung của m và n. Kết thúc</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048462489"/>
      </p:ext>
    </p:extLst>
  </p:cSld>
  <p:clrMapOvr>
    <a:masterClrMapping/>
  </p:clrMapOvr>
  <p:transition spd="slow">
    <p:wipe dir="d"/>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AutoShape 2"/>
          <p:cNvSpPr>
            <a:spLocks noGrp="1" noChangeArrowheads="1"/>
          </p:cNvSpPr>
          <p:nvPr>
            <p:ph type="title"/>
          </p:nvPr>
        </p:nvSpPr>
        <p:spPr/>
        <p:txBody>
          <a:bodyPr/>
          <a:lstStyle/>
          <a:p>
            <a:r>
              <a:rPr lang="en-US" altLang="vi-VN" sz="3200"/>
              <a:t>VÍ DỤ CÁC BƯỚC CỦA THUẬT TOÁN EUCLID</a:t>
            </a:r>
          </a:p>
        </p:txBody>
      </p:sp>
      <p:sp>
        <p:nvSpPr>
          <p:cNvPr id="481284" name="Text Box 4"/>
          <p:cNvSpPr txBox="1">
            <a:spLocks noChangeArrowheads="1"/>
          </p:cNvSpPr>
          <p:nvPr/>
        </p:nvSpPr>
        <p:spPr bwMode="auto">
          <a:xfrm>
            <a:off x="1447800" y="2209800"/>
            <a:ext cx="1371600" cy="5794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vi-VN"/>
              <a:t>m   n</a:t>
            </a:r>
          </a:p>
        </p:txBody>
      </p:sp>
      <p:sp>
        <p:nvSpPr>
          <p:cNvPr id="481285" name="Text Box 5"/>
          <p:cNvSpPr txBox="1">
            <a:spLocks noChangeArrowheads="1"/>
          </p:cNvSpPr>
          <p:nvPr/>
        </p:nvSpPr>
        <p:spPr bwMode="auto">
          <a:xfrm>
            <a:off x="1371600" y="2819400"/>
            <a:ext cx="1371600" cy="5794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vi-VN"/>
              <a:t>15  21</a:t>
            </a:r>
          </a:p>
        </p:txBody>
      </p:sp>
      <p:sp>
        <p:nvSpPr>
          <p:cNvPr id="481286" name="Text Box 6"/>
          <p:cNvSpPr txBox="1">
            <a:spLocks noChangeArrowheads="1"/>
          </p:cNvSpPr>
          <p:nvPr/>
        </p:nvSpPr>
        <p:spPr bwMode="auto">
          <a:xfrm>
            <a:off x="1371600" y="4114800"/>
            <a:ext cx="1371600" cy="5794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vi-VN"/>
              <a:t>9     6</a:t>
            </a:r>
          </a:p>
        </p:txBody>
      </p:sp>
      <p:sp>
        <p:nvSpPr>
          <p:cNvPr id="481287" name="Text Box 7"/>
          <p:cNvSpPr txBox="1">
            <a:spLocks noChangeArrowheads="1"/>
          </p:cNvSpPr>
          <p:nvPr/>
        </p:nvSpPr>
        <p:spPr bwMode="auto">
          <a:xfrm>
            <a:off x="1371600" y="3429000"/>
            <a:ext cx="1371600" cy="5794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vi-VN"/>
              <a:t>15   6</a:t>
            </a:r>
          </a:p>
        </p:txBody>
      </p:sp>
      <p:sp>
        <p:nvSpPr>
          <p:cNvPr id="481288" name="Text Box 8"/>
          <p:cNvSpPr txBox="1">
            <a:spLocks noChangeArrowheads="1"/>
          </p:cNvSpPr>
          <p:nvPr/>
        </p:nvSpPr>
        <p:spPr bwMode="auto">
          <a:xfrm>
            <a:off x="1371600" y="4800600"/>
            <a:ext cx="1371600" cy="5794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vi-VN"/>
              <a:t>3     6</a:t>
            </a:r>
          </a:p>
        </p:txBody>
      </p:sp>
      <p:sp>
        <p:nvSpPr>
          <p:cNvPr id="481290" name="Text Box 10"/>
          <p:cNvSpPr txBox="1">
            <a:spLocks noChangeArrowheads="1"/>
          </p:cNvSpPr>
          <p:nvPr/>
        </p:nvSpPr>
        <p:spPr bwMode="auto">
          <a:xfrm>
            <a:off x="1371600" y="5410200"/>
            <a:ext cx="1371600" cy="57943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vi-VN"/>
              <a:t>3     3</a:t>
            </a:r>
          </a:p>
        </p:txBody>
      </p:sp>
      <p:sp>
        <p:nvSpPr>
          <p:cNvPr id="481291" name="AutoShape 11"/>
          <p:cNvSpPr>
            <a:spLocks noChangeArrowheads="1"/>
          </p:cNvSpPr>
          <p:nvPr/>
        </p:nvSpPr>
        <p:spPr bwMode="auto">
          <a:xfrm>
            <a:off x="4114800" y="2514600"/>
            <a:ext cx="1676400" cy="609600"/>
          </a:xfrm>
          <a:prstGeom prst="wedgeRoundRectCallout">
            <a:avLst>
              <a:gd name="adj1" fmla="val -124241"/>
              <a:gd name="adj2" fmla="val 49741"/>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vi-VN"/>
              <a:t>m&lt;n</a:t>
            </a:r>
          </a:p>
        </p:txBody>
      </p:sp>
      <p:sp>
        <p:nvSpPr>
          <p:cNvPr id="481292" name="AutoShape 12"/>
          <p:cNvSpPr>
            <a:spLocks noChangeArrowheads="1"/>
          </p:cNvSpPr>
          <p:nvPr/>
        </p:nvSpPr>
        <p:spPr bwMode="auto">
          <a:xfrm>
            <a:off x="4114800" y="3200400"/>
            <a:ext cx="1676400" cy="609600"/>
          </a:xfrm>
          <a:prstGeom prst="wedgeRoundRectCallout">
            <a:avLst>
              <a:gd name="adj1" fmla="val -124241"/>
              <a:gd name="adj2" fmla="val 49741"/>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vi-VN"/>
              <a:t>m&gt;n</a:t>
            </a:r>
          </a:p>
        </p:txBody>
      </p:sp>
      <p:sp>
        <p:nvSpPr>
          <p:cNvPr id="481293" name="AutoShape 13"/>
          <p:cNvSpPr>
            <a:spLocks noChangeArrowheads="1"/>
          </p:cNvSpPr>
          <p:nvPr/>
        </p:nvSpPr>
        <p:spPr bwMode="auto">
          <a:xfrm>
            <a:off x="4114800" y="3962400"/>
            <a:ext cx="1676400" cy="609600"/>
          </a:xfrm>
          <a:prstGeom prst="wedgeRoundRectCallout">
            <a:avLst>
              <a:gd name="adj1" fmla="val -123199"/>
              <a:gd name="adj2" fmla="val 23176"/>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vi-VN"/>
              <a:t>m&gt;n</a:t>
            </a:r>
          </a:p>
        </p:txBody>
      </p:sp>
      <p:sp>
        <p:nvSpPr>
          <p:cNvPr id="481294" name="AutoShape 14"/>
          <p:cNvSpPr>
            <a:spLocks noChangeArrowheads="1"/>
          </p:cNvSpPr>
          <p:nvPr/>
        </p:nvSpPr>
        <p:spPr bwMode="auto">
          <a:xfrm>
            <a:off x="4114800" y="4648200"/>
            <a:ext cx="1676400" cy="609600"/>
          </a:xfrm>
          <a:prstGeom prst="wedgeRoundRectCallout">
            <a:avLst>
              <a:gd name="adj1" fmla="val -123199"/>
              <a:gd name="adj2" fmla="val 23176"/>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vi-VN"/>
              <a:t>m&lt;n</a:t>
            </a:r>
          </a:p>
        </p:txBody>
      </p:sp>
      <p:sp>
        <p:nvSpPr>
          <p:cNvPr id="481295" name="AutoShape 15"/>
          <p:cNvSpPr>
            <a:spLocks noChangeArrowheads="1"/>
          </p:cNvSpPr>
          <p:nvPr/>
        </p:nvSpPr>
        <p:spPr bwMode="auto">
          <a:xfrm>
            <a:off x="4114800" y="5334000"/>
            <a:ext cx="1676400" cy="609600"/>
          </a:xfrm>
          <a:prstGeom prst="wedgeRoundRectCallout">
            <a:avLst>
              <a:gd name="adj1" fmla="val -123199"/>
              <a:gd name="adj2" fmla="val 23176"/>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vi-VN"/>
              <a:t>m=n</a:t>
            </a:r>
          </a:p>
        </p:txBody>
      </p:sp>
      <p:sp>
        <p:nvSpPr>
          <p:cNvPr id="481296" name="Text Box 16"/>
          <p:cNvSpPr txBox="1">
            <a:spLocks noChangeArrowheads="1"/>
          </p:cNvSpPr>
          <p:nvPr/>
        </p:nvSpPr>
        <p:spPr bwMode="auto">
          <a:xfrm>
            <a:off x="1143000" y="6278563"/>
            <a:ext cx="4114800" cy="579437"/>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a:t>USCLN(15,21) = 3</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497070039"/>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285"/>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2" fill="hold" grpId="0" nodeType="afterEffect">
                                  <p:stCondLst>
                                    <p:cond delay="0"/>
                                  </p:stCondLst>
                                  <p:childTnLst>
                                    <p:set>
                                      <p:cBhvr>
                                        <p:cTn id="9" dur="1" fill="hold">
                                          <p:stCondLst>
                                            <p:cond delay="0"/>
                                          </p:stCondLst>
                                        </p:cTn>
                                        <p:tgtEl>
                                          <p:spTgt spid="481291"/>
                                        </p:tgtEl>
                                        <p:attrNameLst>
                                          <p:attrName>style.visibility</p:attrName>
                                        </p:attrNameLst>
                                      </p:cBhvr>
                                      <p:to>
                                        <p:strVal val="visible"/>
                                      </p:to>
                                    </p:set>
                                    <p:animEffect transition="in" filter="wipe(right)">
                                      <p:cBhvr>
                                        <p:cTn id="10" dur="500"/>
                                        <p:tgtEl>
                                          <p:spTgt spid="48129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1287"/>
                                        </p:tgtEl>
                                        <p:attrNameLst>
                                          <p:attrName>style.visibility</p:attrName>
                                        </p:attrNameLst>
                                      </p:cBhvr>
                                      <p:to>
                                        <p:strVal val="visible"/>
                                      </p:to>
                                    </p:set>
                                  </p:childTnLst>
                                </p:cTn>
                              </p:par>
                            </p:childTnLst>
                          </p:cTn>
                        </p:par>
                        <p:par>
                          <p:cTn id="15" fill="hold" nodeType="afterGroup">
                            <p:stCondLst>
                              <p:cond delay="0"/>
                            </p:stCondLst>
                            <p:childTnLst>
                              <p:par>
                                <p:cTn id="16" presetID="22" presetClass="entr" presetSubtype="2" fill="hold" grpId="0" nodeType="afterEffect">
                                  <p:stCondLst>
                                    <p:cond delay="0"/>
                                  </p:stCondLst>
                                  <p:childTnLst>
                                    <p:set>
                                      <p:cBhvr>
                                        <p:cTn id="17" dur="1" fill="hold">
                                          <p:stCondLst>
                                            <p:cond delay="0"/>
                                          </p:stCondLst>
                                        </p:cTn>
                                        <p:tgtEl>
                                          <p:spTgt spid="481292"/>
                                        </p:tgtEl>
                                        <p:attrNameLst>
                                          <p:attrName>style.visibility</p:attrName>
                                        </p:attrNameLst>
                                      </p:cBhvr>
                                      <p:to>
                                        <p:strVal val="visible"/>
                                      </p:to>
                                    </p:set>
                                    <p:animEffect transition="in" filter="wipe(right)">
                                      <p:cBhvr>
                                        <p:cTn id="18" dur="500"/>
                                        <p:tgtEl>
                                          <p:spTgt spid="48129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1286"/>
                                        </p:tgtEl>
                                        <p:attrNameLst>
                                          <p:attrName>style.visibility</p:attrName>
                                        </p:attrNameLst>
                                      </p:cBhvr>
                                      <p:to>
                                        <p:strVal val="visible"/>
                                      </p:to>
                                    </p:set>
                                  </p:childTnLst>
                                </p:cTn>
                              </p:par>
                            </p:childTnLst>
                          </p:cTn>
                        </p:par>
                        <p:par>
                          <p:cTn id="23" fill="hold" nodeType="afterGroup">
                            <p:stCondLst>
                              <p:cond delay="0"/>
                            </p:stCondLst>
                            <p:childTnLst>
                              <p:par>
                                <p:cTn id="24" presetID="22" presetClass="entr" presetSubtype="2" fill="hold" grpId="0" nodeType="afterEffect">
                                  <p:stCondLst>
                                    <p:cond delay="0"/>
                                  </p:stCondLst>
                                  <p:childTnLst>
                                    <p:set>
                                      <p:cBhvr>
                                        <p:cTn id="25" dur="1" fill="hold">
                                          <p:stCondLst>
                                            <p:cond delay="0"/>
                                          </p:stCondLst>
                                        </p:cTn>
                                        <p:tgtEl>
                                          <p:spTgt spid="481293"/>
                                        </p:tgtEl>
                                        <p:attrNameLst>
                                          <p:attrName>style.visibility</p:attrName>
                                        </p:attrNameLst>
                                      </p:cBhvr>
                                      <p:to>
                                        <p:strVal val="visible"/>
                                      </p:to>
                                    </p:set>
                                    <p:animEffect transition="in" filter="wipe(right)">
                                      <p:cBhvr>
                                        <p:cTn id="26" dur="500"/>
                                        <p:tgtEl>
                                          <p:spTgt spid="48129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81288"/>
                                        </p:tgtEl>
                                        <p:attrNameLst>
                                          <p:attrName>style.visibility</p:attrName>
                                        </p:attrNameLst>
                                      </p:cBhvr>
                                      <p:to>
                                        <p:strVal val="visible"/>
                                      </p:to>
                                    </p:set>
                                  </p:childTnLst>
                                </p:cTn>
                              </p:par>
                            </p:childTnLst>
                          </p:cTn>
                        </p:par>
                        <p:par>
                          <p:cTn id="31" fill="hold" nodeType="afterGroup">
                            <p:stCondLst>
                              <p:cond delay="0"/>
                            </p:stCondLst>
                            <p:childTnLst>
                              <p:par>
                                <p:cTn id="32" presetID="22" presetClass="entr" presetSubtype="2" fill="hold" grpId="0" nodeType="afterEffect">
                                  <p:stCondLst>
                                    <p:cond delay="0"/>
                                  </p:stCondLst>
                                  <p:childTnLst>
                                    <p:set>
                                      <p:cBhvr>
                                        <p:cTn id="33" dur="1" fill="hold">
                                          <p:stCondLst>
                                            <p:cond delay="0"/>
                                          </p:stCondLst>
                                        </p:cTn>
                                        <p:tgtEl>
                                          <p:spTgt spid="481294"/>
                                        </p:tgtEl>
                                        <p:attrNameLst>
                                          <p:attrName>style.visibility</p:attrName>
                                        </p:attrNameLst>
                                      </p:cBhvr>
                                      <p:to>
                                        <p:strVal val="visible"/>
                                      </p:to>
                                    </p:set>
                                    <p:animEffect transition="in" filter="wipe(right)">
                                      <p:cBhvr>
                                        <p:cTn id="34" dur="500"/>
                                        <p:tgtEl>
                                          <p:spTgt spid="48129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81290"/>
                                        </p:tgtEl>
                                        <p:attrNameLst>
                                          <p:attrName>style.visibility</p:attrName>
                                        </p:attrNameLst>
                                      </p:cBhvr>
                                      <p:to>
                                        <p:strVal val="visible"/>
                                      </p:to>
                                    </p:set>
                                  </p:childTnLst>
                                </p:cTn>
                              </p:par>
                            </p:childTnLst>
                          </p:cTn>
                        </p:par>
                        <p:par>
                          <p:cTn id="39" fill="hold" nodeType="afterGroup">
                            <p:stCondLst>
                              <p:cond delay="0"/>
                            </p:stCondLst>
                            <p:childTnLst>
                              <p:par>
                                <p:cTn id="40" presetID="22" presetClass="entr" presetSubtype="2" fill="hold" grpId="0" nodeType="afterEffect">
                                  <p:stCondLst>
                                    <p:cond delay="0"/>
                                  </p:stCondLst>
                                  <p:childTnLst>
                                    <p:set>
                                      <p:cBhvr>
                                        <p:cTn id="41" dur="1" fill="hold">
                                          <p:stCondLst>
                                            <p:cond delay="0"/>
                                          </p:stCondLst>
                                        </p:cTn>
                                        <p:tgtEl>
                                          <p:spTgt spid="481295"/>
                                        </p:tgtEl>
                                        <p:attrNameLst>
                                          <p:attrName>style.visibility</p:attrName>
                                        </p:attrNameLst>
                                      </p:cBhvr>
                                      <p:to>
                                        <p:strVal val="visible"/>
                                      </p:to>
                                    </p:set>
                                    <p:animEffect transition="in" filter="wipe(right)">
                                      <p:cBhvr>
                                        <p:cTn id="42" dur="500"/>
                                        <p:tgtEl>
                                          <p:spTgt spid="48129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3" presetClass="entr" presetSubtype="0" fill="hold" grpId="0" nodeType="clickEffect">
                                  <p:stCondLst>
                                    <p:cond delay="0"/>
                                  </p:stCondLst>
                                  <p:childTnLst>
                                    <p:set>
                                      <p:cBhvr>
                                        <p:cTn id="46" dur="1" fill="hold">
                                          <p:stCondLst>
                                            <p:cond delay="0"/>
                                          </p:stCondLst>
                                        </p:cTn>
                                        <p:tgtEl>
                                          <p:spTgt spid="481296"/>
                                        </p:tgtEl>
                                        <p:attrNameLst>
                                          <p:attrName>style.visibility</p:attrName>
                                        </p:attrNameLst>
                                      </p:cBhvr>
                                      <p:to>
                                        <p:strVal val="visible"/>
                                      </p:to>
                                    </p:set>
                                    <p:anim calcmode="lin" valueType="num">
                                      <p:cBhvr>
                                        <p:cTn id="47" dur="500" fill="hold"/>
                                        <p:tgtEl>
                                          <p:spTgt spid="481296"/>
                                        </p:tgtEl>
                                        <p:attrNameLst>
                                          <p:attrName>ppt_w</p:attrName>
                                        </p:attrNameLst>
                                      </p:cBhvr>
                                      <p:tavLst>
                                        <p:tav tm="0">
                                          <p:val>
                                            <p:fltVal val="0"/>
                                          </p:val>
                                        </p:tav>
                                        <p:tav tm="100000">
                                          <p:val>
                                            <p:strVal val="#ppt_w"/>
                                          </p:val>
                                        </p:tav>
                                      </p:tavLst>
                                    </p:anim>
                                    <p:anim calcmode="lin" valueType="num">
                                      <p:cBhvr>
                                        <p:cTn id="48" dur="500" fill="hold"/>
                                        <p:tgtEl>
                                          <p:spTgt spid="481296"/>
                                        </p:tgtEl>
                                        <p:attrNameLst>
                                          <p:attrName>ppt_h</p:attrName>
                                        </p:attrNameLst>
                                      </p:cBhvr>
                                      <p:tavLst>
                                        <p:tav tm="0">
                                          <p:val>
                                            <p:fltVal val="0"/>
                                          </p:val>
                                        </p:tav>
                                        <p:tav tm="100000">
                                          <p:val>
                                            <p:strVal val="#ppt_h"/>
                                          </p:val>
                                        </p:tav>
                                      </p:tavLst>
                                    </p:anim>
                                    <p:animEffect transition="in" filter="fade">
                                      <p:cBhvr>
                                        <p:cTn id="49" dur="500"/>
                                        <p:tgtEl>
                                          <p:spTgt spid="481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5" grpId="0"/>
      <p:bldP spid="481286" grpId="0"/>
      <p:bldP spid="481287" grpId="0"/>
      <p:bldP spid="481288" grpId="0"/>
      <p:bldP spid="481290" grpId="0"/>
      <p:bldP spid="481291" grpId="0" animBg="1"/>
      <p:bldP spid="481292" grpId="0" animBg="1"/>
      <p:bldP spid="481293" grpId="0" animBg="1"/>
      <p:bldP spid="481294" grpId="0" animBg="1"/>
      <p:bldP spid="481295" grpId="0" animBg="1"/>
      <p:bldP spid="48129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AutoShape 2"/>
          <p:cNvSpPr>
            <a:spLocks noGrp="1" noChangeArrowheads="1"/>
          </p:cNvSpPr>
          <p:nvPr>
            <p:ph type="title"/>
          </p:nvPr>
        </p:nvSpPr>
        <p:spPr/>
        <p:txBody>
          <a:bodyPr>
            <a:normAutofit fontScale="90000"/>
          </a:bodyPr>
          <a:lstStyle/>
          <a:p>
            <a:r>
              <a:rPr lang="en-US" altLang="vi-VN"/>
              <a:t>CÁC ĐẶC TRƯNG CỦA THUẬT TOÁN</a:t>
            </a:r>
          </a:p>
        </p:txBody>
      </p:sp>
      <p:sp>
        <p:nvSpPr>
          <p:cNvPr id="483331" name="Rectangle 3"/>
          <p:cNvSpPr>
            <a:spLocks noGrp="1" noChangeArrowheads="1"/>
          </p:cNvSpPr>
          <p:nvPr>
            <p:ph type="body" idx="1"/>
          </p:nvPr>
        </p:nvSpPr>
        <p:spPr>
          <a:xfrm>
            <a:off x="838200" y="1905000"/>
            <a:ext cx="8077200" cy="4648200"/>
          </a:xfrm>
        </p:spPr>
        <p:txBody>
          <a:bodyPr/>
          <a:lstStyle/>
          <a:p>
            <a:pPr>
              <a:lnSpc>
                <a:spcPct val="80000"/>
              </a:lnSpc>
            </a:pPr>
            <a:r>
              <a:rPr lang="en-US" altLang="vi-VN" sz="2400"/>
              <a:t>Input</a:t>
            </a:r>
          </a:p>
          <a:p>
            <a:pPr>
              <a:lnSpc>
                <a:spcPct val="80000"/>
              </a:lnSpc>
            </a:pPr>
            <a:r>
              <a:rPr lang="en-US" altLang="vi-VN" sz="2400"/>
              <a:t>Output</a:t>
            </a:r>
          </a:p>
          <a:p>
            <a:pPr>
              <a:lnSpc>
                <a:spcPct val="80000"/>
              </a:lnSpc>
            </a:pPr>
            <a:r>
              <a:rPr lang="en-US" altLang="vi-VN" sz="2400"/>
              <a:t>Tính xác định: Sau mỗi bước, bước tiếp theo hoàn toàn xác định. </a:t>
            </a:r>
          </a:p>
          <a:p>
            <a:pPr>
              <a:lnSpc>
                <a:spcPct val="80000"/>
              </a:lnSpc>
            </a:pPr>
            <a:r>
              <a:rPr lang="en-US" altLang="vi-VN" sz="2400"/>
              <a:t>Tính khả thi: các chỉ dẫn đặt ra đều có thể thực hiện được</a:t>
            </a:r>
          </a:p>
          <a:p>
            <a:pPr>
              <a:lnSpc>
                <a:spcPct val="80000"/>
              </a:lnSpc>
            </a:pPr>
            <a:r>
              <a:rPr lang="en-US" altLang="vi-VN" sz="2400"/>
              <a:t>Tính dừng: quá trình tính toán luôn phải dừng sau một số hữu hạn bước.</a:t>
            </a:r>
          </a:p>
          <a:p>
            <a:pPr>
              <a:lnSpc>
                <a:spcPct val="80000"/>
              </a:lnSpc>
            </a:pPr>
            <a:r>
              <a:rPr lang="en-US" altLang="vi-VN" sz="2400"/>
              <a:t>Tính phổ dụng: mỗi thuật toán không chỉ dùng cho một bài toán với dữ liệu cụ thể mà có thể áp dụng với một lớp các bài toán cùng kiểu. Chẳng hạn người ta nói tới thuật toán tìm USCLN của hai số tự nhiên bất kỳ chứ không phải thuật toán tìm USCLN của 15 và 21.</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442443295"/>
      </p:ext>
    </p:extLst>
  </p:cSld>
  <p:clrMapOvr>
    <a:masterClrMapping/>
  </p:clrMapOvr>
  <p:transition spd="slow">
    <p:wipe dir="d"/>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AutoShape 2"/>
          <p:cNvSpPr>
            <a:spLocks noGrp="1" noChangeArrowheads="1"/>
          </p:cNvSpPr>
          <p:nvPr>
            <p:ph type="title"/>
          </p:nvPr>
        </p:nvSpPr>
        <p:spPr/>
        <p:txBody>
          <a:bodyPr/>
          <a:lstStyle/>
          <a:p>
            <a:r>
              <a:rPr lang="en-US" altLang="vi-VN" sz="3200"/>
              <a:t>CÁC PHƯƠNG PHÁP </a:t>
            </a:r>
            <a:br>
              <a:rPr lang="en-US" altLang="vi-VN" sz="3200"/>
            </a:br>
            <a:r>
              <a:rPr lang="en-US" altLang="vi-VN" sz="3200"/>
              <a:t>BIỂU DIỄN THUẬT TOÁN</a:t>
            </a:r>
          </a:p>
        </p:txBody>
      </p:sp>
      <p:sp>
        <p:nvSpPr>
          <p:cNvPr id="484355" name="Rectangle 3"/>
          <p:cNvSpPr>
            <a:spLocks noGrp="1" noChangeArrowheads="1"/>
          </p:cNvSpPr>
          <p:nvPr>
            <p:ph type="body" idx="1"/>
          </p:nvPr>
        </p:nvSpPr>
        <p:spPr/>
        <p:txBody>
          <a:bodyPr/>
          <a:lstStyle/>
          <a:p>
            <a:r>
              <a:rPr lang="en-US" altLang="vi-VN"/>
              <a:t>Dùng các  chỉ dẫn</a:t>
            </a:r>
          </a:p>
          <a:p>
            <a:r>
              <a:rPr lang="en-US" altLang="vi-VN"/>
              <a:t>Dùng sơ đồ khối</a:t>
            </a:r>
          </a:p>
          <a:p>
            <a:r>
              <a:rPr lang="en-US" altLang="vi-VN"/>
              <a:t>Dùng cấu trúc điều khiển</a:t>
            </a:r>
          </a:p>
          <a:p>
            <a:endParaRPr lang="en-US" altLang="vi-VN"/>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393376006"/>
      </p:ext>
    </p:extLst>
  </p:cSld>
  <p:clrMapOvr>
    <a:masterClrMapping/>
  </p:clrMapOvr>
  <p:transition spd="slow">
    <p:wipe dir="d"/>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AutoShape 2"/>
          <p:cNvSpPr>
            <a:spLocks noGrp="1" noChangeArrowheads="1"/>
          </p:cNvSpPr>
          <p:nvPr>
            <p:ph type="title"/>
          </p:nvPr>
        </p:nvSpPr>
        <p:spPr/>
        <p:txBody>
          <a:bodyPr/>
          <a:lstStyle/>
          <a:p>
            <a:r>
              <a:rPr lang="en-US" altLang="vi-VN"/>
              <a:t>THUẬT TOÁN BỐC SỎI</a:t>
            </a:r>
          </a:p>
        </p:txBody>
      </p:sp>
      <p:sp>
        <p:nvSpPr>
          <p:cNvPr id="482307" name="Rectangle 3"/>
          <p:cNvSpPr>
            <a:spLocks noGrp="1" noChangeArrowheads="1"/>
          </p:cNvSpPr>
          <p:nvPr>
            <p:ph type="body" idx="1"/>
          </p:nvPr>
        </p:nvSpPr>
        <p:spPr/>
        <p:txBody>
          <a:bodyPr/>
          <a:lstStyle/>
          <a:p>
            <a:pPr marL="457200" indent="-457200">
              <a:lnSpc>
                <a:spcPct val="90000"/>
              </a:lnSpc>
            </a:pPr>
            <a:r>
              <a:rPr lang="en-US" altLang="vi-VN" sz="2400"/>
              <a:t>Ví dụ: Bài toán bốc sỏi: có 30 viên sỏi. Hai người chơi, mỗi người đến lượt mình bốc từ 1 đến 3 viên sỏi. Ai bốc cuối cùng là thắng. Làm thế nào để người đi trước thắng.</a:t>
            </a:r>
          </a:p>
          <a:p>
            <a:pPr marL="457200" indent="-457200">
              <a:lnSpc>
                <a:spcPct val="90000"/>
              </a:lnSpc>
              <a:buFont typeface="Wingdings" panose="05000000000000000000" pitchFamily="2" charset="2"/>
              <a:buAutoNum type="arabicPeriod"/>
            </a:pPr>
            <a:r>
              <a:rPr lang="en-US" altLang="vi-VN" sz="2400"/>
              <a:t>Bước 1, bốc 2 viên</a:t>
            </a:r>
          </a:p>
          <a:p>
            <a:pPr marL="457200" indent="-457200">
              <a:lnSpc>
                <a:spcPct val="90000"/>
              </a:lnSpc>
              <a:buFont typeface="Wingdings" panose="05000000000000000000" pitchFamily="2" charset="2"/>
              <a:buAutoNum type="arabicPeriod"/>
            </a:pPr>
            <a:r>
              <a:rPr lang="en-US" altLang="vi-VN" sz="2400"/>
              <a:t>Bước 2: nếu số sỏi đã hết, dừng cuộc chơi, tuyên bố người (đi trước) thắng cuộc. Nếu không về bước tiếp theo</a:t>
            </a:r>
          </a:p>
          <a:p>
            <a:pPr marL="457200" indent="-457200">
              <a:lnSpc>
                <a:spcPct val="90000"/>
              </a:lnSpc>
              <a:buFont typeface="Wingdings" panose="05000000000000000000" pitchFamily="2" charset="2"/>
              <a:buAutoNum type="arabicPeriod"/>
            </a:pPr>
            <a:r>
              <a:rPr lang="en-US" altLang="vi-VN" sz="2400"/>
              <a:t>Bước 3: Đối phương bốc k viên   0 &lt; k&lt;4</a:t>
            </a:r>
          </a:p>
          <a:p>
            <a:pPr marL="457200" indent="-457200">
              <a:lnSpc>
                <a:spcPct val="90000"/>
              </a:lnSpc>
              <a:buFont typeface="Wingdings" panose="05000000000000000000" pitchFamily="2" charset="2"/>
              <a:buAutoNum type="arabicPeriod"/>
            </a:pPr>
            <a:r>
              <a:rPr lang="en-US" altLang="vi-VN" sz="2400"/>
              <a:t>Bước 4: Người đi trước bốc một lượng là 4 - k sau đó quay về bước 2</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527593787"/>
      </p:ext>
    </p:extLst>
  </p:cSld>
  <p:clrMapOvr>
    <a:masterClrMapping/>
  </p:clrMapOvr>
  <p:transition spd="slow">
    <p:wipe dir="d"/>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AutoShape 2"/>
          <p:cNvSpPr>
            <a:spLocks noGrp="1" noChangeArrowheads="1"/>
          </p:cNvSpPr>
          <p:nvPr>
            <p:ph type="title"/>
          </p:nvPr>
        </p:nvSpPr>
        <p:spPr>
          <a:xfrm>
            <a:off x="762000" y="762000"/>
            <a:ext cx="6172200" cy="838200"/>
          </a:xfrm>
        </p:spPr>
        <p:txBody>
          <a:bodyPr>
            <a:normAutofit fontScale="90000"/>
          </a:bodyPr>
          <a:lstStyle/>
          <a:p>
            <a:r>
              <a:rPr lang="en-US" altLang="vi-VN" sz="3200"/>
              <a:t>BIỂU DIỄN BẰNG LƯU ĐỒ </a:t>
            </a:r>
            <a:br>
              <a:rPr lang="en-US" altLang="vi-VN" sz="3200"/>
            </a:br>
            <a:r>
              <a:rPr lang="en-US" altLang="vi-VN" sz="3200"/>
              <a:t>HOẶC SƠ ĐỒ KHỐI</a:t>
            </a:r>
          </a:p>
        </p:txBody>
      </p:sp>
      <p:grpSp>
        <p:nvGrpSpPr>
          <p:cNvPr id="485422" name="Group 46"/>
          <p:cNvGrpSpPr>
            <a:grpSpLocks/>
          </p:cNvGrpSpPr>
          <p:nvPr/>
        </p:nvGrpSpPr>
        <p:grpSpPr bwMode="auto">
          <a:xfrm>
            <a:off x="5410200" y="3810000"/>
            <a:ext cx="2057400" cy="457200"/>
            <a:chOff x="3408" y="2400"/>
            <a:chExt cx="1296" cy="288"/>
          </a:xfrm>
        </p:grpSpPr>
        <p:grpSp>
          <p:nvGrpSpPr>
            <p:cNvPr id="485387" name="Group 11"/>
            <p:cNvGrpSpPr>
              <a:grpSpLocks/>
            </p:cNvGrpSpPr>
            <p:nvPr/>
          </p:nvGrpSpPr>
          <p:grpSpPr bwMode="auto">
            <a:xfrm>
              <a:off x="3408" y="2400"/>
              <a:ext cx="288" cy="288"/>
              <a:chOff x="1392" y="3024"/>
              <a:chExt cx="288" cy="288"/>
            </a:xfrm>
          </p:grpSpPr>
          <p:sp>
            <p:nvSpPr>
              <p:cNvPr id="485385" name="Oval 9"/>
              <p:cNvSpPr>
                <a:spLocks noChangeArrowheads="1"/>
              </p:cNvSpPr>
              <p:nvPr/>
            </p:nvSpPr>
            <p:spPr bwMode="auto">
              <a:xfrm>
                <a:off x="1392" y="3024"/>
                <a:ext cx="288" cy="288"/>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85386" name="Oval 10"/>
              <p:cNvSpPr>
                <a:spLocks noChangeArrowheads="1"/>
              </p:cNvSpPr>
              <p:nvPr/>
            </p:nvSpPr>
            <p:spPr bwMode="auto">
              <a:xfrm>
                <a:off x="1488" y="3120"/>
                <a:ext cx="96" cy="96"/>
              </a:xfrm>
              <a:prstGeom prst="ellipse">
                <a:avLst/>
              </a:prstGeom>
              <a:solidFill>
                <a:srgbClr val="000000"/>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grpSp>
        <p:grpSp>
          <p:nvGrpSpPr>
            <p:cNvPr id="485391" name="Group 15"/>
            <p:cNvGrpSpPr>
              <a:grpSpLocks/>
            </p:cNvGrpSpPr>
            <p:nvPr/>
          </p:nvGrpSpPr>
          <p:grpSpPr bwMode="auto">
            <a:xfrm>
              <a:off x="4416" y="2400"/>
              <a:ext cx="288" cy="288"/>
              <a:chOff x="2112" y="3072"/>
              <a:chExt cx="288" cy="288"/>
            </a:xfrm>
          </p:grpSpPr>
          <p:sp>
            <p:nvSpPr>
              <p:cNvPr id="485389" name="Oval 13"/>
              <p:cNvSpPr>
                <a:spLocks noChangeArrowheads="1"/>
              </p:cNvSpPr>
              <p:nvPr/>
            </p:nvSpPr>
            <p:spPr bwMode="auto">
              <a:xfrm>
                <a:off x="2112" y="3072"/>
                <a:ext cx="288" cy="288"/>
              </a:xfrm>
              <a:prstGeom prst="ellipse">
                <a:avLst/>
              </a:prstGeom>
              <a:solidFill>
                <a:srgbClr val="000000"/>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85390" name="Oval 14"/>
              <p:cNvSpPr>
                <a:spLocks noChangeArrowheads="1"/>
              </p:cNvSpPr>
              <p:nvPr/>
            </p:nvSpPr>
            <p:spPr bwMode="auto">
              <a:xfrm>
                <a:off x="2208" y="3168"/>
                <a:ext cx="96" cy="96"/>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grpSp>
      </p:grpSp>
      <p:sp>
        <p:nvSpPr>
          <p:cNvPr id="485399" name="Text Box 23"/>
          <p:cNvSpPr txBox="1">
            <a:spLocks noChangeArrowheads="1"/>
          </p:cNvSpPr>
          <p:nvPr/>
        </p:nvSpPr>
        <p:spPr bwMode="auto">
          <a:xfrm>
            <a:off x="4876800" y="4648200"/>
            <a:ext cx="1524000" cy="4572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400"/>
              <a:t>Khởi đầu</a:t>
            </a:r>
          </a:p>
        </p:txBody>
      </p:sp>
      <p:sp>
        <p:nvSpPr>
          <p:cNvPr id="485400" name="Text Box 24"/>
          <p:cNvSpPr txBox="1">
            <a:spLocks noChangeArrowheads="1"/>
          </p:cNvSpPr>
          <p:nvPr/>
        </p:nvSpPr>
        <p:spPr bwMode="auto">
          <a:xfrm>
            <a:off x="6477000" y="4648200"/>
            <a:ext cx="1524000" cy="4572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400"/>
              <a:t>Kết thúc</a:t>
            </a:r>
          </a:p>
        </p:txBody>
      </p:sp>
      <p:sp>
        <p:nvSpPr>
          <p:cNvPr id="485401" name="Text Box 25"/>
          <p:cNvSpPr txBox="1">
            <a:spLocks noChangeArrowheads="1"/>
          </p:cNvSpPr>
          <p:nvPr/>
        </p:nvSpPr>
        <p:spPr bwMode="auto">
          <a:xfrm>
            <a:off x="5410200" y="5791200"/>
            <a:ext cx="2133600" cy="4572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400"/>
              <a:t>Thứ tự xử lý</a:t>
            </a:r>
          </a:p>
        </p:txBody>
      </p:sp>
      <p:sp>
        <p:nvSpPr>
          <p:cNvPr id="485402" name="Line 26"/>
          <p:cNvSpPr>
            <a:spLocks noChangeShapeType="1"/>
          </p:cNvSpPr>
          <p:nvPr/>
        </p:nvSpPr>
        <p:spPr bwMode="auto">
          <a:xfrm>
            <a:off x="5867400" y="5410200"/>
            <a:ext cx="1219200"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grpSp>
        <p:nvGrpSpPr>
          <p:cNvPr id="485421" name="Group 45"/>
          <p:cNvGrpSpPr>
            <a:grpSpLocks/>
          </p:cNvGrpSpPr>
          <p:nvPr/>
        </p:nvGrpSpPr>
        <p:grpSpPr bwMode="auto">
          <a:xfrm>
            <a:off x="1143000" y="2057400"/>
            <a:ext cx="2209800" cy="1828800"/>
            <a:chOff x="720" y="1296"/>
            <a:chExt cx="1392" cy="1152"/>
          </a:xfrm>
        </p:grpSpPr>
        <p:sp>
          <p:nvSpPr>
            <p:cNvPr id="485381" name="Text Box 5"/>
            <p:cNvSpPr txBox="1">
              <a:spLocks noChangeArrowheads="1"/>
            </p:cNvSpPr>
            <p:nvPr/>
          </p:nvSpPr>
          <p:spPr bwMode="auto">
            <a:xfrm>
              <a:off x="720" y="1488"/>
              <a:ext cx="1392" cy="736"/>
            </a:xfrm>
            <a:prstGeom prst="rect">
              <a:avLst/>
            </a:prstGeom>
            <a:solidFill>
              <a:srgbClr val="DDDDDD"/>
            </a:solidFill>
            <a:ln w="9525"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Khối thao tác</a:t>
              </a:r>
            </a:p>
            <a:p>
              <a:pPr>
                <a:spcBef>
                  <a:spcPct val="50000"/>
                </a:spcBef>
              </a:pPr>
              <a:r>
                <a:rPr lang="en-US" altLang="vi-VN" sz="2000"/>
                <a:t>đối tượng:= biểu thức</a:t>
              </a:r>
            </a:p>
          </p:txBody>
        </p:sp>
        <p:sp>
          <p:nvSpPr>
            <p:cNvPr id="485384" name="Line 8"/>
            <p:cNvSpPr>
              <a:spLocks noChangeShapeType="1"/>
            </p:cNvSpPr>
            <p:nvPr/>
          </p:nvSpPr>
          <p:spPr bwMode="auto">
            <a:xfrm>
              <a:off x="1440" y="1296"/>
              <a:ext cx="0" cy="192"/>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5404" name="Line 28"/>
            <p:cNvSpPr>
              <a:spLocks noChangeShapeType="1"/>
            </p:cNvSpPr>
            <p:nvPr/>
          </p:nvSpPr>
          <p:spPr bwMode="auto">
            <a:xfrm>
              <a:off x="1440" y="2208"/>
              <a:ext cx="0" cy="24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grpSp>
      <p:grpSp>
        <p:nvGrpSpPr>
          <p:cNvPr id="485423" name="Group 47"/>
          <p:cNvGrpSpPr>
            <a:grpSpLocks/>
          </p:cNvGrpSpPr>
          <p:nvPr/>
        </p:nvGrpSpPr>
        <p:grpSpPr bwMode="auto">
          <a:xfrm>
            <a:off x="3886200" y="1981200"/>
            <a:ext cx="4038600" cy="1676400"/>
            <a:chOff x="2448" y="1248"/>
            <a:chExt cx="2544" cy="1056"/>
          </a:xfrm>
        </p:grpSpPr>
        <p:sp>
          <p:nvSpPr>
            <p:cNvPr id="485403" name="Line 27"/>
            <p:cNvSpPr>
              <a:spLocks noChangeShapeType="1"/>
            </p:cNvSpPr>
            <p:nvPr/>
          </p:nvSpPr>
          <p:spPr bwMode="auto">
            <a:xfrm>
              <a:off x="4368" y="2016"/>
              <a:ext cx="0" cy="192"/>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5412" name="Text Box 36"/>
            <p:cNvSpPr txBox="1">
              <a:spLocks noChangeArrowheads="1"/>
            </p:cNvSpPr>
            <p:nvPr/>
          </p:nvSpPr>
          <p:spPr bwMode="auto">
            <a:xfrm>
              <a:off x="2538" y="1743"/>
              <a:ext cx="971" cy="28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vi-VN" sz="2400"/>
                <a:t>Khối input</a:t>
              </a:r>
            </a:p>
          </p:txBody>
        </p:sp>
        <p:sp>
          <p:nvSpPr>
            <p:cNvPr id="485413" name="AutoShape 37"/>
            <p:cNvSpPr>
              <a:spLocks noChangeArrowheads="1"/>
            </p:cNvSpPr>
            <p:nvPr/>
          </p:nvSpPr>
          <p:spPr bwMode="auto">
            <a:xfrm>
              <a:off x="2448" y="1488"/>
              <a:ext cx="1152" cy="672"/>
            </a:xfrm>
            <a:prstGeom prst="flowChartDocument">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vi-VN" sz="2400"/>
                <a:t>Khối output</a:t>
              </a:r>
            </a:p>
          </p:txBody>
        </p:sp>
        <p:sp>
          <p:nvSpPr>
            <p:cNvPr id="485415" name="AutoShape 39"/>
            <p:cNvSpPr>
              <a:spLocks noChangeArrowheads="1"/>
            </p:cNvSpPr>
            <p:nvPr/>
          </p:nvSpPr>
          <p:spPr bwMode="auto">
            <a:xfrm>
              <a:off x="3840" y="1488"/>
              <a:ext cx="1152" cy="528"/>
            </a:xfrm>
            <a:prstGeom prst="flowChartPunchedCard">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vi-VN" sz="2400"/>
                <a:t>Khối input</a:t>
              </a:r>
            </a:p>
          </p:txBody>
        </p:sp>
        <p:sp>
          <p:nvSpPr>
            <p:cNvPr id="485416" name="Line 40"/>
            <p:cNvSpPr>
              <a:spLocks noChangeShapeType="1"/>
            </p:cNvSpPr>
            <p:nvPr/>
          </p:nvSpPr>
          <p:spPr bwMode="auto">
            <a:xfrm>
              <a:off x="3024" y="2112"/>
              <a:ext cx="0" cy="192"/>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5417" name="Line 41"/>
            <p:cNvSpPr>
              <a:spLocks noChangeShapeType="1"/>
            </p:cNvSpPr>
            <p:nvPr/>
          </p:nvSpPr>
          <p:spPr bwMode="auto">
            <a:xfrm>
              <a:off x="3024" y="1248"/>
              <a:ext cx="0" cy="24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5418" name="Line 42"/>
            <p:cNvSpPr>
              <a:spLocks noChangeShapeType="1"/>
            </p:cNvSpPr>
            <p:nvPr/>
          </p:nvSpPr>
          <p:spPr bwMode="auto">
            <a:xfrm>
              <a:off x="4368" y="1296"/>
              <a:ext cx="0" cy="192"/>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grpSp>
      <p:grpSp>
        <p:nvGrpSpPr>
          <p:cNvPr id="485420" name="Group 44"/>
          <p:cNvGrpSpPr>
            <a:grpSpLocks/>
          </p:cNvGrpSpPr>
          <p:nvPr/>
        </p:nvGrpSpPr>
        <p:grpSpPr bwMode="auto">
          <a:xfrm>
            <a:off x="990600" y="4419600"/>
            <a:ext cx="3429000" cy="1557338"/>
            <a:chOff x="624" y="2400"/>
            <a:chExt cx="2160" cy="981"/>
          </a:xfrm>
        </p:grpSpPr>
        <p:sp>
          <p:nvSpPr>
            <p:cNvPr id="485382" name="AutoShape 6"/>
            <p:cNvSpPr>
              <a:spLocks noChangeArrowheads="1"/>
            </p:cNvSpPr>
            <p:nvPr/>
          </p:nvSpPr>
          <p:spPr bwMode="auto">
            <a:xfrm>
              <a:off x="864" y="2640"/>
              <a:ext cx="1776" cy="528"/>
            </a:xfrm>
            <a:prstGeom prst="diamond">
              <a:avLst/>
            </a:prstGeom>
            <a:solidFill>
              <a:srgbClr val="DDDDDD"/>
            </a:solidFill>
            <a:ln w="3810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vi-VN" sz="2400"/>
                <a:t>Khối điều kiện</a:t>
              </a:r>
            </a:p>
          </p:txBody>
        </p:sp>
        <p:sp>
          <p:nvSpPr>
            <p:cNvPr id="485394" name="Freeform 18"/>
            <p:cNvSpPr>
              <a:spLocks/>
            </p:cNvSpPr>
            <p:nvPr/>
          </p:nvSpPr>
          <p:spPr bwMode="auto">
            <a:xfrm>
              <a:off x="720" y="2901"/>
              <a:ext cx="144" cy="480"/>
            </a:xfrm>
            <a:custGeom>
              <a:avLst/>
              <a:gdLst>
                <a:gd name="T0" fmla="*/ 384 w 384"/>
                <a:gd name="T1" fmla="*/ 0 h 480"/>
                <a:gd name="T2" fmla="*/ 0 w 384"/>
                <a:gd name="T3" fmla="*/ 0 h 480"/>
                <a:gd name="T4" fmla="*/ 0 w 384"/>
                <a:gd name="T5" fmla="*/ 480 h 480"/>
              </a:gdLst>
              <a:ahLst/>
              <a:cxnLst>
                <a:cxn ang="0">
                  <a:pos x="T0" y="T1"/>
                </a:cxn>
                <a:cxn ang="0">
                  <a:pos x="T2" y="T3"/>
                </a:cxn>
                <a:cxn ang="0">
                  <a:pos x="T4" y="T5"/>
                </a:cxn>
              </a:cxnLst>
              <a:rect l="0" t="0" r="r" b="b"/>
              <a:pathLst>
                <a:path w="384" h="480">
                  <a:moveTo>
                    <a:pt x="384" y="0"/>
                  </a:moveTo>
                  <a:lnTo>
                    <a:pt x="0" y="0"/>
                  </a:lnTo>
                  <a:lnTo>
                    <a:pt x="0" y="480"/>
                  </a:lnTo>
                </a:path>
              </a:pathLst>
            </a:custGeom>
            <a:noFill/>
            <a:ln w="571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5395" name="Freeform 19"/>
            <p:cNvSpPr>
              <a:spLocks/>
            </p:cNvSpPr>
            <p:nvPr/>
          </p:nvSpPr>
          <p:spPr bwMode="auto">
            <a:xfrm flipH="1">
              <a:off x="2640" y="2901"/>
              <a:ext cx="144" cy="480"/>
            </a:xfrm>
            <a:custGeom>
              <a:avLst/>
              <a:gdLst>
                <a:gd name="T0" fmla="*/ 384 w 384"/>
                <a:gd name="T1" fmla="*/ 0 h 480"/>
                <a:gd name="T2" fmla="*/ 0 w 384"/>
                <a:gd name="T3" fmla="*/ 0 h 480"/>
                <a:gd name="T4" fmla="*/ 0 w 384"/>
                <a:gd name="T5" fmla="*/ 480 h 480"/>
              </a:gdLst>
              <a:ahLst/>
              <a:cxnLst>
                <a:cxn ang="0">
                  <a:pos x="T0" y="T1"/>
                </a:cxn>
                <a:cxn ang="0">
                  <a:pos x="T2" y="T3"/>
                </a:cxn>
                <a:cxn ang="0">
                  <a:pos x="T4" y="T5"/>
                </a:cxn>
              </a:cxnLst>
              <a:rect l="0" t="0" r="r" b="b"/>
              <a:pathLst>
                <a:path w="384" h="480">
                  <a:moveTo>
                    <a:pt x="384" y="0"/>
                  </a:moveTo>
                  <a:lnTo>
                    <a:pt x="0" y="0"/>
                  </a:lnTo>
                  <a:lnTo>
                    <a:pt x="0" y="480"/>
                  </a:lnTo>
                </a:path>
              </a:pathLst>
            </a:custGeom>
            <a:noFill/>
            <a:ln w="571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5396" name="Text Box 20"/>
            <p:cNvSpPr txBox="1">
              <a:spLocks noChangeArrowheads="1"/>
            </p:cNvSpPr>
            <p:nvPr/>
          </p:nvSpPr>
          <p:spPr bwMode="auto">
            <a:xfrm>
              <a:off x="624" y="2880"/>
              <a:ext cx="384" cy="36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a:t>+</a:t>
              </a:r>
            </a:p>
          </p:txBody>
        </p:sp>
        <p:sp>
          <p:nvSpPr>
            <p:cNvPr id="485397" name="Text Box 21"/>
            <p:cNvSpPr txBox="1">
              <a:spLocks noChangeArrowheads="1"/>
            </p:cNvSpPr>
            <p:nvPr/>
          </p:nvSpPr>
          <p:spPr bwMode="auto">
            <a:xfrm>
              <a:off x="2352" y="2784"/>
              <a:ext cx="384" cy="48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4400"/>
                <a:t>-</a:t>
              </a:r>
            </a:p>
          </p:txBody>
        </p:sp>
        <p:sp>
          <p:nvSpPr>
            <p:cNvPr id="485419" name="Line 43"/>
            <p:cNvSpPr>
              <a:spLocks noChangeShapeType="1"/>
            </p:cNvSpPr>
            <p:nvPr/>
          </p:nvSpPr>
          <p:spPr bwMode="auto">
            <a:xfrm>
              <a:off x="1746" y="2400"/>
              <a:ext cx="0" cy="24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gr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682942098"/>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485421"/>
                                        </p:tgtEl>
                                        <p:attrNameLst>
                                          <p:attrName>style.visibility</p:attrName>
                                        </p:attrNameLst>
                                      </p:cBhvr>
                                      <p:to>
                                        <p:strVal val="visible"/>
                                      </p:to>
                                    </p:set>
                                    <p:anim calcmode="lin" valueType="num">
                                      <p:cBhvr>
                                        <p:cTn id="7" dur="500" fill="hold"/>
                                        <p:tgtEl>
                                          <p:spTgt spid="485421"/>
                                        </p:tgtEl>
                                        <p:attrNameLst>
                                          <p:attrName>ppt_w</p:attrName>
                                        </p:attrNameLst>
                                      </p:cBhvr>
                                      <p:tavLst>
                                        <p:tav tm="0">
                                          <p:val>
                                            <p:fltVal val="0"/>
                                          </p:val>
                                        </p:tav>
                                        <p:tav tm="100000">
                                          <p:val>
                                            <p:strVal val="#ppt_w"/>
                                          </p:val>
                                        </p:tav>
                                      </p:tavLst>
                                    </p:anim>
                                    <p:anim calcmode="lin" valueType="num">
                                      <p:cBhvr>
                                        <p:cTn id="8" dur="500" fill="hold"/>
                                        <p:tgtEl>
                                          <p:spTgt spid="485421"/>
                                        </p:tgtEl>
                                        <p:attrNameLst>
                                          <p:attrName>ppt_h</p:attrName>
                                        </p:attrNameLst>
                                      </p:cBhvr>
                                      <p:tavLst>
                                        <p:tav tm="0">
                                          <p:val>
                                            <p:fltVal val="0"/>
                                          </p:val>
                                        </p:tav>
                                        <p:tav tm="100000">
                                          <p:val>
                                            <p:strVal val="#ppt_h"/>
                                          </p:val>
                                        </p:tav>
                                      </p:tavLst>
                                    </p:anim>
                                    <p:animEffect transition="in" filter="fade">
                                      <p:cBhvr>
                                        <p:cTn id="9" dur="500"/>
                                        <p:tgtEl>
                                          <p:spTgt spid="485421"/>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485420"/>
                                        </p:tgtEl>
                                        <p:attrNameLst>
                                          <p:attrName>style.visibility</p:attrName>
                                        </p:attrNameLst>
                                      </p:cBhvr>
                                      <p:to>
                                        <p:strVal val="visible"/>
                                      </p:to>
                                    </p:set>
                                    <p:anim calcmode="lin" valueType="num">
                                      <p:cBhvr>
                                        <p:cTn id="14" dur="500" fill="hold"/>
                                        <p:tgtEl>
                                          <p:spTgt spid="485420"/>
                                        </p:tgtEl>
                                        <p:attrNameLst>
                                          <p:attrName>ppt_w</p:attrName>
                                        </p:attrNameLst>
                                      </p:cBhvr>
                                      <p:tavLst>
                                        <p:tav tm="0">
                                          <p:val>
                                            <p:fltVal val="0"/>
                                          </p:val>
                                        </p:tav>
                                        <p:tav tm="100000">
                                          <p:val>
                                            <p:strVal val="#ppt_w"/>
                                          </p:val>
                                        </p:tav>
                                      </p:tavLst>
                                    </p:anim>
                                    <p:anim calcmode="lin" valueType="num">
                                      <p:cBhvr>
                                        <p:cTn id="15" dur="500" fill="hold"/>
                                        <p:tgtEl>
                                          <p:spTgt spid="485420"/>
                                        </p:tgtEl>
                                        <p:attrNameLst>
                                          <p:attrName>ppt_h</p:attrName>
                                        </p:attrNameLst>
                                      </p:cBhvr>
                                      <p:tavLst>
                                        <p:tav tm="0">
                                          <p:val>
                                            <p:fltVal val="0"/>
                                          </p:val>
                                        </p:tav>
                                        <p:tav tm="100000">
                                          <p:val>
                                            <p:strVal val="#ppt_h"/>
                                          </p:val>
                                        </p:tav>
                                      </p:tavLst>
                                    </p:anim>
                                    <p:animEffect transition="in" filter="fade">
                                      <p:cBhvr>
                                        <p:cTn id="16" dur="500"/>
                                        <p:tgtEl>
                                          <p:spTgt spid="48542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0" fill="hold" nodeType="clickEffect">
                                  <p:stCondLst>
                                    <p:cond delay="0"/>
                                  </p:stCondLst>
                                  <p:childTnLst>
                                    <p:set>
                                      <p:cBhvr>
                                        <p:cTn id="20" dur="1" fill="hold">
                                          <p:stCondLst>
                                            <p:cond delay="0"/>
                                          </p:stCondLst>
                                        </p:cTn>
                                        <p:tgtEl>
                                          <p:spTgt spid="485422"/>
                                        </p:tgtEl>
                                        <p:attrNameLst>
                                          <p:attrName>style.visibility</p:attrName>
                                        </p:attrNameLst>
                                      </p:cBhvr>
                                      <p:to>
                                        <p:strVal val="visible"/>
                                      </p:to>
                                    </p:set>
                                    <p:anim calcmode="lin" valueType="num">
                                      <p:cBhvr>
                                        <p:cTn id="21" dur="500" fill="hold"/>
                                        <p:tgtEl>
                                          <p:spTgt spid="485422"/>
                                        </p:tgtEl>
                                        <p:attrNameLst>
                                          <p:attrName>ppt_w</p:attrName>
                                        </p:attrNameLst>
                                      </p:cBhvr>
                                      <p:tavLst>
                                        <p:tav tm="0">
                                          <p:val>
                                            <p:fltVal val="0"/>
                                          </p:val>
                                        </p:tav>
                                        <p:tav tm="100000">
                                          <p:val>
                                            <p:strVal val="#ppt_w"/>
                                          </p:val>
                                        </p:tav>
                                      </p:tavLst>
                                    </p:anim>
                                    <p:anim calcmode="lin" valueType="num">
                                      <p:cBhvr>
                                        <p:cTn id="22" dur="500" fill="hold"/>
                                        <p:tgtEl>
                                          <p:spTgt spid="485422"/>
                                        </p:tgtEl>
                                        <p:attrNameLst>
                                          <p:attrName>ppt_h</p:attrName>
                                        </p:attrNameLst>
                                      </p:cBhvr>
                                      <p:tavLst>
                                        <p:tav tm="0">
                                          <p:val>
                                            <p:fltVal val="0"/>
                                          </p:val>
                                        </p:tav>
                                        <p:tav tm="100000">
                                          <p:val>
                                            <p:strVal val="#ppt_h"/>
                                          </p:val>
                                        </p:tav>
                                      </p:tavLst>
                                    </p:anim>
                                    <p:animEffect transition="in" filter="fade">
                                      <p:cBhvr>
                                        <p:cTn id="23" dur="500"/>
                                        <p:tgtEl>
                                          <p:spTgt spid="48542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485423"/>
                                        </p:tgtEl>
                                        <p:attrNameLst>
                                          <p:attrName>style.visibility</p:attrName>
                                        </p:attrNameLst>
                                      </p:cBhvr>
                                      <p:to>
                                        <p:strVal val="visible"/>
                                      </p:to>
                                    </p:set>
                                    <p:anim calcmode="lin" valueType="num">
                                      <p:cBhvr>
                                        <p:cTn id="28" dur="500" fill="hold"/>
                                        <p:tgtEl>
                                          <p:spTgt spid="485423"/>
                                        </p:tgtEl>
                                        <p:attrNameLst>
                                          <p:attrName>ppt_w</p:attrName>
                                        </p:attrNameLst>
                                      </p:cBhvr>
                                      <p:tavLst>
                                        <p:tav tm="0">
                                          <p:val>
                                            <p:fltVal val="0"/>
                                          </p:val>
                                        </p:tav>
                                        <p:tav tm="100000">
                                          <p:val>
                                            <p:strVal val="#ppt_w"/>
                                          </p:val>
                                        </p:tav>
                                      </p:tavLst>
                                    </p:anim>
                                    <p:anim calcmode="lin" valueType="num">
                                      <p:cBhvr>
                                        <p:cTn id="29" dur="500" fill="hold"/>
                                        <p:tgtEl>
                                          <p:spTgt spid="485423"/>
                                        </p:tgtEl>
                                        <p:attrNameLst>
                                          <p:attrName>ppt_h</p:attrName>
                                        </p:attrNameLst>
                                      </p:cBhvr>
                                      <p:tavLst>
                                        <p:tav tm="0">
                                          <p:val>
                                            <p:fltVal val="0"/>
                                          </p:val>
                                        </p:tav>
                                        <p:tav tm="100000">
                                          <p:val>
                                            <p:strVal val="#ppt_h"/>
                                          </p:val>
                                        </p:tav>
                                      </p:tavLst>
                                    </p:anim>
                                    <p:animEffect transition="in" filter="fade">
                                      <p:cBhvr>
                                        <p:cTn id="30" dur="500"/>
                                        <p:tgtEl>
                                          <p:spTgt spid="48542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485402"/>
                                        </p:tgtEl>
                                        <p:attrNameLst>
                                          <p:attrName>style.visibility</p:attrName>
                                        </p:attrNameLst>
                                      </p:cBhvr>
                                      <p:to>
                                        <p:strVal val="visible"/>
                                      </p:to>
                                    </p:set>
                                    <p:anim calcmode="lin" valueType="num">
                                      <p:cBhvr additive="base">
                                        <p:cTn id="35" dur="500" fill="hold"/>
                                        <p:tgtEl>
                                          <p:spTgt spid="485402"/>
                                        </p:tgtEl>
                                        <p:attrNameLst>
                                          <p:attrName>ppt_x</p:attrName>
                                        </p:attrNameLst>
                                      </p:cBhvr>
                                      <p:tavLst>
                                        <p:tav tm="0">
                                          <p:val>
                                            <p:strVal val="0-#ppt_w/2"/>
                                          </p:val>
                                        </p:tav>
                                        <p:tav tm="100000">
                                          <p:val>
                                            <p:strVal val="#ppt_x"/>
                                          </p:val>
                                        </p:tav>
                                      </p:tavLst>
                                    </p:anim>
                                    <p:anim calcmode="lin" valueType="num">
                                      <p:cBhvr additive="base">
                                        <p:cTn id="36" dur="500" fill="hold"/>
                                        <p:tgtEl>
                                          <p:spTgt spid="48540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40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AutoShape 2"/>
          <p:cNvSpPr>
            <a:spLocks noGrp="1" noChangeArrowheads="1"/>
          </p:cNvSpPr>
          <p:nvPr>
            <p:ph type="title"/>
          </p:nvPr>
        </p:nvSpPr>
        <p:spPr>
          <a:xfrm>
            <a:off x="762000" y="762000"/>
            <a:ext cx="6172200" cy="838200"/>
          </a:xfrm>
        </p:spPr>
        <p:txBody>
          <a:bodyPr>
            <a:normAutofit fontScale="90000"/>
          </a:bodyPr>
          <a:lstStyle/>
          <a:p>
            <a:r>
              <a:rPr lang="en-US" altLang="vi-VN" sz="3200"/>
              <a:t>BIỂU DIỄN BẰNG LƯU ĐỒ </a:t>
            </a:r>
            <a:br>
              <a:rPr lang="en-US" altLang="vi-VN" sz="3200"/>
            </a:br>
            <a:r>
              <a:rPr lang="en-US" altLang="vi-VN" sz="3200"/>
              <a:t>THU</a:t>
            </a:r>
            <a:r>
              <a:rPr lang="en-US" altLang="vi-VN"/>
              <a:t>ẬT TOÁN EUCLID</a:t>
            </a:r>
          </a:p>
        </p:txBody>
      </p:sp>
      <p:sp>
        <p:nvSpPr>
          <p:cNvPr id="487427" name="Text Box 3"/>
          <p:cNvSpPr txBox="1">
            <a:spLocks noChangeArrowheads="1"/>
          </p:cNvSpPr>
          <p:nvPr/>
        </p:nvSpPr>
        <p:spPr bwMode="auto">
          <a:xfrm>
            <a:off x="4724400" y="5486400"/>
            <a:ext cx="1371600" cy="406400"/>
          </a:xfrm>
          <a:prstGeom prst="rect">
            <a:avLst/>
          </a:prstGeom>
          <a:solidFill>
            <a:srgbClr val="DDDDDD"/>
          </a:solidFill>
          <a:ln w="9525"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n:= n - m</a:t>
            </a:r>
          </a:p>
        </p:txBody>
      </p:sp>
      <p:sp>
        <p:nvSpPr>
          <p:cNvPr id="487428" name="Line 4"/>
          <p:cNvSpPr>
            <a:spLocks noChangeShapeType="1"/>
          </p:cNvSpPr>
          <p:nvPr/>
        </p:nvSpPr>
        <p:spPr bwMode="auto">
          <a:xfrm>
            <a:off x="6858000" y="5943600"/>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grpSp>
        <p:nvGrpSpPr>
          <p:cNvPr id="487429" name="Group 5"/>
          <p:cNvGrpSpPr>
            <a:grpSpLocks/>
          </p:cNvGrpSpPr>
          <p:nvPr/>
        </p:nvGrpSpPr>
        <p:grpSpPr bwMode="auto">
          <a:xfrm>
            <a:off x="5334000" y="2057400"/>
            <a:ext cx="457200" cy="457200"/>
            <a:chOff x="1392" y="3024"/>
            <a:chExt cx="288" cy="288"/>
          </a:xfrm>
        </p:grpSpPr>
        <p:sp>
          <p:nvSpPr>
            <p:cNvPr id="487430" name="Oval 6"/>
            <p:cNvSpPr>
              <a:spLocks noChangeArrowheads="1"/>
            </p:cNvSpPr>
            <p:nvPr/>
          </p:nvSpPr>
          <p:spPr bwMode="auto">
            <a:xfrm>
              <a:off x="1392" y="3024"/>
              <a:ext cx="288" cy="288"/>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87431" name="Oval 7"/>
            <p:cNvSpPr>
              <a:spLocks noChangeArrowheads="1"/>
            </p:cNvSpPr>
            <p:nvPr/>
          </p:nvSpPr>
          <p:spPr bwMode="auto">
            <a:xfrm>
              <a:off x="1488" y="3120"/>
              <a:ext cx="96" cy="96"/>
            </a:xfrm>
            <a:prstGeom prst="ellipse">
              <a:avLst/>
            </a:prstGeom>
            <a:solidFill>
              <a:srgbClr val="000000"/>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grpSp>
      <p:grpSp>
        <p:nvGrpSpPr>
          <p:cNvPr id="487432" name="Group 8"/>
          <p:cNvGrpSpPr>
            <a:grpSpLocks/>
          </p:cNvGrpSpPr>
          <p:nvPr/>
        </p:nvGrpSpPr>
        <p:grpSpPr bwMode="auto">
          <a:xfrm>
            <a:off x="6629400" y="6248400"/>
            <a:ext cx="457200" cy="457200"/>
            <a:chOff x="2112" y="3072"/>
            <a:chExt cx="288" cy="288"/>
          </a:xfrm>
        </p:grpSpPr>
        <p:sp>
          <p:nvSpPr>
            <p:cNvPr id="487433" name="Oval 9"/>
            <p:cNvSpPr>
              <a:spLocks noChangeArrowheads="1"/>
            </p:cNvSpPr>
            <p:nvPr/>
          </p:nvSpPr>
          <p:spPr bwMode="auto">
            <a:xfrm>
              <a:off x="2112" y="3072"/>
              <a:ext cx="288" cy="288"/>
            </a:xfrm>
            <a:prstGeom prst="ellipse">
              <a:avLst/>
            </a:prstGeom>
            <a:solidFill>
              <a:srgbClr val="000000"/>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87434" name="Oval 10"/>
            <p:cNvSpPr>
              <a:spLocks noChangeArrowheads="1"/>
            </p:cNvSpPr>
            <p:nvPr/>
          </p:nvSpPr>
          <p:spPr bwMode="auto">
            <a:xfrm>
              <a:off x="2208" y="3168"/>
              <a:ext cx="96" cy="96"/>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grpSp>
      <p:grpSp>
        <p:nvGrpSpPr>
          <p:cNvPr id="487435" name="Group 11"/>
          <p:cNvGrpSpPr>
            <a:grpSpLocks/>
          </p:cNvGrpSpPr>
          <p:nvPr/>
        </p:nvGrpSpPr>
        <p:grpSpPr bwMode="auto">
          <a:xfrm>
            <a:off x="4267200" y="3733800"/>
            <a:ext cx="2595563" cy="1069975"/>
            <a:chOff x="2448" y="1659"/>
            <a:chExt cx="2544" cy="874"/>
          </a:xfrm>
        </p:grpSpPr>
        <p:sp>
          <p:nvSpPr>
            <p:cNvPr id="487436" name="AutoShape 12"/>
            <p:cNvSpPr>
              <a:spLocks noChangeArrowheads="1"/>
            </p:cNvSpPr>
            <p:nvPr/>
          </p:nvSpPr>
          <p:spPr bwMode="auto">
            <a:xfrm>
              <a:off x="2832" y="1659"/>
              <a:ext cx="1776" cy="528"/>
            </a:xfrm>
            <a:prstGeom prst="diamond">
              <a:avLst/>
            </a:prstGeom>
            <a:solidFill>
              <a:srgbClr val="DDDDDD"/>
            </a:solidFill>
            <a:ln w="1905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vi-VN" sz="2000"/>
                <a:t>m=n?</a:t>
              </a:r>
            </a:p>
          </p:txBody>
        </p:sp>
        <p:sp>
          <p:nvSpPr>
            <p:cNvPr id="487437" name="Freeform 13"/>
            <p:cNvSpPr>
              <a:spLocks/>
            </p:cNvSpPr>
            <p:nvPr/>
          </p:nvSpPr>
          <p:spPr bwMode="auto">
            <a:xfrm>
              <a:off x="2448" y="1920"/>
              <a:ext cx="384" cy="480"/>
            </a:xfrm>
            <a:custGeom>
              <a:avLst/>
              <a:gdLst>
                <a:gd name="T0" fmla="*/ 384 w 384"/>
                <a:gd name="T1" fmla="*/ 0 h 480"/>
                <a:gd name="T2" fmla="*/ 0 w 384"/>
                <a:gd name="T3" fmla="*/ 0 h 480"/>
                <a:gd name="T4" fmla="*/ 0 w 384"/>
                <a:gd name="T5" fmla="*/ 480 h 480"/>
              </a:gdLst>
              <a:ahLst/>
              <a:cxnLst>
                <a:cxn ang="0">
                  <a:pos x="T0" y="T1"/>
                </a:cxn>
                <a:cxn ang="0">
                  <a:pos x="T2" y="T3"/>
                </a:cxn>
                <a:cxn ang="0">
                  <a:pos x="T4" y="T5"/>
                </a:cxn>
              </a:cxnLst>
              <a:rect l="0" t="0" r="r" b="b"/>
              <a:pathLst>
                <a:path w="384" h="480">
                  <a:moveTo>
                    <a:pt x="384" y="0"/>
                  </a:moveTo>
                  <a:lnTo>
                    <a:pt x="0" y="0"/>
                  </a:lnTo>
                  <a:lnTo>
                    <a:pt x="0" y="48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7438" name="Freeform 14"/>
            <p:cNvSpPr>
              <a:spLocks/>
            </p:cNvSpPr>
            <p:nvPr/>
          </p:nvSpPr>
          <p:spPr bwMode="auto">
            <a:xfrm flipH="1">
              <a:off x="4608" y="1920"/>
              <a:ext cx="384" cy="480"/>
            </a:xfrm>
            <a:custGeom>
              <a:avLst/>
              <a:gdLst>
                <a:gd name="T0" fmla="*/ 384 w 384"/>
                <a:gd name="T1" fmla="*/ 0 h 480"/>
                <a:gd name="T2" fmla="*/ 0 w 384"/>
                <a:gd name="T3" fmla="*/ 0 h 480"/>
                <a:gd name="T4" fmla="*/ 0 w 384"/>
                <a:gd name="T5" fmla="*/ 480 h 480"/>
              </a:gdLst>
              <a:ahLst/>
              <a:cxnLst>
                <a:cxn ang="0">
                  <a:pos x="T0" y="T1"/>
                </a:cxn>
                <a:cxn ang="0">
                  <a:pos x="T2" y="T3"/>
                </a:cxn>
                <a:cxn ang="0">
                  <a:pos x="T4" y="T5"/>
                </a:cxn>
              </a:cxnLst>
              <a:rect l="0" t="0" r="r" b="b"/>
              <a:pathLst>
                <a:path w="384" h="480">
                  <a:moveTo>
                    <a:pt x="384" y="0"/>
                  </a:moveTo>
                  <a:lnTo>
                    <a:pt x="0" y="0"/>
                  </a:lnTo>
                  <a:lnTo>
                    <a:pt x="0" y="48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7439" name="Text Box 15"/>
            <p:cNvSpPr txBox="1">
              <a:spLocks noChangeArrowheads="1"/>
            </p:cNvSpPr>
            <p:nvPr/>
          </p:nvSpPr>
          <p:spPr bwMode="auto">
            <a:xfrm>
              <a:off x="2593" y="2160"/>
              <a:ext cx="382" cy="37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400"/>
                <a:t>-</a:t>
              </a:r>
            </a:p>
          </p:txBody>
        </p:sp>
        <p:sp>
          <p:nvSpPr>
            <p:cNvPr id="487440" name="Text Box 16"/>
            <p:cNvSpPr txBox="1">
              <a:spLocks noChangeArrowheads="1"/>
            </p:cNvSpPr>
            <p:nvPr/>
          </p:nvSpPr>
          <p:spPr bwMode="auto">
            <a:xfrm>
              <a:off x="4465" y="2113"/>
              <a:ext cx="382" cy="37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400"/>
                <a:t>+</a:t>
              </a:r>
            </a:p>
          </p:txBody>
        </p:sp>
      </p:grpSp>
      <p:sp>
        <p:nvSpPr>
          <p:cNvPr id="487444" name="Line 20"/>
          <p:cNvSpPr>
            <a:spLocks noChangeShapeType="1"/>
          </p:cNvSpPr>
          <p:nvPr/>
        </p:nvSpPr>
        <p:spPr bwMode="auto">
          <a:xfrm>
            <a:off x="2133600" y="3448050"/>
            <a:ext cx="3429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7445" name="Line 21"/>
          <p:cNvSpPr>
            <a:spLocks noChangeShapeType="1"/>
          </p:cNvSpPr>
          <p:nvPr/>
        </p:nvSpPr>
        <p:spPr bwMode="auto">
          <a:xfrm>
            <a:off x="5562600" y="2505075"/>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7448" name="AutoShape 24"/>
          <p:cNvSpPr>
            <a:spLocks noChangeArrowheads="1"/>
          </p:cNvSpPr>
          <p:nvPr/>
        </p:nvSpPr>
        <p:spPr bwMode="auto">
          <a:xfrm>
            <a:off x="6324600" y="5486400"/>
            <a:ext cx="1066800" cy="457200"/>
          </a:xfrm>
          <a:prstGeom prst="flowChartDocument">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vi-VN" sz="2400"/>
              <a:t> d</a:t>
            </a:r>
          </a:p>
        </p:txBody>
      </p:sp>
      <p:sp>
        <p:nvSpPr>
          <p:cNvPr id="487449" name="AutoShape 25"/>
          <p:cNvSpPr>
            <a:spLocks noChangeArrowheads="1"/>
          </p:cNvSpPr>
          <p:nvPr/>
        </p:nvSpPr>
        <p:spPr bwMode="auto">
          <a:xfrm>
            <a:off x="4953000" y="2819400"/>
            <a:ext cx="1219200" cy="533400"/>
          </a:xfrm>
          <a:prstGeom prst="flowChartPunchedCard">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vi-VN" sz="2000"/>
              <a:t>m,n</a:t>
            </a:r>
          </a:p>
        </p:txBody>
      </p:sp>
      <p:sp>
        <p:nvSpPr>
          <p:cNvPr id="487450" name="Line 26"/>
          <p:cNvSpPr>
            <a:spLocks noChangeShapeType="1"/>
          </p:cNvSpPr>
          <p:nvPr/>
        </p:nvSpPr>
        <p:spPr bwMode="auto">
          <a:xfrm>
            <a:off x="5486400" y="6000750"/>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7451" name="Line 27"/>
          <p:cNvSpPr>
            <a:spLocks noChangeShapeType="1"/>
          </p:cNvSpPr>
          <p:nvPr/>
        </p:nvSpPr>
        <p:spPr bwMode="auto">
          <a:xfrm>
            <a:off x="5562600" y="3352800"/>
            <a:ext cx="0" cy="3810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7452" name="Line 28"/>
          <p:cNvSpPr>
            <a:spLocks noChangeShapeType="1"/>
          </p:cNvSpPr>
          <p:nvPr/>
        </p:nvSpPr>
        <p:spPr bwMode="auto">
          <a:xfrm>
            <a:off x="3048000" y="6019800"/>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7453" name="Line 29"/>
          <p:cNvSpPr>
            <a:spLocks noChangeShapeType="1"/>
          </p:cNvSpPr>
          <p:nvPr/>
        </p:nvSpPr>
        <p:spPr bwMode="auto">
          <a:xfrm>
            <a:off x="6858000" y="5124450"/>
            <a:ext cx="0" cy="3810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grpSp>
        <p:nvGrpSpPr>
          <p:cNvPr id="487454" name="Group 30"/>
          <p:cNvGrpSpPr>
            <a:grpSpLocks/>
          </p:cNvGrpSpPr>
          <p:nvPr/>
        </p:nvGrpSpPr>
        <p:grpSpPr bwMode="auto">
          <a:xfrm>
            <a:off x="3048000" y="4572000"/>
            <a:ext cx="2438400" cy="1074738"/>
            <a:chOff x="2448" y="1659"/>
            <a:chExt cx="2544" cy="878"/>
          </a:xfrm>
        </p:grpSpPr>
        <p:sp>
          <p:nvSpPr>
            <p:cNvPr id="487455" name="AutoShape 31"/>
            <p:cNvSpPr>
              <a:spLocks noChangeArrowheads="1"/>
            </p:cNvSpPr>
            <p:nvPr/>
          </p:nvSpPr>
          <p:spPr bwMode="auto">
            <a:xfrm>
              <a:off x="2832" y="1659"/>
              <a:ext cx="1776" cy="528"/>
            </a:xfrm>
            <a:prstGeom prst="diamond">
              <a:avLst/>
            </a:prstGeom>
            <a:solidFill>
              <a:srgbClr val="DDDDDD"/>
            </a:solidFill>
            <a:ln w="1905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vi-VN" sz="2000"/>
                <a:t>m&gt;n ?</a:t>
              </a:r>
            </a:p>
          </p:txBody>
        </p:sp>
        <p:sp>
          <p:nvSpPr>
            <p:cNvPr id="487456" name="Freeform 32"/>
            <p:cNvSpPr>
              <a:spLocks/>
            </p:cNvSpPr>
            <p:nvPr/>
          </p:nvSpPr>
          <p:spPr bwMode="auto">
            <a:xfrm>
              <a:off x="2448" y="1920"/>
              <a:ext cx="384" cy="480"/>
            </a:xfrm>
            <a:custGeom>
              <a:avLst/>
              <a:gdLst>
                <a:gd name="T0" fmla="*/ 384 w 384"/>
                <a:gd name="T1" fmla="*/ 0 h 480"/>
                <a:gd name="T2" fmla="*/ 0 w 384"/>
                <a:gd name="T3" fmla="*/ 0 h 480"/>
                <a:gd name="T4" fmla="*/ 0 w 384"/>
                <a:gd name="T5" fmla="*/ 480 h 480"/>
              </a:gdLst>
              <a:ahLst/>
              <a:cxnLst>
                <a:cxn ang="0">
                  <a:pos x="T0" y="T1"/>
                </a:cxn>
                <a:cxn ang="0">
                  <a:pos x="T2" y="T3"/>
                </a:cxn>
                <a:cxn ang="0">
                  <a:pos x="T4" y="T5"/>
                </a:cxn>
              </a:cxnLst>
              <a:rect l="0" t="0" r="r" b="b"/>
              <a:pathLst>
                <a:path w="384" h="480">
                  <a:moveTo>
                    <a:pt x="384" y="0"/>
                  </a:moveTo>
                  <a:lnTo>
                    <a:pt x="0" y="0"/>
                  </a:lnTo>
                  <a:lnTo>
                    <a:pt x="0" y="48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7457" name="Freeform 33"/>
            <p:cNvSpPr>
              <a:spLocks/>
            </p:cNvSpPr>
            <p:nvPr/>
          </p:nvSpPr>
          <p:spPr bwMode="auto">
            <a:xfrm flipH="1">
              <a:off x="4608" y="1920"/>
              <a:ext cx="384" cy="480"/>
            </a:xfrm>
            <a:custGeom>
              <a:avLst/>
              <a:gdLst>
                <a:gd name="T0" fmla="*/ 384 w 384"/>
                <a:gd name="T1" fmla="*/ 0 h 480"/>
                <a:gd name="T2" fmla="*/ 0 w 384"/>
                <a:gd name="T3" fmla="*/ 0 h 480"/>
                <a:gd name="T4" fmla="*/ 0 w 384"/>
                <a:gd name="T5" fmla="*/ 480 h 480"/>
              </a:gdLst>
              <a:ahLst/>
              <a:cxnLst>
                <a:cxn ang="0">
                  <a:pos x="T0" y="T1"/>
                </a:cxn>
                <a:cxn ang="0">
                  <a:pos x="T2" y="T3"/>
                </a:cxn>
                <a:cxn ang="0">
                  <a:pos x="T4" y="T5"/>
                </a:cxn>
              </a:cxnLst>
              <a:rect l="0" t="0" r="r" b="b"/>
              <a:pathLst>
                <a:path w="384" h="480">
                  <a:moveTo>
                    <a:pt x="384" y="0"/>
                  </a:moveTo>
                  <a:lnTo>
                    <a:pt x="0" y="0"/>
                  </a:lnTo>
                  <a:lnTo>
                    <a:pt x="0" y="48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7458" name="Text Box 34"/>
            <p:cNvSpPr txBox="1">
              <a:spLocks noChangeArrowheads="1"/>
            </p:cNvSpPr>
            <p:nvPr/>
          </p:nvSpPr>
          <p:spPr bwMode="auto">
            <a:xfrm>
              <a:off x="2592" y="2160"/>
              <a:ext cx="383" cy="32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000"/>
                <a:t>+</a:t>
              </a:r>
            </a:p>
          </p:txBody>
        </p:sp>
        <p:sp>
          <p:nvSpPr>
            <p:cNvPr id="487459" name="Text Box 35"/>
            <p:cNvSpPr txBox="1">
              <a:spLocks noChangeArrowheads="1"/>
            </p:cNvSpPr>
            <p:nvPr/>
          </p:nvSpPr>
          <p:spPr bwMode="auto">
            <a:xfrm>
              <a:off x="4465" y="2113"/>
              <a:ext cx="383" cy="42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905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800"/>
                <a:t>-</a:t>
              </a:r>
            </a:p>
          </p:txBody>
        </p:sp>
      </p:grpSp>
      <p:sp>
        <p:nvSpPr>
          <p:cNvPr id="487466" name="Text Box 42"/>
          <p:cNvSpPr txBox="1">
            <a:spLocks noChangeArrowheads="1"/>
          </p:cNvSpPr>
          <p:nvPr/>
        </p:nvSpPr>
        <p:spPr bwMode="auto">
          <a:xfrm>
            <a:off x="2438400" y="5486400"/>
            <a:ext cx="1219200" cy="406400"/>
          </a:xfrm>
          <a:prstGeom prst="rect">
            <a:avLst/>
          </a:prstGeom>
          <a:solidFill>
            <a:srgbClr val="DDDDDD"/>
          </a:solidFill>
          <a:ln w="9525"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 m:=m-n</a:t>
            </a:r>
          </a:p>
        </p:txBody>
      </p:sp>
      <p:sp>
        <p:nvSpPr>
          <p:cNvPr id="487467" name="Text Box 43"/>
          <p:cNvSpPr txBox="1">
            <a:spLocks noChangeArrowheads="1"/>
          </p:cNvSpPr>
          <p:nvPr/>
        </p:nvSpPr>
        <p:spPr bwMode="auto">
          <a:xfrm>
            <a:off x="6281738" y="4695825"/>
            <a:ext cx="1143000" cy="406400"/>
          </a:xfrm>
          <a:prstGeom prst="rect">
            <a:avLst/>
          </a:prstGeom>
          <a:solidFill>
            <a:srgbClr val="DDDDDD"/>
          </a:solidFill>
          <a:ln w="9525"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d:= m</a:t>
            </a:r>
          </a:p>
        </p:txBody>
      </p:sp>
      <p:sp>
        <p:nvSpPr>
          <p:cNvPr id="487471" name="Line 47"/>
          <p:cNvSpPr>
            <a:spLocks noChangeShapeType="1"/>
          </p:cNvSpPr>
          <p:nvPr/>
        </p:nvSpPr>
        <p:spPr bwMode="auto">
          <a:xfrm>
            <a:off x="3000375" y="6324600"/>
            <a:ext cx="25146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7473" name="Line 49"/>
          <p:cNvSpPr>
            <a:spLocks noChangeShapeType="1"/>
          </p:cNvSpPr>
          <p:nvPr/>
        </p:nvSpPr>
        <p:spPr bwMode="auto">
          <a:xfrm>
            <a:off x="4114800" y="6324600"/>
            <a:ext cx="0" cy="381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7474" name="Line 50"/>
          <p:cNvSpPr>
            <a:spLocks noChangeShapeType="1"/>
          </p:cNvSpPr>
          <p:nvPr/>
        </p:nvSpPr>
        <p:spPr bwMode="auto">
          <a:xfrm flipH="1">
            <a:off x="2133600" y="6705600"/>
            <a:ext cx="19812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87475" name="Line 51"/>
          <p:cNvSpPr>
            <a:spLocks noChangeShapeType="1"/>
          </p:cNvSpPr>
          <p:nvPr/>
        </p:nvSpPr>
        <p:spPr bwMode="auto">
          <a:xfrm flipV="1">
            <a:off x="2133600" y="3429000"/>
            <a:ext cx="0" cy="32766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813506963"/>
      </p:ext>
    </p:extLst>
  </p:cSld>
  <p:clrMapOvr>
    <a:masterClrMapping/>
  </p:clrMapOvr>
  <p:transition spd="slow">
    <p:wipe dir="d"/>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AutoShape 2"/>
          <p:cNvSpPr>
            <a:spLocks noGrp="1" noChangeArrowheads="1"/>
          </p:cNvSpPr>
          <p:nvPr>
            <p:ph type="title"/>
          </p:nvPr>
        </p:nvSpPr>
        <p:spPr/>
        <p:txBody>
          <a:bodyPr/>
          <a:lstStyle/>
          <a:p>
            <a:r>
              <a:rPr lang="en-US" altLang="vi-VN" sz="3200"/>
              <a:t>BIỂU DIỄN BẰNG CẤU TRÚC ĐIỀU KHIỂN</a:t>
            </a:r>
          </a:p>
        </p:txBody>
      </p:sp>
      <p:sp>
        <p:nvSpPr>
          <p:cNvPr id="488451" name="Rectangle 3"/>
          <p:cNvSpPr>
            <a:spLocks noGrp="1" noChangeArrowheads="1"/>
          </p:cNvSpPr>
          <p:nvPr>
            <p:ph type="body" sz="half" idx="1"/>
          </p:nvPr>
        </p:nvSpPr>
        <p:spPr>
          <a:xfrm>
            <a:off x="1066800" y="2590800"/>
            <a:ext cx="4191000" cy="3505200"/>
          </a:xfrm>
          <a:solidFill>
            <a:srgbClr val="BEBDA8"/>
          </a:solidFill>
        </p:spPr>
        <p:txBody>
          <a:bodyPr/>
          <a:lstStyle/>
          <a:p>
            <a:pPr marL="0" indent="0">
              <a:lnSpc>
                <a:spcPct val="80000"/>
              </a:lnSpc>
              <a:buFont typeface="Wingdings" panose="05000000000000000000" pitchFamily="2" charset="2"/>
              <a:buNone/>
            </a:pPr>
            <a:r>
              <a:rPr lang="en-US" altLang="vi-VN" sz="2000"/>
              <a:t>Trong khi m </a:t>
            </a:r>
            <a:r>
              <a:rPr lang="en-US" altLang="vi-VN" sz="2000">
                <a:sym typeface="Symbol" panose="05050102010706020507" pitchFamily="18" charset="2"/>
              </a:rPr>
              <a:t></a:t>
            </a:r>
            <a:r>
              <a:rPr lang="en-US" altLang="vi-VN" sz="2000"/>
              <a:t> n thì lặp lại khối sau:</a:t>
            </a:r>
          </a:p>
          <a:p>
            <a:pPr marL="0" indent="0">
              <a:lnSpc>
                <a:spcPct val="80000"/>
              </a:lnSpc>
              <a:buFont typeface="Wingdings" panose="05000000000000000000" pitchFamily="2" charset="2"/>
              <a:buNone/>
            </a:pPr>
            <a:endParaRPr lang="en-US" altLang="vi-VN" sz="2000"/>
          </a:p>
          <a:p>
            <a:pPr marL="0" indent="0">
              <a:lnSpc>
                <a:spcPct val="80000"/>
              </a:lnSpc>
              <a:buFont typeface="Wingdings" panose="05000000000000000000" pitchFamily="2" charset="2"/>
              <a:buNone/>
            </a:pPr>
            <a:endParaRPr lang="en-US" altLang="vi-VN" sz="2000"/>
          </a:p>
          <a:p>
            <a:pPr marL="0" indent="0">
              <a:lnSpc>
                <a:spcPct val="80000"/>
              </a:lnSpc>
              <a:buFont typeface="Wingdings" panose="05000000000000000000" pitchFamily="2" charset="2"/>
              <a:buNone/>
            </a:pPr>
            <a:endParaRPr lang="en-US" altLang="vi-VN" sz="2000"/>
          </a:p>
          <a:p>
            <a:pPr marL="0" indent="0">
              <a:lnSpc>
                <a:spcPct val="80000"/>
              </a:lnSpc>
              <a:buFont typeface="Wingdings" panose="05000000000000000000" pitchFamily="2" charset="2"/>
              <a:buNone/>
            </a:pPr>
            <a:endParaRPr lang="en-US" altLang="vi-VN" sz="2000"/>
          </a:p>
          <a:p>
            <a:pPr marL="0" indent="0">
              <a:lnSpc>
                <a:spcPct val="80000"/>
              </a:lnSpc>
              <a:buFont typeface="Wingdings" panose="05000000000000000000" pitchFamily="2" charset="2"/>
              <a:buNone/>
            </a:pPr>
            <a:endParaRPr lang="en-US" altLang="vi-VN" sz="2000"/>
          </a:p>
          <a:p>
            <a:pPr marL="0" indent="0">
              <a:lnSpc>
                <a:spcPct val="80000"/>
              </a:lnSpc>
              <a:buFont typeface="Wingdings" panose="05000000000000000000" pitchFamily="2" charset="2"/>
              <a:buNone/>
            </a:pPr>
            <a:endParaRPr lang="en-US" altLang="vi-VN" sz="2000"/>
          </a:p>
          <a:p>
            <a:pPr marL="0" indent="0">
              <a:lnSpc>
                <a:spcPct val="80000"/>
              </a:lnSpc>
              <a:buFont typeface="Wingdings" panose="05000000000000000000" pitchFamily="2" charset="2"/>
              <a:buNone/>
            </a:pPr>
            <a:endParaRPr lang="en-US" altLang="vi-VN" sz="2000"/>
          </a:p>
          <a:p>
            <a:pPr marL="0" indent="0">
              <a:lnSpc>
                <a:spcPct val="80000"/>
              </a:lnSpc>
              <a:buFont typeface="Wingdings" panose="05000000000000000000" pitchFamily="2" charset="2"/>
              <a:buNone/>
            </a:pPr>
            <a:r>
              <a:rPr lang="en-US" altLang="vi-VN" sz="2000"/>
              <a:t>Cho tới khi m = n thì tuyên bố USCLN chính là giá trị chung của m và n</a:t>
            </a:r>
          </a:p>
        </p:txBody>
      </p:sp>
      <p:sp>
        <p:nvSpPr>
          <p:cNvPr id="488457" name="Rectangle 9"/>
          <p:cNvSpPr>
            <a:spLocks noChangeArrowheads="1"/>
          </p:cNvSpPr>
          <p:nvPr/>
        </p:nvSpPr>
        <p:spPr bwMode="auto">
          <a:xfrm>
            <a:off x="5867400" y="2590800"/>
            <a:ext cx="2743200" cy="3048000"/>
          </a:xfrm>
          <a:prstGeom prst="rect">
            <a:avLst/>
          </a:prstGeom>
          <a:solidFill>
            <a:srgbClr val="BEBDA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lr>
                <a:schemeClr val="tx1"/>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1pPr>
            <a:lvl2pPr marL="742950" indent="-285750" algn="l">
              <a:spcBef>
                <a:spcPct val="20000"/>
              </a:spcBef>
              <a:buClr>
                <a:schemeClr val="tx1"/>
              </a:buClr>
              <a:buSzPct val="75000"/>
              <a:buChar char="–"/>
              <a:defRPr sz="2000">
                <a:solidFill>
                  <a:schemeClr val="tx1"/>
                </a:solidFill>
                <a:latin typeface="Arial" panose="020B0604020202020204" pitchFamily="34" charset="0"/>
                <a:cs typeface="Arial" panose="020B0604020202020204" pitchFamily="34" charset="0"/>
              </a:defRPr>
            </a:lvl2pPr>
            <a:lvl3pPr marL="1143000" indent="-228600" algn="l">
              <a:spcBef>
                <a:spcPct val="20000"/>
              </a:spcBef>
              <a:buClr>
                <a:schemeClr val="tx1"/>
              </a:buClr>
              <a:buSzPct val="75000"/>
              <a:buFont typeface="Wingdings" panose="05000000000000000000" pitchFamily="2" charset="2"/>
              <a:buChar char="l"/>
              <a:defRPr>
                <a:solidFill>
                  <a:schemeClr val="tx1"/>
                </a:solidFill>
                <a:latin typeface="Arial" panose="020B0604020202020204" pitchFamily="34" charset="0"/>
                <a:cs typeface="Arial" panose="020B0604020202020204" pitchFamily="34" charset="0"/>
              </a:defRPr>
            </a:lvl3pPr>
            <a:lvl4pPr marL="1600200" indent="-228600" algn="l">
              <a:spcBef>
                <a:spcPct val="20000"/>
              </a:spcBef>
              <a:buClr>
                <a:schemeClr val="tx1"/>
              </a:buClr>
              <a:buSzPct val="80000"/>
              <a:buChar char="–"/>
              <a:defRPr sz="1600">
                <a:solidFill>
                  <a:schemeClr val="tx1"/>
                </a:solidFill>
                <a:latin typeface="Arial" panose="020B0604020202020204" pitchFamily="34" charset="0"/>
                <a:cs typeface="Arial" panose="020B0604020202020204" pitchFamily="34" charset="0"/>
              </a:defRPr>
            </a:lvl4pPr>
            <a:lvl5pPr marL="2057400" indent="-228600" algn="l">
              <a:spcBef>
                <a:spcPct val="20000"/>
              </a:spcBef>
              <a:buClr>
                <a:schemeClr val="tx1"/>
              </a:buClr>
              <a:buSzPct val="65000"/>
              <a:buFont typeface="Wingdings" panose="05000000000000000000" pitchFamily="2" charset="2"/>
              <a:buChar char="l"/>
              <a:defRPr sz="1600">
                <a:solidFill>
                  <a:schemeClr val="tx1"/>
                </a:solidFill>
                <a:latin typeface="Arial" panose="020B0604020202020204" pitchFamily="34" charset="0"/>
                <a:cs typeface="Arial" panose="020B0604020202020204" pitchFamily="34" charset="0"/>
              </a:defRPr>
            </a:lvl5pPr>
            <a:lvl6pPr marL="2514600" indent="-228600" fontAlgn="base">
              <a:spcBef>
                <a:spcPct val="20000"/>
              </a:spcBef>
              <a:spcAft>
                <a:spcPct val="0"/>
              </a:spcAft>
              <a:buClr>
                <a:schemeClr val="tx1"/>
              </a:buClr>
              <a:buSzPct val="65000"/>
              <a:buFont typeface="Wingdings" panose="05000000000000000000" pitchFamily="2" charset="2"/>
              <a:buChar char="l"/>
              <a:defRPr sz="1600">
                <a:solidFill>
                  <a:schemeClr val="tx1"/>
                </a:solidFill>
                <a:latin typeface="Arial" panose="020B0604020202020204" pitchFamily="34" charset="0"/>
                <a:cs typeface="Arial" panose="020B0604020202020204" pitchFamily="34" charset="0"/>
              </a:defRPr>
            </a:lvl6pPr>
            <a:lvl7pPr marL="2971800" indent="-228600" fontAlgn="base">
              <a:spcBef>
                <a:spcPct val="20000"/>
              </a:spcBef>
              <a:spcAft>
                <a:spcPct val="0"/>
              </a:spcAft>
              <a:buClr>
                <a:schemeClr val="tx1"/>
              </a:buClr>
              <a:buSzPct val="65000"/>
              <a:buFont typeface="Wingdings" panose="05000000000000000000" pitchFamily="2" charset="2"/>
              <a:buChar char="l"/>
              <a:defRPr sz="1600">
                <a:solidFill>
                  <a:schemeClr val="tx1"/>
                </a:solidFill>
                <a:latin typeface="Arial" panose="020B0604020202020204" pitchFamily="34" charset="0"/>
                <a:cs typeface="Arial" panose="020B0604020202020204" pitchFamily="34" charset="0"/>
              </a:defRPr>
            </a:lvl7pPr>
            <a:lvl8pPr marL="3429000" indent="-228600" fontAlgn="base">
              <a:spcBef>
                <a:spcPct val="20000"/>
              </a:spcBef>
              <a:spcAft>
                <a:spcPct val="0"/>
              </a:spcAft>
              <a:buClr>
                <a:schemeClr val="tx1"/>
              </a:buClr>
              <a:buSzPct val="65000"/>
              <a:buFont typeface="Wingdings" panose="05000000000000000000" pitchFamily="2" charset="2"/>
              <a:buChar char="l"/>
              <a:defRPr sz="1600">
                <a:solidFill>
                  <a:schemeClr val="tx1"/>
                </a:solidFill>
                <a:latin typeface="Arial" panose="020B0604020202020204" pitchFamily="34" charset="0"/>
                <a:cs typeface="Arial" panose="020B0604020202020204" pitchFamily="34" charset="0"/>
              </a:defRPr>
            </a:lvl8pPr>
            <a:lvl9pPr marL="3886200" indent="-228600" fontAlgn="base">
              <a:spcBef>
                <a:spcPct val="20000"/>
              </a:spcBef>
              <a:spcAft>
                <a:spcPct val="0"/>
              </a:spcAft>
              <a:buClr>
                <a:schemeClr val="tx1"/>
              </a:buClr>
              <a:buSzPct val="65000"/>
              <a:buFont typeface="Wingdings" panose="05000000000000000000" pitchFamily="2" charset="2"/>
              <a:buChar char="l"/>
              <a:defRPr sz="1600">
                <a:solidFill>
                  <a:schemeClr val="tx1"/>
                </a:solidFill>
                <a:latin typeface="Arial" panose="020B0604020202020204" pitchFamily="34" charset="0"/>
                <a:cs typeface="Arial" panose="020B0604020202020204" pitchFamily="34" charset="0"/>
              </a:defRPr>
            </a:lvl9pPr>
          </a:lstStyle>
          <a:p>
            <a:pPr>
              <a:buFont typeface="Wingdings" panose="05000000000000000000" pitchFamily="2" charset="2"/>
              <a:buNone/>
            </a:pPr>
            <a:r>
              <a:rPr lang="en-US" altLang="vi-VN"/>
              <a:t>read(m,n);</a:t>
            </a:r>
          </a:p>
          <a:p>
            <a:pPr>
              <a:buFont typeface="Wingdings" panose="05000000000000000000" pitchFamily="2" charset="2"/>
              <a:buNone/>
            </a:pPr>
            <a:r>
              <a:rPr lang="en-US" altLang="vi-VN">
                <a:solidFill>
                  <a:srgbClr val="CC3300"/>
                </a:solidFill>
              </a:rPr>
              <a:t>while</a:t>
            </a:r>
            <a:r>
              <a:rPr lang="en-US" altLang="vi-VN"/>
              <a:t> m &lt;&gt; n </a:t>
            </a:r>
            <a:r>
              <a:rPr lang="en-US" altLang="vi-VN">
                <a:solidFill>
                  <a:srgbClr val="CC3300"/>
                </a:solidFill>
              </a:rPr>
              <a:t>do</a:t>
            </a:r>
          </a:p>
          <a:p>
            <a:pPr>
              <a:buFont typeface="Wingdings" panose="05000000000000000000" pitchFamily="2" charset="2"/>
              <a:buNone/>
            </a:pPr>
            <a:r>
              <a:rPr lang="en-US" altLang="vi-VN"/>
              <a:t>    </a:t>
            </a:r>
            <a:r>
              <a:rPr lang="en-US" altLang="vi-VN">
                <a:solidFill>
                  <a:srgbClr val="CC3300"/>
                </a:solidFill>
              </a:rPr>
              <a:t>if</a:t>
            </a:r>
            <a:r>
              <a:rPr lang="en-US" altLang="vi-VN"/>
              <a:t> m&gt;n </a:t>
            </a:r>
            <a:r>
              <a:rPr lang="en-US" altLang="vi-VN">
                <a:solidFill>
                  <a:srgbClr val="CC3300"/>
                </a:solidFill>
              </a:rPr>
              <a:t>then</a:t>
            </a:r>
          </a:p>
          <a:p>
            <a:pPr>
              <a:buFont typeface="Wingdings" panose="05000000000000000000" pitchFamily="2" charset="2"/>
              <a:buNone/>
            </a:pPr>
            <a:r>
              <a:rPr lang="en-US" altLang="vi-VN"/>
              <a:t>          m:=m-n</a:t>
            </a:r>
          </a:p>
          <a:p>
            <a:pPr>
              <a:buFont typeface="Wingdings" panose="05000000000000000000" pitchFamily="2" charset="2"/>
              <a:buNone/>
            </a:pPr>
            <a:r>
              <a:rPr lang="en-US" altLang="vi-VN"/>
              <a:t>    </a:t>
            </a:r>
            <a:r>
              <a:rPr lang="en-US" altLang="vi-VN">
                <a:solidFill>
                  <a:srgbClr val="CC3300"/>
                </a:solidFill>
              </a:rPr>
              <a:t>else</a:t>
            </a:r>
            <a:r>
              <a:rPr lang="en-US" altLang="vi-VN"/>
              <a:t> </a:t>
            </a:r>
            <a:endParaRPr lang="en-US" altLang="vi-VN" sz="2000"/>
          </a:p>
          <a:p>
            <a:pPr>
              <a:buFont typeface="Wingdings" panose="05000000000000000000" pitchFamily="2" charset="2"/>
              <a:buNone/>
            </a:pPr>
            <a:r>
              <a:rPr lang="en-US" altLang="vi-VN" sz="2000"/>
              <a:t>             n:= n-m;</a:t>
            </a:r>
          </a:p>
          <a:p>
            <a:pPr>
              <a:buFont typeface="Wingdings" panose="05000000000000000000" pitchFamily="2" charset="2"/>
              <a:buNone/>
            </a:pPr>
            <a:r>
              <a:rPr lang="en-US" altLang="vi-VN"/>
              <a:t>write(m);</a:t>
            </a:r>
          </a:p>
        </p:txBody>
      </p:sp>
      <p:sp>
        <p:nvSpPr>
          <p:cNvPr id="488458" name="AutoShape 10"/>
          <p:cNvSpPr>
            <a:spLocks noChangeArrowheads="1"/>
          </p:cNvSpPr>
          <p:nvPr/>
        </p:nvSpPr>
        <p:spPr bwMode="auto">
          <a:xfrm>
            <a:off x="6400800" y="6019800"/>
            <a:ext cx="2209800" cy="685800"/>
          </a:xfrm>
          <a:prstGeom prst="wedgeRoundRectCallout">
            <a:avLst>
              <a:gd name="adj1" fmla="val -20977"/>
              <a:gd name="adj2" fmla="val -107407"/>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vi-VN" sz="2000"/>
              <a:t>Chương trình trong PASCAL </a:t>
            </a:r>
          </a:p>
        </p:txBody>
      </p:sp>
      <p:sp>
        <p:nvSpPr>
          <p:cNvPr id="488462" name="Rectangle 14"/>
          <p:cNvSpPr>
            <a:spLocks noChangeArrowheads="1"/>
          </p:cNvSpPr>
          <p:nvPr/>
        </p:nvSpPr>
        <p:spPr bwMode="auto">
          <a:xfrm>
            <a:off x="1676400" y="3352800"/>
            <a:ext cx="3124200" cy="1431925"/>
          </a:xfrm>
          <a:prstGeom prst="rect">
            <a:avLst/>
          </a:prstGeom>
          <a:solidFill>
            <a:schemeClr val="accent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ltLang="vi-VN" sz="2400"/>
          </a:p>
          <a:p>
            <a:r>
              <a:rPr lang="en-US" altLang="vi-VN" sz="2400"/>
              <a:t>Điều chỉnh lại giá trị của m và n </a:t>
            </a:r>
            <a:endParaRPr lang="en-US" altLang="vi-VN" sz="1600"/>
          </a:p>
          <a:p>
            <a:endParaRPr lang="en-US" altLang="vi-VN" sz="1600">
              <a:cs typeface="Arial" panose="020B0604020202020204" pitchFamily="34" charset="0"/>
            </a:endParaRPr>
          </a:p>
        </p:txBody>
      </p:sp>
      <p:sp>
        <p:nvSpPr>
          <p:cNvPr id="488461" name="Rectangle 13"/>
          <p:cNvSpPr>
            <a:spLocks noChangeArrowheads="1"/>
          </p:cNvSpPr>
          <p:nvPr/>
        </p:nvSpPr>
        <p:spPr bwMode="auto">
          <a:xfrm>
            <a:off x="1600200" y="3048000"/>
            <a:ext cx="3505200" cy="1920875"/>
          </a:xfrm>
          <a:prstGeom prst="rect">
            <a:avLst/>
          </a:prstGeom>
          <a:solidFill>
            <a:schemeClr val="accent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vi-VN" sz="2000"/>
              <a:t>Nếu m &gt; n thì  </a:t>
            </a:r>
          </a:p>
          <a:p>
            <a:pPr algn="l"/>
            <a:r>
              <a:rPr lang="en-US" altLang="vi-VN" sz="2000"/>
              <a:t> </a:t>
            </a:r>
          </a:p>
          <a:p>
            <a:pPr algn="l"/>
            <a:endParaRPr lang="en-US" altLang="vi-VN" sz="2000"/>
          </a:p>
          <a:p>
            <a:pPr algn="l"/>
            <a:r>
              <a:rPr lang="en-US" altLang="vi-VN" sz="2000"/>
              <a:t>Nếu ngược lại thì  </a:t>
            </a:r>
          </a:p>
          <a:p>
            <a:pPr algn="l"/>
            <a:r>
              <a:rPr lang="en-US" altLang="vi-VN" sz="2000"/>
              <a:t> </a:t>
            </a:r>
          </a:p>
          <a:p>
            <a:pPr algn="l"/>
            <a:endParaRPr lang="en-US" altLang="vi-VN" sz="2000">
              <a:cs typeface="Arial" panose="020B0604020202020204" pitchFamily="34" charset="0"/>
            </a:endParaRPr>
          </a:p>
        </p:txBody>
      </p:sp>
      <p:sp>
        <p:nvSpPr>
          <p:cNvPr id="488459" name="Rectangle 11"/>
          <p:cNvSpPr>
            <a:spLocks noChangeArrowheads="1"/>
          </p:cNvSpPr>
          <p:nvPr/>
        </p:nvSpPr>
        <p:spPr bwMode="auto">
          <a:xfrm>
            <a:off x="2057400" y="3505200"/>
            <a:ext cx="2857500" cy="396875"/>
          </a:xfrm>
          <a:prstGeom prst="rect">
            <a:avLst/>
          </a:prstGeom>
          <a:solidFill>
            <a:schemeClr val="folHlink"/>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vi-VN" sz="2000"/>
              <a:t>Bớt m đi một lượng là n</a:t>
            </a:r>
          </a:p>
        </p:txBody>
      </p:sp>
      <p:sp>
        <p:nvSpPr>
          <p:cNvPr id="488460" name="Rectangle 12"/>
          <p:cNvSpPr>
            <a:spLocks noChangeArrowheads="1"/>
          </p:cNvSpPr>
          <p:nvPr/>
        </p:nvSpPr>
        <p:spPr bwMode="auto">
          <a:xfrm>
            <a:off x="2057400" y="4419600"/>
            <a:ext cx="2857500" cy="396875"/>
          </a:xfrm>
          <a:prstGeom prst="rect">
            <a:avLst/>
          </a:prstGeom>
          <a:solidFill>
            <a:schemeClr val="folHlink"/>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vi-VN" sz="2000"/>
              <a:t>Bớt n đi một lượng là m</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944141780"/>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8451">
                                            <p:bg/>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8451">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8451">
                                            <p:txEl>
                                              <p:pRg st="8" end="8"/>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488462"/>
                                        </p:tgtEl>
                                        <p:attrNameLst>
                                          <p:attrName>style.visibility</p:attrName>
                                        </p:attrNameLst>
                                      </p:cBhvr>
                                      <p:to>
                                        <p:strVal val="visible"/>
                                      </p:to>
                                    </p:set>
                                    <p:anim calcmode="lin" valueType="num">
                                      <p:cBhvr>
                                        <p:cTn id="19" dur="500" fill="hold"/>
                                        <p:tgtEl>
                                          <p:spTgt spid="488462"/>
                                        </p:tgtEl>
                                        <p:attrNameLst>
                                          <p:attrName>ppt_w</p:attrName>
                                        </p:attrNameLst>
                                      </p:cBhvr>
                                      <p:tavLst>
                                        <p:tav tm="0">
                                          <p:val>
                                            <p:fltVal val="0"/>
                                          </p:val>
                                        </p:tav>
                                        <p:tav tm="100000">
                                          <p:val>
                                            <p:strVal val="#ppt_w"/>
                                          </p:val>
                                        </p:tav>
                                      </p:tavLst>
                                    </p:anim>
                                    <p:anim calcmode="lin" valueType="num">
                                      <p:cBhvr>
                                        <p:cTn id="20" dur="500" fill="hold"/>
                                        <p:tgtEl>
                                          <p:spTgt spid="488462"/>
                                        </p:tgtEl>
                                        <p:attrNameLst>
                                          <p:attrName>ppt_h</p:attrName>
                                        </p:attrNameLst>
                                      </p:cBhvr>
                                      <p:tavLst>
                                        <p:tav tm="0">
                                          <p:val>
                                            <p:fltVal val="0"/>
                                          </p:val>
                                        </p:tav>
                                        <p:tav tm="100000">
                                          <p:val>
                                            <p:strVal val="#ppt_h"/>
                                          </p:val>
                                        </p:tav>
                                      </p:tavLst>
                                    </p:anim>
                                    <p:animEffect transition="in" filter="fade">
                                      <p:cBhvr>
                                        <p:cTn id="21" dur="500"/>
                                        <p:tgtEl>
                                          <p:spTgt spid="48846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3" presetClass="entr" presetSubtype="0" fill="hold" grpId="0" nodeType="clickEffect">
                                  <p:stCondLst>
                                    <p:cond delay="0"/>
                                  </p:stCondLst>
                                  <p:childTnLst>
                                    <p:set>
                                      <p:cBhvr>
                                        <p:cTn id="25" dur="1" fill="hold">
                                          <p:stCondLst>
                                            <p:cond delay="0"/>
                                          </p:stCondLst>
                                        </p:cTn>
                                        <p:tgtEl>
                                          <p:spTgt spid="488461"/>
                                        </p:tgtEl>
                                        <p:attrNameLst>
                                          <p:attrName>style.visibility</p:attrName>
                                        </p:attrNameLst>
                                      </p:cBhvr>
                                      <p:to>
                                        <p:strVal val="visible"/>
                                      </p:to>
                                    </p:set>
                                    <p:anim calcmode="lin" valueType="num">
                                      <p:cBhvr>
                                        <p:cTn id="26" dur="500" fill="hold"/>
                                        <p:tgtEl>
                                          <p:spTgt spid="488461"/>
                                        </p:tgtEl>
                                        <p:attrNameLst>
                                          <p:attrName>ppt_w</p:attrName>
                                        </p:attrNameLst>
                                      </p:cBhvr>
                                      <p:tavLst>
                                        <p:tav tm="0">
                                          <p:val>
                                            <p:fltVal val="0"/>
                                          </p:val>
                                        </p:tav>
                                        <p:tav tm="100000">
                                          <p:val>
                                            <p:strVal val="#ppt_w"/>
                                          </p:val>
                                        </p:tav>
                                      </p:tavLst>
                                    </p:anim>
                                    <p:anim calcmode="lin" valueType="num">
                                      <p:cBhvr>
                                        <p:cTn id="27" dur="500" fill="hold"/>
                                        <p:tgtEl>
                                          <p:spTgt spid="488461"/>
                                        </p:tgtEl>
                                        <p:attrNameLst>
                                          <p:attrName>ppt_h</p:attrName>
                                        </p:attrNameLst>
                                      </p:cBhvr>
                                      <p:tavLst>
                                        <p:tav tm="0">
                                          <p:val>
                                            <p:fltVal val="0"/>
                                          </p:val>
                                        </p:tav>
                                        <p:tav tm="100000">
                                          <p:val>
                                            <p:strVal val="#ppt_h"/>
                                          </p:val>
                                        </p:tav>
                                      </p:tavLst>
                                    </p:anim>
                                    <p:animEffect transition="in" filter="fade">
                                      <p:cBhvr>
                                        <p:cTn id="28" dur="500"/>
                                        <p:tgtEl>
                                          <p:spTgt spid="48846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488459"/>
                                        </p:tgtEl>
                                        <p:attrNameLst>
                                          <p:attrName>style.visibility</p:attrName>
                                        </p:attrNameLst>
                                      </p:cBhvr>
                                      <p:to>
                                        <p:strVal val="visible"/>
                                      </p:to>
                                    </p:set>
                                    <p:anim calcmode="lin" valueType="num">
                                      <p:cBhvr additive="base">
                                        <p:cTn id="33" dur="500" fill="hold"/>
                                        <p:tgtEl>
                                          <p:spTgt spid="488459"/>
                                        </p:tgtEl>
                                        <p:attrNameLst>
                                          <p:attrName>ppt_x</p:attrName>
                                        </p:attrNameLst>
                                      </p:cBhvr>
                                      <p:tavLst>
                                        <p:tav tm="0">
                                          <p:val>
                                            <p:strVal val="0-#ppt_w/2"/>
                                          </p:val>
                                        </p:tav>
                                        <p:tav tm="100000">
                                          <p:val>
                                            <p:strVal val="#ppt_x"/>
                                          </p:val>
                                        </p:tav>
                                      </p:tavLst>
                                    </p:anim>
                                    <p:anim calcmode="lin" valueType="num">
                                      <p:cBhvr additive="base">
                                        <p:cTn id="34" dur="500" fill="hold"/>
                                        <p:tgtEl>
                                          <p:spTgt spid="488459"/>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488460"/>
                                        </p:tgtEl>
                                        <p:attrNameLst>
                                          <p:attrName>style.visibility</p:attrName>
                                        </p:attrNameLst>
                                      </p:cBhvr>
                                      <p:to>
                                        <p:strVal val="visible"/>
                                      </p:to>
                                    </p:set>
                                    <p:anim calcmode="lin" valueType="num">
                                      <p:cBhvr additive="base">
                                        <p:cTn id="37" dur="500" fill="hold"/>
                                        <p:tgtEl>
                                          <p:spTgt spid="488460"/>
                                        </p:tgtEl>
                                        <p:attrNameLst>
                                          <p:attrName>ppt_x</p:attrName>
                                        </p:attrNameLst>
                                      </p:cBhvr>
                                      <p:tavLst>
                                        <p:tav tm="0">
                                          <p:val>
                                            <p:strVal val="0-#ppt_w/2"/>
                                          </p:val>
                                        </p:tav>
                                        <p:tav tm="100000">
                                          <p:val>
                                            <p:strVal val="#ppt_x"/>
                                          </p:val>
                                        </p:tav>
                                      </p:tavLst>
                                    </p:anim>
                                    <p:anim calcmode="lin" valueType="num">
                                      <p:cBhvr additive="base">
                                        <p:cTn id="38" dur="500" fill="hold"/>
                                        <p:tgtEl>
                                          <p:spTgt spid="488460"/>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488457"/>
                                        </p:tgtEl>
                                        <p:attrNameLst>
                                          <p:attrName>style.visibility</p:attrName>
                                        </p:attrNameLst>
                                      </p:cBhvr>
                                      <p:to>
                                        <p:strVal val="visible"/>
                                      </p:to>
                                    </p:set>
                                    <p:anim calcmode="lin" valueType="num">
                                      <p:cBhvr additive="base">
                                        <p:cTn id="43" dur="500" fill="hold"/>
                                        <p:tgtEl>
                                          <p:spTgt spid="488457"/>
                                        </p:tgtEl>
                                        <p:attrNameLst>
                                          <p:attrName>ppt_x</p:attrName>
                                        </p:attrNameLst>
                                      </p:cBhvr>
                                      <p:tavLst>
                                        <p:tav tm="0">
                                          <p:val>
                                            <p:strVal val="1+#ppt_w/2"/>
                                          </p:val>
                                        </p:tav>
                                        <p:tav tm="100000">
                                          <p:val>
                                            <p:strVal val="#ppt_x"/>
                                          </p:val>
                                        </p:tav>
                                      </p:tavLst>
                                    </p:anim>
                                    <p:anim calcmode="lin" valueType="num">
                                      <p:cBhvr additive="base">
                                        <p:cTn id="44" dur="500" fill="hold"/>
                                        <p:tgtEl>
                                          <p:spTgt spid="488457"/>
                                        </p:tgtEl>
                                        <p:attrNameLst>
                                          <p:attrName>ppt_y</p:attrName>
                                        </p:attrNameLst>
                                      </p:cBhvr>
                                      <p:tavLst>
                                        <p:tav tm="0">
                                          <p:val>
                                            <p:strVal val="#ppt_y"/>
                                          </p:val>
                                        </p:tav>
                                        <p:tav tm="100000">
                                          <p:val>
                                            <p:strVal val="#ppt_y"/>
                                          </p:val>
                                        </p:tav>
                                      </p:tavLst>
                                    </p:anim>
                                  </p:childTnLst>
                                </p:cTn>
                              </p:par>
                            </p:childTnLst>
                          </p:cTn>
                        </p:par>
                        <p:par>
                          <p:cTn id="45" fill="hold" nodeType="afterGroup">
                            <p:stCondLst>
                              <p:cond delay="500"/>
                            </p:stCondLst>
                            <p:childTnLst>
                              <p:par>
                                <p:cTn id="46" presetID="22" presetClass="entr" presetSubtype="4" fill="hold" grpId="0" nodeType="afterEffect">
                                  <p:stCondLst>
                                    <p:cond delay="0"/>
                                  </p:stCondLst>
                                  <p:childTnLst>
                                    <p:set>
                                      <p:cBhvr>
                                        <p:cTn id="47" dur="1" fill="hold">
                                          <p:stCondLst>
                                            <p:cond delay="0"/>
                                          </p:stCondLst>
                                        </p:cTn>
                                        <p:tgtEl>
                                          <p:spTgt spid="488458"/>
                                        </p:tgtEl>
                                        <p:attrNameLst>
                                          <p:attrName>style.visibility</p:attrName>
                                        </p:attrNameLst>
                                      </p:cBhvr>
                                      <p:to>
                                        <p:strVal val="visible"/>
                                      </p:to>
                                    </p:set>
                                    <p:animEffect transition="in" filter="wipe(down)">
                                      <p:cBhvr>
                                        <p:cTn id="48" dur="500"/>
                                        <p:tgtEl>
                                          <p:spTgt spid="488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1" grpId="0" build="p" animBg="1"/>
      <p:bldP spid="488457" grpId="0" animBg="1"/>
      <p:bldP spid="488458" grpId="0" animBg="1"/>
      <p:bldP spid="488462" grpId="0" animBg="1"/>
      <p:bldP spid="488461" grpId="0" animBg="1"/>
      <p:bldP spid="488459" grpId="0" animBg="1"/>
      <p:bldP spid="48846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AutoShape 2"/>
          <p:cNvSpPr>
            <a:spLocks noGrp="1" noChangeArrowheads="1"/>
          </p:cNvSpPr>
          <p:nvPr>
            <p:ph type="title"/>
          </p:nvPr>
        </p:nvSpPr>
        <p:spPr/>
        <p:txBody>
          <a:bodyPr/>
          <a:lstStyle/>
          <a:p>
            <a:r>
              <a:rPr lang="en-US" altLang="vi-VN" sz="2800"/>
              <a:t>TÍNH NGHIỆM XẤP XỈ VỚI ĐỘ CHÍNH XÁC </a:t>
            </a:r>
            <a:br>
              <a:rPr lang="en-US" altLang="vi-VN" sz="2800"/>
            </a:br>
            <a:r>
              <a:rPr lang="el-GR" altLang="vi-VN" sz="2800" b="0">
                <a:solidFill>
                  <a:schemeClr val="tx1"/>
                </a:solidFill>
              </a:rPr>
              <a:t>ε</a:t>
            </a:r>
            <a:r>
              <a:rPr lang="en-US" altLang="vi-VN" sz="2800" b="0">
                <a:solidFill>
                  <a:schemeClr val="tx1"/>
                </a:solidFill>
              </a:rPr>
              <a:t> =</a:t>
            </a:r>
            <a:r>
              <a:rPr lang="en-US" altLang="vi-VN" sz="2800"/>
              <a:t> 0.000001 CỦA PHƯƠNG TRÌNH f(x)= e</a:t>
            </a:r>
            <a:r>
              <a:rPr lang="en-US" altLang="vi-VN" sz="2800" baseline="30000"/>
              <a:t>x</a:t>
            </a:r>
            <a:r>
              <a:rPr lang="en-US" altLang="vi-VN" sz="2800"/>
              <a:t>- x</a:t>
            </a:r>
            <a:r>
              <a:rPr lang="en-US" altLang="vi-VN" sz="2800" baseline="30000"/>
              <a:t>3</a:t>
            </a:r>
            <a:r>
              <a:rPr lang="en-US" altLang="vi-VN" sz="2800"/>
              <a:t> = 0</a:t>
            </a:r>
          </a:p>
        </p:txBody>
      </p:sp>
      <p:sp>
        <p:nvSpPr>
          <p:cNvPr id="490499" name="Rectangle 3"/>
          <p:cNvSpPr>
            <a:spLocks noGrp="1" noChangeArrowheads="1"/>
          </p:cNvSpPr>
          <p:nvPr>
            <p:ph type="body" sz="half" idx="1"/>
          </p:nvPr>
        </p:nvSpPr>
        <p:spPr>
          <a:xfrm>
            <a:off x="1066800" y="2362200"/>
            <a:ext cx="3886200" cy="3886200"/>
          </a:xfrm>
          <a:solidFill>
            <a:srgbClr val="BEBDA8"/>
          </a:solidFill>
        </p:spPr>
        <p:txBody>
          <a:bodyPr/>
          <a:lstStyle/>
          <a:p>
            <a:pPr marL="0" indent="0">
              <a:lnSpc>
                <a:spcPct val="90000"/>
              </a:lnSpc>
              <a:buFont typeface="Wingdings" panose="05000000000000000000" pitchFamily="2" charset="2"/>
              <a:buNone/>
            </a:pPr>
            <a:r>
              <a:rPr lang="en-US" altLang="vi-VN" sz="2000"/>
              <a:t>S</a:t>
            </a:r>
            <a:r>
              <a:rPr lang="en-US" altLang="vi-VN" sz="2400"/>
              <a:t>ử dụng thuật toán chia đôi dựa vào tính chất: nếu một hàm f liên tục trên đoạn [a,b] có f(a) và f(b) thì phương trình f(x) = 0 nhất định thừa nhận một nghiệm c nằm giữa [a,b] </a:t>
            </a:r>
          </a:p>
          <a:p>
            <a:pPr marL="0" indent="0">
              <a:lnSpc>
                <a:spcPct val="90000"/>
              </a:lnSpc>
              <a:buFont typeface="Wingdings" panose="05000000000000000000" pitchFamily="2" charset="2"/>
              <a:buNone/>
            </a:pPr>
            <a:r>
              <a:rPr lang="en-US" altLang="vi-VN" sz="2400"/>
              <a:t>Phương trình có hai nghiệm như trong hình vẽ. Ta vây nghiệm nhỏ hơn trong đoạn [1,4]</a:t>
            </a:r>
          </a:p>
        </p:txBody>
      </p:sp>
      <p:pic>
        <p:nvPicPr>
          <p:cNvPr id="490502" name="Picture 6"/>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200650" y="2362200"/>
            <a:ext cx="3714750" cy="3886200"/>
          </a:xfrm>
          <a:prstGeom prst="rect">
            <a:avLst/>
          </a:prstGeom>
          <a:noFill/>
          <a:extLst>
            <a:ext uri="{909E8E84-426E-40DD-AFC4-6F175D3DCCD1}">
              <a14:hiddenFill xmlns:a14="http://schemas.microsoft.com/office/drawing/2010/main">
                <a:solidFill>
                  <a:srgbClr val="FFFFFF"/>
                </a:solidFill>
              </a14:hiddenFill>
            </a:ext>
          </a:extLst>
        </p:spPr>
      </p:pic>
      <p:sp>
        <p:nvSpPr>
          <p:cNvPr id="490503" name="Line 7"/>
          <p:cNvSpPr>
            <a:spLocks noChangeShapeType="1"/>
          </p:cNvSpPr>
          <p:nvPr/>
        </p:nvSpPr>
        <p:spPr bwMode="auto">
          <a:xfrm>
            <a:off x="6643688" y="3810000"/>
            <a:ext cx="0" cy="304800"/>
          </a:xfrm>
          <a:prstGeom prst="line">
            <a:avLst/>
          </a:prstGeom>
          <a:noFill/>
          <a:ln w="28575">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0504" name="Line 8"/>
          <p:cNvSpPr>
            <a:spLocks noChangeShapeType="1"/>
          </p:cNvSpPr>
          <p:nvPr/>
        </p:nvSpPr>
        <p:spPr bwMode="auto">
          <a:xfrm>
            <a:off x="8410575" y="4114800"/>
            <a:ext cx="0" cy="1828800"/>
          </a:xfrm>
          <a:prstGeom prst="line">
            <a:avLst/>
          </a:prstGeom>
          <a:noFill/>
          <a:ln w="28575">
            <a:solidFill>
              <a:srgbClr val="FFFF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459946873"/>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0503"/>
                                        </p:tgtEl>
                                        <p:attrNameLst>
                                          <p:attrName>style.visibility</p:attrName>
                                        </p:attrNameLst>
                                      </p:cBhvr>
                                      <p:to>
                                        <p:strVal val="visible"/>
                                      </p:to>
                                    </p:set>
                                    <p:anim calcmode="lin" valueType="num">
                                      <p:cBhvr additive="base">
                                        <p:cTn id="7" dur="500" fill="hold"/>
                                        <p:tgtEl>
                                          <p:spTgt spid="490503"/>
                                        </p:tgtEl>
                                        <p:attrNameLst>
                                          <p:attrName>ppt_x</p:attrName>
                                        </p:attrNameLst>
                                      </p:cBhvr>
                                      <p:tavLst>
                                        <p:tav tm="0">
                                          <p:val>
                                            <p:strVal val="#ppt_x"/>
                                          </p:val>
                                        </p:tav>
                                        <p:tav tm="100000">
                                          <p:val>
                                            <p:strVal val="#ppt_x"/>
                                          </p:val>
                                        </p:tav>
                                      </p:tavLst>
                                    </p:anim>
                                    <p:anim calcmode="lin" valueType="num">
                                      <p:cBhvr additive="base">
                                        <p:cTn id="8" dur="500" fill="hold"/>
                                        <p:tgtEl>
                                          <p:spTgt spid="490503"/>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490504"/>
                                        </p:tgtEl>
                                        <p:attrNameLst>
                                          <p:attrName>style.visibility</p:attrName>
                                        </p:attrNameLst>
                                      </p:cBhvr>
                                      <p:to>
                                        <p:strVal val="visible"/>
                                      </p:to>
                                    </p:set>
                                    <p:anim calcmode="lin" valueType="num">
                                      <p:cBhvr additive="base">
                                        <p:cTn id="12" dur="500" fill="hold"/>
                                        <p:tgtEl>
                                          <p:spTgt spid="490504"/>
                                        </p:tgtEl>
                                        <p:attrNameLst>
                                          <p:attrName>ppt_x</p:attrName>
                                        </p:attrNameLst>
                                      </p:cBhvr>
                                      <p:tavLst>
                                        <p:tav tm="0">
                                          <p:val>
                                            <p:strVal val="#ppt_x"/>
                                          </p:val>
                                        </p:tav>
                                        <p:tav tm="100000">
                                          <p:val>
                                            <p:strVal val="#ppt_x"/>
                                          </p:val>
                                        </p:tav>
                                      </p:tavLst>
                                    </p:anim>
                                    <p:anim calcmode="lin" valueType="num">
                                      <p:cBhvr additive="base">
                                        <p:cTn id="13" dur="500" fill="hold"/>
                                        <p:tgtEl>
                                          <p:spTgt spid="49050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503" grpId="0" animBg="1"/>
      <p:bldP spid="49050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AutoShape 2"/>
          <p:cNvSpPr>
            <a:spLocks noGrp="1" noChangeArrowheads="1"/>
          </p:cNvSpPr>
          <p:nvPr>
            <p:ph type="title"/>
          </p:nvPr>
        </p:nvSpPr>
        <p:spPr/>
        <p:txBody>
          <a:bodyPr/>
          <a:lstStyle/>
          <a:p>
            <a:r>
              <a:rPr lang="en-US" altLang="vi-VN" sz="2800"/>
              <a:t>TÍNH NGHIỆM XẤP XỈ VỚI ĐỘ CHÍNH XÁC </a:t>
            </a:r>
            <a:br>
              <a:rPr lang="en-US" altLang="vi-VN" sz="2800"/>
            </a:br>
            <a:r>
              <a:rPr lang="el-GR" altLang="vi-VN" sz="2800" b="0">
                <a:solidFill>
                  <a:schemeClr val="tx1"/>
                </a:solidFill>
              </a:rPr>
              <a:t>ε</a:t>
            </a:r>
            <a:r>
              <a:rPr lang="en-US" altLang="vi-VN" sz="2800" b="0">
                <a:solidFill>
                  <a:schemeClr val="tx1"/>
                </a:solidFill>
              </a:rPr>
              <a:t> =</a:t>
            </a:r>
            <a:r>
              <a:rPr lang="en-US" altLang="vi-VN" sz="2800"/>
              <a:t> 0.000001 CỦA PHƯƠNG TRÌNH f(x)= e</a:t>
            </a:r>
            <a:r>
              <a:rPr lang="en-US" altLang="vi-VN" sz="2800" baseline="30000"/>
              <a:t>x</a:t>
            </a:r>
            <a:r>
              <a:rPr lang="en-US" altLang="vi-VN" sz="2800"/>
              <a:t>- x</a:t>
            </a:r>
            <a:r>
              <a:rPr lang="en-US" altLang="vi-VN" sz="2800" baseline="30000"/>
              <a:t>3</a:t>
            </a:r>
            <a:r>
              <a:rPr lang="en-US" altLang="vi-VN" sz="2800"/>
              <a:t> = 0</a:t>
            </a:r>
          </a:p>
        </p:txBody>
      </p:sp>
      <p:pic>
        <p:nvPicPr>
          <p:cNvPr id="4915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133600"/>
            <a:ext cx="5162550" cy="4402138"/>
          </a:xfrm>
          <a:prstGeom prst="rect">
            <a:avLst/>
          </a:prstGeom>
          <a:noFill/>
          <a:extLst>
            <a:ext uri="{909E8E84-426E-40DD-AFC4-6F175D3DCCD1}">
              <a14:hiddenFill xmlns:a14="http://schemas.microsoft.com/office/drawing/2010/main">
                <a:solidFill>
                  <a:srgbClr val="FFFFFF"/>
                </a:solidFill>
              </a14:hiddenFill>
            </a:ext>
          </a:extLst>
        </p:spPr>
      </p:pic>
      <p:sp>
        <p:nvSpPr>
          <p:cNvPr id="491526" name="Text Box 6"/>
          <p:cNvSpPr txBox="1">
            <a:spLocks noChangeArrowheads="1"/>
          </p:cNvSpPr>
          <p:nvPr/>
        </p:nvSpPr>
        <p:spPr bwMode="auto">
          <a:xfrm>
            <a:off x="5562600" y="2057400"/>
            <a:ext cx="3581400" cy="46640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a:solidFill>
                  <a:schemeClr val="tx1"/>
                </a:solidFill>
                <a:latin typeface="Arial" panose="020B0604020202020204" pitchFamily="34" charset="0"/>
              </a:defRPr>
            </a:lvl1pPr>
            <a:lvl2pPr marL="800100" indent="-342900" algn="l">
              <a:defRPr>
                <a:solidFill>
                  <a:schemeClr val="tx1"/>
                </a:solidFill>
                <a:latin typeface="Arial" panose="020B0604020202020204" pitchFamily="34" charset="0"/>
              </a:defRPr>
            </a:lvl2pPr>
            <a:lvl3pPr marL="1257300" indent="-342900" algn="l">
              <a:defRPr>
                <a:solidFill>
                  <a:schemeClr val="tx1"/>
                </a:solidFill>
                <a:latin typeface="Arial" panose="020B0604020202020204" pitchFamily="34" charset="0"/>
              </a:defRPr>
            </a:lvl3pPr>
            <a:lvl4pPr marL="1714500" indent="-342900" algn="l">
              <a:defRPr>
                <a:solidFill>
                  <a:schemeClr val="tx1"/>
                </a:solidFill>
                <a:latin typeface="Arial" panose="020B0604020202020204" pitchFamily="34" charset="0"/>
              </a:defRPr>
            </a:lvl4pPr>
            <a:lvl5pPr marL="2171700" indent="-342900" algn="l">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r>
              <a:rPr lang="en-US" altLang="vi-VN" sz="2000"/>
              <a:t>Ta có f(a)&gt;0, f(b)&lt;0. Thuật toán chia đôi tiến hành vây nghiệm, mỗi bước vây, giảm khoảng vây đi 2 lần.</a:t>
            </a:r>
          </a:p>
          <a:p>
            <a:endParaRPr lang="en-US" altLang="vi-VN" sz="2000"/>
          </a:p>
          <a:p>
            <a:pPr>
              <a:buFontTx/>
              <a:buAutoNum type="arabicPeriod"/>
            </a:pPr>
            <a:r>
              <a:rPr lang="en-US" altLang="vi-VN" sz="2000"/>
              <a:t>Tính f(c) với c= (a+b)/2. Không xảy ra f(c) = 0. Tiếp bước 2</a:t>
            </a:r>
          </a:p>
          <a:p>
            <a:pPr>
              <a:buFontTx/>
              <a:buAutoNum type="arabicPeriod"/>
            </a:pPr>
            <a:r>
              <a:rPr lang="en-US" altLang="vi-VN" sz="2000"/>
              <a:t>Nếu f(c)&gt; 0 thay a bởi c, sau đó thực hiện bước 4</a:t>
            </a:r>
          </a:p>
          <a:p>
            <a:pPr>
              <a:buFontTx/>
              <a:buAutoNum type="arabicPeriod"/>
            </a:pPr>
            <a:r>
              <a:rPr lang="en-US" altLang="vi-VN" sz="2000"/>
              <a:t>Nếu f(c) &lt;0 thay b bởi c. Thực hiện bước tiếp theo</a:t>
            </a:r>
          </a:p>
          <a:p>
            <a:pPr>
              <a:buFontTx/>
              <a:buAutoNum type="arabicPeriod"/>
            </a:pPr>
            <a:r>
              <a:rPr lang="en-US" altLang="vi-VN" sz="2000"/>
              <a:t>Nếu b-a &gt; </a:t>
            </a:r>
            <a:r>
              <a:rPr lang="el-GR" altLang="vi-VN" sz="2000">
                <a:cs typeface="Arial" panose="020B0604020202020204" pitchFamily="34" charset="0"/>
              </a:rPr>
              <a:t>ε</a:t>
            </a:r>
            <a:r>
              <a:rPr lang="en-US" altLang="vi-VN" sz="2000">
                <a:cs typeface="Arial" panose="020B0604020202020204" pitchFamily="34" charset="0"/>
              </a:rPr>
              <a:t>, quay v</a:t>
            </a:r>
            <a:r>
              <a:rPr lang="en-US" altLang="vi-VN" sz="2000"/>
              <a:t>ề 1, nếu không làm tiếp</a:t>
            </a:r>
            <a:endParaRPr lang="en-US" altLang="vi-VN" sz="2000">
              <a:cs typeface="Arial" panose="020B0604020202020204" pitchFamily="34" charset="0"/>
            </a:endParaRPr>
          </a:p>
          <a:p>
            <a:pPr>
              <a:buFontTx/>
              <a:buAutoNum type="arabicPeriod"/>
            </a:pPr>
            <a:r>
              <a:rPr lang="en-US" altLang="vi-VN" sz="2000"/>
              <a:t>Dừng, lấy c làm nghiệm  </a:t>
            </a:r>
            <a:endParaRPr lang="el-GR" altLang="vi-VN" sz="2000"/>
          </a:p>
        </p:txBody>
      </p:sp>
      <p:grpSp>
        <p:nvGrpSpPr>
          <p:cNvPr id="491530" name="Group 10"/>
          <p:cNvGrpSpPr>
            <a:grpSpLocks/>
          </p:cNvGrpSpPr>
          <p:nvPr/>
        </p:nvGrpSpPr>
        <p:grpSpPr bwMode="auto">
          <a:xfrm>
            <a:off x="2112963" y="3733800"/>
            <a:ext cx="325437" cy="701675"/>
            <a:chOff x="960" y="2880"/>
            <a:chExt cx="205" cy="442"/>
          </a:xfrm>
        </p:grpSpPr>
        <p:sp>
          <p:nvSpPr>
            <p:cNvPr id="491527" name="Line 7"/>
            <p:cNvSpPr>
              <a:spLocks noChangeShapeType="1"/>
            </p:cNvSpPr>
            <p:nvPr/>
          </p:nvSpPr>
          <p:spPr bwMode="auto">
            <a:xfrm>
              <a:off x="1152" y="2880"/>
              <a:ext cx="0" cy="432"/>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1529" name="Text Box 9"/>
            <p:cNvSpPr txBox="1">
              <a:spLocks noChangeArrowheads="1"/>
            </p:cNvSpPr>
            <p:nvPr/>
          </p:nvSpPr>
          <p:spPr bwMode="auto">
            <a:xfrm>
              <a:off x="960" y="3072"/>
              <a:ext cx="205" cy="25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vi-VN" sz="2000">
                  <a:solidFill>
                    <a:srgbClr val="FFFF66"/>
                  </a:solidFill>
                </a:rPr>
                <a:t>a</a:t>
              </a:r>
            </a:p>
          </p:txBody>
        </p:sp>
      </p:grpSp>
      <p:grpSp>
        <p:nvGrpSpPr>
          <p:cNvPr id="491532" name="Group 12"/>
          <p:cNvGrpSpPr>
            <a:grpSpLocks/>
          </p:cNvGrpSpPr>
          <p:nvPr/>
        </p:nvGrpSpPr>
        <p:grpSpPr bwMode="auto">
          <a:xfrm>
            <a:off x="4800600" y="3733800"/>
            <a:ext cx="304800" cy="714375"/>
            <a:chOff x="1947" y="2496"/>
            <a:chExt cx="192" cy="450"/>
          </a:xfrm>
        </p:grpSpPr>
        <p:sp>
          <p:nvSpPr>
            <p:cNvPr id="491528" name="Line 8"/>
            <p:cNvSpPr>
              <a:spLocks noChangeShapeType="1"/>
            </p:cNvSpPr>
            <p:nvPr/>
          </p:nvSpPr>
          <p:spPr bwMode="auto">
            <a:xfrm>
              <a:off x="1968" y="2496"/>
              <a:ext cx="0" cy="432"/>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1531" name="Text Box 11"/>
            <p:cNvSpPr txBox="1">
              <a:spLocks noChangeArrowheads="1"/>
            </p:cNvSpPr>
            <p:nvPr/>
          </p:nvSpPr>
          <p:spPr bwMode="auto">
            <a:xfrm>
              <a:off x="1947" y="2658"/>
              <a:ext cx="192" cy="28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400">
                  <a:solidFill>
                    <a:srgbClr val="FFFF66"/>
                  </a:solidFill>
                </a:rPr>
                <a:t>b</a:t>
              </a:r>
            </a:p>
          </p:txBody>
        </p:sp>
      </p:grpSp>
      <p:grpSp>
        <p:nvGrpSpPr>
          <p:cNvPr id="491535" name="Group 15"/>
          <p:cNvGrpSpPr>
            <a:grpSpLocks/>
          </p:cNvGrpSpPr>
          <p:nvPr/>
        </p:nvGrpSpPr>
        <p:grpSpPr bwMode="auto">
          <a:xfrm>
            <a:off x="3476625" y="3133725"/>
            <a:ext cx="304800" cy="981075"/>
            <a:chOff x="2583" y="1974"/>
            <a:chExt cx="192" cy="618"/>
          </a:xfrm>
        </p:grpSpPr>
        <p:sp>
          <p:nvSpPr>
            <p:cNvPr id="491533" name="Line 13"/>
            <p:cNvSpPr>
              <a:spLocks noChangeShapeType="1"/>
            </p:cNvSpPr>
            <p:nvPr/>
          </p:nvSpPr>
          <p:spPr bwMode="auto">
            <a:xfrm>
              <a:off x="2688" y="2208"/>
              <a:ext cx="0" cy="384"/>
            </a:xfrm>
            <a:prstGeom prst="line">
              <a:avLst/>
            </a:prstGeom>
            <a:noFill/>
            <a:ln w="38100">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1534" name="Text Box 14"/>
            <p:cNvSpPr txBox="1">
              <a:spLocks noChangeArrowheads="1"/>
            </p:cNvSpPr>
            <p:nvPr/>
          </p:nvSpPr>
          <p:spPr bwMode="auto">
            <a:xfrm>
              <a:off x="2583" y="1974"/>
              <a:ext cx="192" cy="28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400">
                  <a:solidFill>
                    <a:srgbClr val="FFFF66"/>
                  </a:solidFill>
                </a:rPr>
                <a:t>c</a:t>
              </a:r>
            </a:p>
          </p:txBody>
        </p:sp>
      </p:grpSp>
      <p:sp>
        <p:nvSpPr>
          <p:cNvPr id="491536" name="AutoShape 16"/>
          <p:cNvSpPr>
            <a:spLocks noChangeArrowheads="1"/>
          </p:cNvSpPr>
          <p:nvPr/>
        </p:nvSpPr>
        <p:spPr bwMode="auto">
          <a:xfrm>
            <a:off x="3609975" y="4876800"/>
            <a:ext cx="76200" cy="762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DDDDDD"/>
          </a:solidFill>
          <a:ln w="9525" algn="ctr">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91537" name="AutoShape 17"/>
          <p:cNvSpPr>
            <a:spLocks noChangeArrowheads="1"/>
          </p:cNvSpPr>
          <p:nvPr/>
        </p:nvSpPr>
        <p:spPr bwMode="auto">
          <a:xfrm>
            <a:off x="2971800" y="3962400"/>
            <a:ext cx="76200" cy="762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DDDDDD"/>
          </a:solidFill>
          <a:ln w="9525" algn="ctr">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91538" name="AutoShape 18"/>
          <p:cNvSpPr>
            <a:spLocks noChangeArrowheads="1"/>
          </p:cNvSpPr>
          <p:nvPr/>
        </p:nvSpPr>
        <p:spPr bwMode="auto">
          <a:xfrm>
            <a:off x="3276600" y="4343400"/>
            <a:ext cx="76200" cy="762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DDDDDD"/>
          </a:solidFill>
          <a:ln w="9525" algn="ctr">
            <a:solidFill>
              <a:srgbClr val="CC33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645974274"/>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91535"/>
                                        </p:tgtEl>
                                        <p:attrNameLst>
                                          <p:attrName>style.visibility</p:attrName>
                                        </p:attrNameLst>
                                      </p:cBhvr>
                                      <p:to>
                                        <p:strVal val="visible"/>
                                      </p:to>
                                    </p:set>
                                    <p:animEffect transition="in" filter="wipe(up)">
                                      <p:cBhvr>
                                        <p:cTn id="7" dur="500"/>
                                        <p:tgtEl>
                                          <p:spTgt spid="4915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9153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35" presetClass="path" presetSubtype="0" accel="50000" decel="50000" fill="hold" nodeType="clickEffect">
                                  <p:stCondLst>
                                    <p:cond delay="0"/>
                                  </p:stCondLst>
                                  <p:childTnLst>
                                    <p:animMotion origin="layout" path="M -0.00555 0.00347 L -0.13055 0.00347 " pathEditMode="relative" rAng="0" ptsTypes="AA">
                                      <p:cBhvr>
                                        <p:cTn id="15" dur="2000" fill="hold"/>
                                        <p:tgtEl>
                                          <p:spTgt spid="491532"/>
                                        </p:tgtEl>
                                        <p:attrNameLst>
                                          <p:attrName>ppt_x</p:attrName>
                                          <p:attrName>ppt_y</p:attrName>
                                        </p:attrNameLst>
                                      </p:cBhvr>
                                      <p:rCtr x="-6250" y="0"/>
                                    </p:animMotion>
                                  </p:childTnLst>
                                </p:cTn>
                              </p:par>
                            </p:childTnLst>
                          </p:cTn>
                        </p:par>
                      </p:childTnLst>
                    </p:cTn>
                  </p:par>
                  <p:par>
                    <p:cTn id="16" fill="hold" nodeType="clickPar">
                      <p:stCondLst>
                        <p:cond delay="indefinite"/>
                      </p:stCondLst>
                      <p:childTnLst>
                        <p:par>
                          <p:cTn id="17" fill="hold" nodeType="withGroup">
                            <p:stCondLst>
                              <p:cond delay="0"/>
                            </p:stCondLst>
                            <p:childTnLst>
                              <p:par>
                                <p:cTn id="18" presetID="35" presetClass="path" presetSubtype="0" accel="50000" decel="50000" fill="hold" nodeType="clickEffect">
                                  <p:stCondLst>
                                    <p:cond delay="0"/>
                                  </p:stCondLst>
                                  <p:childTnLst>
                                    <p:animMotion origin="layout" path="M -0.00312 -0.00347 L -0.06979 -0.00347 " pathEditMode="relative" rAng="0" ptsTypes="AA">
                                      <p:cBhvr>
                                        <p:cTn id="19" dur="2000" fill="hold"/>
                                        <p:tgtEl>
                                          <p:spTgt spid="491535"/>
                                        </p:tgtEl>
                                        <p:attrNameLst>
                                          <p:attrName>ppt_x</p:attrName>
                                          <p:attrName>ppt_y</p:attrName>
                                        </p:attrNameLst>
                                      </p:cBhvr>
                                      <p:rCtr x="-3333" y="0"/>
                                    </p:animMotion>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91537"/>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63" presetClass="path" presetSubtype="0" accel="50000" decel="50000" fill="hold" nodeType="clickEffect">
                                  <p:stCondLst>
                                    <p:cond delay="0"/>
                                  </p:stCondLst>
                                  <p:childTnLst>
                                    <p:animMotion origin="layout" path="M 0.00643 0.00301 L 0.06476 0.00301 " pathEditMode="relative" rAng="0" ptsTypes="AA">
                                      <p:cBhvr>
                                        <p:cTn id="27" dur="2000" fill="hold"/>
                                        <p:tgtEl>
                                          <p:spTgt spid="491530"/>
                                        </p:tgtEl>
                                        <p:attrNameLst>
                                          <p:attrName>ppt_x</p:attrName>
                                          <p:attrName>ppt_y</p:attrName>
                                        </p:attrNameLst>
                                      </p:cBhvr>
                                      <p:rCtr x="2917" y="0"/>
                                    </p:animMotion>
                                  </p:childTnLst>
                                </p:cTn>
                              </p:par>
                            </p:childTnLst>
                          </p:cTn>
                        </p:par>
                      </p:childTnLst>
                    </p:cTn>
                  </p:par>
                  <p:par>
                    <p:cTn id="28" fill="hold" nodeType="clickPar">
                      <p:stCondLst>
                        <p:cond delay="indefinite"/>
                      </p:stCondLst>
                      <p:childTnLst>
                        <p:par>
                          <p:cTn id="29" fill="hold" nodeType="withGroup">
                            <p:stCondLst>
                              <p:cond delay="0"/>
                            </p:stCondLst>
                            <p:childTnLst>
                              <p:par>
                                <p:cTn id="30" presetID="35" presetClass="path" presetSubtype="0" accel="50000" decel="50000" fill="hold" nodeType="clickEffect">
                                  <p:stCondLst>
                                    <p:cond delay="0"/>
                                  </p:stCondLst>
                                  <p:childTnLst>
                                    <p:animMotion origin="layout" path="M -0.06979 -0.00347 L -0.03577 -0.00347 " pathEditMode="relative" rAng="0" ptsTypes="AA">
                                      <p:cBhvr>
                                        <p:cTn id="31" dur="2000" fill="hold"/>
                                        <p:tgtEl>
                                          <p:spTgt spid="491535"/>
                                        </p:tgtEl>
                                        <p:attrNameLst>
                                          <p:attrName>ppt_x</p:attrName>
                                          <p:attrName>ppt_y</p:attrName>
                                        </p:attrNameLst>
                                      </p:cBhvr>
                                      <p:rCtr x="1701" y="0"/>
                                    </p:animMotion>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91538"/>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35" presetClass="path" presetSubtype="0" accel="50000" decel="50000" fill="hold" nodeType="clickEffect">
                                  <p:stCondLst>
                                    <p:cond delay="0"/>
                                  </p:stCondLst>
                                  <p:childTnLst>
                                    <p:animMotion origin="layout" path="M -0.13125 0.00347 L -0.16666 0.00347 " pathEditMode="relative" rAng="0" ptsTypes="AA">
                                      <p:cBhvr>
                                        <p:cTn id="39" dur="2000" fill="hold"/>
                                        <p:tgtEl>
                                          <p:spTgt spid="491532"/>
                                        </p:tgtEl>
                                        <p:attrNameLst>
                                          <p:attrName>ppt_x</p:attrName>
                                          <p:attrName>ppt_y</p:attrName>
                                        </p:attrNameLst>
                                      </p:cBhvr>
                                      <p:rCtr x="-1771" y="0"/>
                                    </p:animMotion>
                                  </p:childTnLst>
                                </p:cTn>
                              </p:par>
                            </p:childTnLst>
                          </p:cTn>
                        </p:par>
                        <p:par>
                          <p:cTn id="40" fill="hold" nodeType="afterGroup">
                            <p:stCondLst>
                              <p:cond delay="2000"/>
                            </p:stCondLst>
                            <p:childTnLst>
                              <p:par>
                                <p:cTn id="41" presetID="1" presetClass="exit" presetSubtype="0" fill="hold" nodeType="afterEffect">
                                  <p:stCondLst>
                                    <p:cond delay="0"/>
                                  </p:stCondLst>
                                  <p:childTnLst>
                                    <p:set>
                                      <p:cBhvr>
                                        <p:cTn id="42" dur="1" fill="hold">
                                          <p:stCondLst>
                                            <p:cond delay="0"/>
                                          </p:stCondLst>
                                        </p:cTn>
                                        <p:tgtEl>
                                          <p:spTgt spid="4915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36" grpId="0" animBg="1"/>
      <p:bldP spid="491537" grpId="0" animBg="1"/>
      <p:bldP spid="49153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AutoShape 2"/>
          <p:cNvSpPr>
            <a:spLocks noGrp="1" noChangeArrowheads="1"/>
          </p:cNvSpPr>
          <p:nvPr>
            <p:ph type="title"/>
          </p:nvPr>
        </p:nvSpPr>
        <p:spPr>
          <a:xfrm>
            <a:off x="762000" y="762000"/>
            <a:ext cx="6172200" cy="838200"/>
          </a:xfrm>
        </p:spPr>
        <p:txBody>
          <a:bodyPr/>
          <a:lstStyle/>
          <a:p>
            <a:r>
              <a:rPr lang="en-US" altLang="vi-VN" sz="3200"/>
              <a:t> </a:t>
            </a:r>
            <a:endParaRPr lang="en-US" altLang="vi-VN"/>
          </a:p>
        </p:txBody>
      </p:sp>
      <p:sp>
        <p:nvSpPr>
          <p:cNvPr id="492547" name="Text Box 3"/>
          <p:cNvSpPr txBox="1">
            <a:spLocks noChangeArrowheads="1"/>
          </p:cNvSpPr>
          <p:nvPr/>
        </p:nvSpPr>
        <p:spPr bwMode="auto">
          <a:xfrm>
            <a:off x="3762375" y="3638550"/>
            <a:ext cx="1600200" cy="406400"/>
          </a:xfrm>
          <a:prstGeom prst="rect">
            <a:avLst/>
          </a:prstGeom>
          <a:solidFill>
            <a:srgbClr val="DDDDDD"/>
          </a:solidFill>
          <a:ln w="9525"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c:= (a+b)/2</a:t>
            </a:r>
          </a:p>
        </p:txBody>
      </p:sp>
      <p:sp>
        <p:nvSpPr>
          <p:cNvPr id="492548" name="Line 4"/>
          <p:cNvSpPr>
            <a:spLocks noChangeShapeType="1"/>
          </p:cNvSpPr>
          <p:nvPr/>
        </p:nvSpPr>
        <p:spPr bwMode="auto">
          <a:xfrm>
            <a:off x="4572000" y="4048125"/>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grpSp>
        <p:nvGrpSpPr>
          <p:cNvPr id="492549" name="Group 5"/>
          <p:cNvGrpSpPr>
            <a:grpSpLocks/>
          </p:cNvGrpSpPr>
          <p:nvPr/>
        </p:nvGrpSpPr>
        <p:grpSpPr bwMode="auto">
          <a:xfrm>
            <a:off x="4343400" y="1981200"/>
            <a:ext cx="457200" cy="457200"/>
            <a:chOff x="1392" y="3024"/>
            <a:chExt cx="288" cy="288"/>
          </a:xfrm>
        </p:grpSpPr>
        <p:sp>
          <p:nvSpPr>
            <p:cNvPr id="492550" name="Oval 6"/>
            <p:cNvSpPr>
              <a:spLocks noChangeArrowheads="1"/>
            </p:cNvSpPr>
            <p:nvPr/>
          </p:nvSpPr>
          <p:spPr bwMode="auto">
            <a:xfrm>
              <a:off x="1392" y="3024"/>
              <a:ext cx="288" cy="288"/>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92551" name="Oval 7"/>
            <p:cNvSpPr>
              <a:spLocks noChangeArrowheads="1"/>
            </p:cNvSpPr>
            <p:nvPr/>
          </p:nvSpPr>
          <p:spPr bwMode="auto">
            <a:xfrm>
              <a:off x="1488" y="3120"/>
              <a:ext cx="96" cy="96"/>
            </a:xfrm>
            <a:prstGeom prst="ellipse">
              <a:avLst/>
            </a:prstGeom>
            <a:solidFill>
              <a:srgbClr val="000000"/>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grpSp>
      <p:grpSp>
        <p:nvGrpSpPr>
          <p:cNvPr id="492552" name="Group 8"/>
          <p:cNvGrpSpPr>
            <a:grpSpLocks/>
          </p:cNvGrpSpPr>
          <p:nvPr/>
        </p:nvGrpSpPr>
        <p:grpSpPr bwMode="auto">
          <a:xfrm>
            <a:off x="7239000" y="5943600"/>
            <a:ext cx="457200" cy="457200"/>
            <a:chOff x="2112" y="3072"/>
            <a:chExt cx="288" cy="288"/>
          </a:xfrm>
        </p:grpSpPr>
        <p:sp>
          <p:nvSpPr>
            <p:cNvPr id="492553" name="Oval 9"/>
            <p:cNvSpPr>
              <a:spLocks noChangeArrowheads="1"/>
            </p:cNvSpPr>
            <p:nvPr/>
          </p:nvSpPr>
          <p:spPr bwMode="auto">
            <a:xfrm>
              <a:off x="2112" y="3072"/>
              <a:ext cx="288" cy="288"/>
            </a:xfrm>
            <a:prstGeom prst="ellipse">
              <a:avLst/>
            </a:prstGeom>
            <a:solidFill>
              <a:srgbClr val="000000"/>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sp>
          <p:nvSpPr>
            <p:cNvPr id="492554" name="Oval 10"/>
            <p:cNvSpPr>
              <a:spLocks noChangeArrowheads="1"/>
            </p:cNvSpPr>
            <p:nvPr/>
          </p:nvSpPr>
          <p:spPr bwMode="auto">
            <a:xfrm>
              <a:off x="2208" y="3168"/>
              <a:ext cx="96" cy="96"/>
            </a:xfrm>
            <a:prstGeom prst="ellipse">
              <a:avLst/>
            </a:prstGeom>
            <a:solidFill>
              <a:schemeClr val="bg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vi-VN"/>
            </a:p>
          </p:txBody>
        </p:sp>
      </p:grpSp>
      <p:sp>
        <p:nvSpPr>
          <p:cNvPr id="492556" name="AutoShape 12"/>
          <p:cNvSpPr>
            <a:spLocks noChangeArrowheads="1"/>
          </p:cNvSpPr>
          <p:nvPr/>
        </p:nvSpPr>
        <p:spPr bwMode="auto">
          <a:xfrm>
            <a:off x="3721100" y="5943600"/>
            <a:ext cx="1701800" cy="460375"/>
          </a:xfrm>
          <a:prstGeom prst="diamond">
            <a:avLst/>
          </a:prstGeom>
          <a:solidFill>
            <a:srgbClr val="DDDDDD"/>
          </a:solidFill>
          <a:ln w="1905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vi-VN" sz="2000"/>
              <a:t>b-a &lt;</a:t>
            </a:r>
            <a:r>
              <a:rPr lang="en-US" altLang="vi-VN" sz="1400"/>
              <a:t> </a:t>
            </a:r>
            <a:r>
              <a:rPr lang="el-GR" altLang="vi-VN" sz="2000"/>
              <a:t>ε</a:t>
            </a:r>
            <a:r>
              <a:rPr lang="en-US" altLang="vi-VN" sz="2000"/>
              <a:t> </a:t>
            </a:r>
          </a:p>
        </p:txBody>
      </p:sp>
      <p:sp>
        <p:nvSpPr>
          <p:cNvPr id="492559" name="Text Box 15"/>
          <p:cNvSpPr txBox="1">
            <a:spLocks noChangeArrowheads="1"/>
          </p:cNvSpPr>
          <p:nvPr/>
        </p:nvSpPr>
        <p:spPr bwMode="auto">
          <a:xfrm>
            <a:off x="3352800" y="6172200"/>
            <a:ext cx="365125" cy="4572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400"/>
              <a:t>-</a:t>
            </a:r>
          </a:p>
        </p:txBody>
      </p:sp>
      <p:sp>
        <p:nvSpPr>
          <p:cNvPr id="492560" name="Text Box 16"/>
          <p:cNvSpPr txBox="1">
            <a:spLocks noChangeArrowheads="1"/>
          </p:cNvSpPr>
          <p:nvPr/>
        </p:nvSpPr>
        <p:spPr bwMode="auto">
          <a:xfrm>
            <a:off x="5257800" y="6172200"/>
            <a:ext cx="365125" cy="4572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400"/>
              <a:t>+</a:t>
            </a:r>
          </a:p>
        </p:txBody>
      </p:sp>
      <p:sp>
        <p:nvSpPr>
          <p:cNvPr id="492561" name="Line 17"/>
          <p:cNvSpPr>
            <a:spLocks noChangeShapeType="1"/>
          </p:cNvSpPr>
          <p:nvPr/>
        </p:nvSpPr>
        <p:spPr bwMode="auto">
          <a:xfrm>
            <a:off x="2286000" y="3429000"/>
            <a:ext cx="22098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2563" name="AutoShape 19"/>
          <p:cNvSpPr>
            <a:spLocks noChangeArrowheads="1"/>
          </p:cNvSpPr>
          <p:nvPr/>
        </p:nvSpPr>
        <p:spPr bwMode="auto">
          <a:xfrm>
            <a:off x="5791200" y="5943600"/>
            <a:ext cx="1066800" cy="457200"/>
          </a:xfrm>
          <a:prstGeom prst="flowChartDocument">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vi-VN" sz="2400"/>
              <a:t> c</a:t>
            </a:r>
          </a:p>
        </p:txBody>
      </p:sp>
      <p:sp>
        <p:nvSpPr>
          <p:cNvPr id="492568" name="Line 24"/>
          <p:cNvSpPr>
            <a:spLocks noChangeShapeType="1"/>
          </p:cNvSpPr>
          <p:nvPr/>
        </p:nvSpPr>
        <p:spPr bwMode="auto">
          <a:xfrm>
            <a:off x="4572000" y="5724525"/>
            <a:ext cx="0" cy="2286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2570" name="AutoShape 26"/>
          <p:cNvSpPr>
            <a:spLocks noChangeArrowheads="1"/>
          </p:cNvSpPr>
          <p:nvPr/>
        </p:nvSpPr>
        <p:spPr bwMode="auto">
          <a:xfrm>
            <a:off x="3721100" y="4343400"/>
            <a:ext cx="1701800" cy="457200"/>
          </a:xfrm>
          <a:prstGeom prst="diamond">
            <a:avLst/>
          </a:prstGeom>
          <a:solidFill>
            <a:srgbClr val="DDDDDD"/>
          </a:solidFill>
          <a:ln w="19050"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vi-VN" sz="2000"/>
              <a:t>f(c) &gt;0 ?</a:t>
            </a:r>
          </a:p>
        </p:txBody>
      </p:sp>
      <p:sp>
        <p:nvSpPr>
          <p:cNvPr id="492571" name="Freeform 27"/>
          <p:cNvSpPr>
            <a:spLocks/>
          </p:cNvSpPr>
          <p:nvPr/>
        </p:nvSpPr>
        <p:spPr bwMode="auto">
          <a:xfrm>
            <a:off x="3352800" y="4568825"/>
            <a:ext cx="368300" cy="415925"/>
          </a:xfrm>
          <a:custGeom>
            <a:avLst/>
            <a:gdLst>
              <a:gd name="T0" fmla="*/ 384 w 384"/>
              <a:gd name="T1" fmla="*/ 0 h 480"/>
              <a:gd name="T2" fmla="*/ 0 w 384"/>
              <a:gd name="T3" fmla="*/ 0 h 480"/>
              <a:gd name="T4" fmla="*/ 0 w 384"/>
              <a:gd name="T5" fmla="*/ 480 h 480"/>
            </a:gdLst>
            <a:ahLst/>
            <a:cxnLst>
              <a:cxn ang="0">
                <a:pos x="T0" y="T1"/>
              </a:cxn>
              <a:cxn ang="0">
                <a:pos x="T2" y="T3"/>
              </a:cxn>
              <a:cxn ang="0">
                <a:pos x="T4" y="T5"/>
              </a:cxn>
            </a:cxnLst>
            <a:rect l="0" t="0" r="r" b="b"/>
            <a:pathLst>
              <a:path w="384" h="480">
                <a:moveTo>
                  <a:pt x="384" y="0"/>
                </a:moveTo>
                <a:lnTo>
                  <a:pt x="0" y="0"/>
                </a:lnTo>
                <a:lnTo>
                  <a:pt x="0" y="48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2572" name="Freeform 28"/>
          <p:cNvSpPr>
            <a:spLocks/>
          </p:cNvSpPr>
          <p:nvPr/>
        </p:nvSpPr>
        <p:spPr bwMode="auto">
          <a:xfrm flipH="1">
            <a:off x="5422900" y="4568825"/>
            <a:ext cx="368300" cy="415925"/>
          </a:xfrm>
          <a:custGeom>
            <a:avLst/>
            <a:gdLst>
              <a:gd name="T0" fmla="*/ 384 w 384"/>
              <a:gd name="T1" fmla="*/ 0 h 480"/>
              <a:gd name="T2" fmla="*/ 0 w 384"/>
              <a:gd name="T3" fmla="*/ 0 h 480"/>
              <a:gd name="T4" fmla="*/ 0 w 384"/>
              <a:gd name="T5" fmla="*/ 480 h 480"/>
            </a:gdLst>
            <a:ahLst/>
            <a:cxnLst>
              <a:cxn ang="0">
                <a:pos x="T0" y="T1"/>
              </a:cxn>
              <a:cxn ang="0">
                <a:pos x="T2" y="T3"/>
              </a:cxn>
              <a:cxn ang="0">
                <a:pos x="T4" y="T5"/>
              </a:cxn>
            </a:cxnLst>
            <a:rect l="0" t="0" r="r" b="b"/>
            <a:pathLst>
              <a:path w="384" h="480">
                <a:moveTo>
                  <a:pt x="384" y="0"/>
                </a:moveTo>
                <a:lnTo>
                  <a:pt x="0" y="0"/>
                </a:lnTo>
                <a:lnTo>
                  <a:pt x="0" y="480"/>
                </a:lnTo>
              </a:path>
            </a:pathLst>
          </a:custGeom>
          <a:noFill/>
          <a:ln w="190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DDDDDD"/>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2573" name="Text Box 29"/>
          <p:cNvSpPr txBox="1">
            <a:spLocks noChangeArrowheads="1"/>
          </p:cNvSpPr>
          <p:nvPr/>
        </p:nvSpPr>
        <p:spPr bwMode="auto">
          <a:xfrm>
            <a:off x="3352800" y="4572000"/>
            <a:ext cx="366713" cy="39687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000"/>
              <a:t>+</a:t>
            </a:r>
          </a:p>
        </p:txBody>
      </p:sp>
      <p:sp>
        <p:nvSpPr>
          <p:cNvPr id="492574" name="Text Box 30"/>
          <p:cNvSpPr txBox="1">
            <a:spLocks noChangeArrowheads="1"/>
          </p:cNvSpPr>
          <p:nvPr/>
        </p:nvSpPr>
        <p:spPr bwMode="auto">
          <a:xfrm>
            <a:off x="5348288" y="4495800"/>
            <a:ext cx="366712" cy="51911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en-US" altLang="vi-VN" sz="2800"/>
              <a:t>-</a:t>
            </a:r>
          </a:p>
        </p:txBody>
      </p:sp>
      <p:sp>
        <p:nvSpPr>
          <p:cNvPr id="492575" name="Text Box 31"/>
          <p:cNvSpPr txBox="1">
            <a:spLocks noChangeArrowheads="1"/>
          </p:cNvSpPr>
          <p:nvPr/>
        </p:nvSpPr>
        <p:spPr bwMode="auto">
          <a:xfrm>
            <a:off x="2743200" y="5029200"/>
            <a:ext cx="1219200" cy="406400"/>
          </a:xfrm>
          <a:prstGeom prst="rect">
            <a:avLst/>
          </a:prstGeom>
          <a:solidFill>
            <a:srgbClr val="DDDDDD"/>
          </a:solidFill>
          <a:ln w="9525"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 a:= c</a:t>
            </a:r>
          </a:p>
        </p:txBody>
      </p:sp>
      <p:sp>
        <p:nvSpPr>
          <p:cNvPr id="492576" name="Text Box 32"/>
          <p:cNvSpPr txBox="1">
            <a:spLocks noChangeArrowheads="1"/>
          </p:cNvSpPr>
          <p:nvPr/>
        </p:nvSpPr>
        <p:spPr bwMode="auto">
          <a:xfrm>
            <a:off x="3733800" y="2667000"/>
            <a:ext cx="3352800" cy="588963"/>
          </a:xfrm>
          <a:prstGeom prst="rect">
            <a:avLst/>
          </a:prstGeom>
          <a:solidFill>
            <a:srgbClr val="DDDDDD"/>
          </a:solidFill>
          <a:ln w="9525"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a:= 1; b:= 4; </a:t>
            </a:r>
            <a:r>
              <a:rPr lang="el-GR" altLang="vi-VN" sz="2400"/>
              <a:t>ε</a:t>
            </a:r>
            <a:r>
              <a:rPr lang="en-US" altLang="vi-VN"/>
              <a:t> </a:t>
            </a:r>
            <a:r>
              <a:rPr lang="en-US" altLang="vi-VN" sz="2000"/>
              <a:t>= 0.00001</a:t>
            </a:r>
          </a:p>
        </p:txBody>
      </p:sp>
      <p:sp>
        <p:nvSpPr>
          <p:cNvPr id="492577" name="Line 33"/>
          <p:cNvSpPr>
            <a:spLocks noChangeShapeType="1"/>
          </p:cNvSpPr>
          <p:nvPr/>
        </p:nvSpPr>
        <p:spPr bwMode="auto">
          <a:xfrm>
            <a:off x="3352800" y="5715000"/>
            <a:ext cx="245268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2580" name="Line 36"/>
          <p:cNvSpPr>
            <a:spLocks noChangeShapeType="1"/>
          </p:cNvSpPr>
          <p:nvPr/>
        </p:nvSpPr>
        <p:spPr bwMode="auto">
          <a:xfrm flipV="1">
            <a:off x="2286000" y="3429000"/>
            <a:ext cx="0" cy="2743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2581" name="Rectangle 37"/>
          <p:cNvSpPr>
            <a:spLocks noChangeArrowheads="1"/>
          </p:cNvSpPr>
          <p:nvPr/>
        </p:nvSpPr>
        <p:spPr bwMode="auto">
          <a:xfrm>
            <a:off x="762000" y="762000"/>
            <a:ext cx="7381875" cy="82232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vi-VN" sz="2400" b="1">
                <a:solidFill>
                  <a:schemeClr val="tx2"/>
                </a:solidFill>
              </a:rPr>
              <a:t>TÍNH NGHIỆM XẤP XỈ VỚI ĐỘ CHÍNH XÁC </a:t>
            </a:r>
            <a:br>
              <a:rPr lang="en-US" altLang="vi-VN" sz="2400" b="1">
                <a:solidFill>
                  <a:schemeClr val="tx2"/>
                </a:solidFill>
              </a:rPr>
            </a:br>
            <a:r>
              <a:rPr lang="el-GR" altLang="vi-VN" sz="2400"/>
              <a:t>ε</a:t>
            </a:r>
            <a:r>
              <a:rPr lang="en-US" altLang="vi-VN" sz="2400"/>
              <a:t> =</a:t>
            </a:r>
            <a:r>
              <a:rPr lang="en-US" altLang="vi-VN" sz="2400" b="1">
                <a:solidFill>
                  <a:schemeClr val="tx2"/>
                </a:solidFill>
              </a:rPr>
              <a:t> 0.000001 CỦA PHƯƠNG TRÌNH f(x)= ex- x3 = 0</a:t>
            </a:r>
          </a:p>
        </p:txBody>
      </p:sp>
      <p:sp>
        <p:nvSpPr>
          <p:cNvPr id="492582" name="Text Box 38"/>
          <p:cNvSpPr txBox="1">
            <a:spLocks noChangeArrowheads="1"/>
          </p:cNvSpPr>
          <p:nvPr/>
        </p:nvSpPr>
        <p:spPr bwMode="auto">
          <a:xfrm>
            <a:off x="5181600" y="5029200"/>
            <a:ext cx="1219200" cy="406400"/>
          </a:xfrm>
          <a:prstGeom prst="rect">
            <a:avLst/>
          </a:prstGeom>
          <a:solidFill>
            <a:srgbClr val="DDDDDD"/>
          </a:solidFill>
          <a:ln w="9525" algn="ctr">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vi-VN" sz="2000"/>
              <a:t> b:= c</a:t>
            </a:r>
          </a:p>
        </p:txBody>
      </p:sp>
      <p:sp>
        <p:nvSpPr>
          <p:cNvPr id="492583" name="Line 39"/>
          <p:cNvSpPr>
            <a:spLocks noChangeShapeType="1"/>
          </p:cNvSpPr>
          <p:nvPr/>
        </p:nvSpPr>
        <p:spPr bwMode="auto">
          <a:xfrm>
            <a:off x="2286000" y="6186488"/>
            <a:ext cx="144780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2584" name="Line 40"/>
          <p:cNvSpPr>
            <a:spLocks noChangeShapeType="1"/>
          </p:cNvSpPr>
          <p:nvPr/>
        </p:nvSpPr>
        <p:spPr bwMode="auto">
          <a:xfrm>
            <a:off x="4567238" y="2362200"/>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2585" name="Line 41"/>
          <p:cNvSpPr>
            <a:spLocks noChangeShapeType="1"/>
          </p:cNvSpPr>
          <p:nvPr/>
        </p:nvSpPr>
        <p:spPr bwMode="auto">
          <a:xfrm>
            <a:off x="4557713" y="3305175"/>
            <a:ext cx="0" cy="3048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2586" name="Line 42"/>
          <p:cNvSpPr>
            <a:spLocks noChangeShapeType="1"/>
          </p:cNvSpPr>
          <p:nvPr/>
        </p:nvSpPr>
        <p:spPr bwMode="auto">
          <a:xfrm>
            <a:off x="3352800" y="5410200"/>
            <a:ext cx="0" cy="304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2587" name="Line 43"/>
          <p:cNvSpPr>
            <a:spLocks noChangeShapeType="1"/>
          </p:cNvSpPr>
          <p:nvPr/>
        </p:nvSpPr>
        <p:spPr bwMode="auto">
          <a:xfrm>
            <a:off x="5791200" y="5410200"/>
            <a:ext cx="0" cy="304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2588" name="Line 44"/>
          <p:cNvSpPr>
            <a:spLocks noChangeShapeType="1"/>
          </p:cNvSpPr>
          <p:nvPr/>
        </p:nvSpPr>
        <p:spPr bwMode="auto">
          <a:xfrm flipV="1">
            <a:off x="5410200" y="6172200"/>
            <a:ext cx="381000"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492589" name="Line 45"/>
          <p:cNvSpPr>
            <a:spLocks noChangeShapeType="1"/>
          </p:cNvSpPr>
          <p:nvPr/>
        </p:nvSpPr>
        <p:spPr bwMode="auto">
          <a:xfrm flipV="1">
            <a:off x="6858000" y="6172200"/>
            <a:ext cx="381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vi-VN"/>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2160197813"/>
      </p:ext>
    </p:extLst>
  </p:cSld>
  <p:clrMapOvr>
    <a:masterClrMapping/>
  </p:clrMapOvr>
  <p:transition spd="slow">
    <p:wipe dir="d"/>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AutoShape 2"/>
          <p:cNvSpPr>
            <a:spLocks noGrp="1" noChangeArrowheads="1"/>
          </p:cNvSpPr>
          <p:nvPr>
            <p:ph type="title"/>
          </p:nvPr>
        </p:nvSpPr>
        <p:spPr/>
        <p:txBody>
          <a:bodyPr/>
          <a:lstStyle/>
          <a:p>
            <a:r>
              <a:rPr lang="en-US" altLang="vi-VN" sz="3200"/>
              <a:t>BIỂU DIỄN BẰNG CẤU TRÚC ĐIỀU KHIỂN</a:t>
            </a:r>
          </a:p>
        </p:txBody>
      </p:sp>
      <p:sp>
        <p:nvSpPr>
          <p:cNvPr id="493571" name="Rectangle 3"/>
          <p:cNvSpPr>
            <a:spLocks noGrp="1" noChangeArrowheads="1"/>
          </p:cNvSpPr>
          <p:nvPr>
            <p:ph type="body" sz="half" idx="1"/>
          </p:nvPr>
        </p:nvSpPr>
        <p:spPr>
          <a:xfrm>
            <a:off x="914400" y="2133600"/>
            <a:ext cx="4191000" cy="4495800"/>
          </a:xfrm>
          <a:solidFill>
            <a:srgbClr val="BEBDA8"/>
          </a:solidFill>
        </p:spPr>
        <p:txBody>
          <a:bodyPr/>
          <a:lstStyle/>
          <a:p>
            <a:pPr marL="0" indent="0">
              <a:lnSpc>
                <a:spcPct val="90000"/>
              </a:lnSpc>
              <a:buFont typeface="Wingdings" panose="05000000000000000000" pitchFamily="2" charset="2"/>
              <a:buNone/>
            </a:pPr>
            <a:r>
              <a:rPr lang="en-US" altLang="vi-VN" sz="2400"/>
              <a:t>Cho  </a:t>
            </a:r>
            <a:r>
              <a:rPr lang="el-GR" altLang="vi-VN" sz="2400"/>
              <a:t>ε</a:t>
            </a:r>
            <a:r>
              <a:rPr lang="en-US" altLang="vi-VN" sz="2400"/>
              <a:t> = 0.000001, a=1 b=4</a:t>
            </a:r>
          </a:p>
          <a:p>
            <a:pPr marL="0" indent="0">
              <a:lnSpc>
                <a:spcPct val="90000"/>
              </a:lnSpc>
              <a:buFont typeface="Wingdings" panose="05000000000000000000" pitchFamily="2" charset="2"/>
              <a:buNone/>
            </a:pPr>
            <a:r>
              <a:rPr lang="en-US" altLang="vi-VN" sz="2400"/>
              <a:t>Lặp lại khối sau:</a:t>
            </a:r>
          </a:p>
          <a:p>
            <a:pPr marL="0" indent="0">
              <a:lnSpc>
                <a:spcPct val="90000"/>
              </a:lnSpc>
              <a:buFont typeface="Wingdings" panose="05000000000000000000" pitchFamily="2" charset="2"/>
              <a:buNone/>
            </a:pPr>
            <a:endParaRPr lang="en-US" altLang="vi-VN" sz="2400"/>
          </a:p>
          <a:p>
            <a:pPr marL="0" indent="0">
              <a:lnSpc>
                <a:spcPct val="90000"/>
              </a:lnSpc>
              <a:buFont typeface="Wingdings" panose="05000000000000000000" pitchFamily="2" charset="2"/>
              <a:buNone/>
            </a:pPr>
            <a:endParaRPr lang="en-US" altLang="vi-VN" sz="2400"/>
          </a:p>
          <a:p>
            <a:pPr marL="0" indent="0">
              <a:lnSpc>
                <a:spcPct val="90000"/>
              </a:lnSpc>
              <a:buFont typeface="Wingdings" panose="05000000000000000000" pitchFamily="2" charset="2"/>
              <a:buNone/>
            </a:pPr>
            <a:endParaRPr lang="en-US" altLang="vi-VN" sz="2400"/>
          </a:p>
          <a:p>
            <a:pPr marL="0" indent="0">
              <a:lnSpc>
                <a:spcPct val="90000"/>
              </a:lnSpc>
              <a:buFont typeface="Wingdings" panose="05000000000000000000" pitchFamily="2" charset="2"/>
              <a:buNone/>
            </a:pPr>
            <a:endParaRPr lang="en-US" altLang="vi-VN" sz="2400"/>
          </a:p>
          <a:p>
            <a:pPr marL="0" indent="0">
              <a:lnSpc>
                <a:spcPct val="90000"/>
              </a:lnSpc>
              <a:buFont typeface="Wingdings" panose="05000000000000000000" pitchFamily="2" charset="2"/>
              <a:buNone/>
            </a:pPr>
            <a:endParaRPr lang="en-US" altLang="vi-VN" sz="2400"/>
          </a:p>
          <a:p>
            <a:pPr marL="0" indent="0">
              <a:lnSpc>
                <a:spcPct val="90000"/>
              </a:lnSpc>
              <a:buFont typeface="Wingdings" panose="05000000000000000000" pitchFamily="2" charset="2"/>
              <a:buNone/>
            </a:pPr>
            <a:endParaRPr lang="en-US" altLang="vi-VN" sz="2400"/>
          </a:p>
          <a:p>
            <a:pPr marL="0" indent="0">
              <a:lnSpc>
                <a:spcPct val="90000"/>
              </a:lnSpc>
              <a:buFont typeface="Wingdings" panose="05000000000000000000" pitchFamily="2" charset="2"/>
              <a:buNone/>
            </a:pPr>
            <a:endParaRPr lang="en-US" altLang="vi-VN" sz="2400"/>
          </a:p>
          <a:p>
            <a:pPr marL="0" indent="0">
              <a:lnSpc>
                <a:spcPct val="90000"/>
              </a:lnSpc>
              <a:buFont typeface="Wingdings" panose="05000000000000000000" pitchFamily="2" charset="2"/>
              <a:buNone/>
            </a:pPr>
            <a:r>
              <a:rPr lang="en-US" altLang="vi-VN" sz="2400"/>
              <a:t>Cho tới khi b-a &lt; </a:t>
            </a:r>
            <a:r>
              <a:rPr lang="el-GR" altLang="vi-VN" sz="2400"/>
              <a:t>ε</a:t>
            </a:r>
            <a:r>
              <a:rPr lang="en-US" altLang="vi-VN" sz="2400"/>
              <a:t> thì lấy c làm nghiệm xấp xỉ  </a:t>
            </a:r>
          </a:p>
        </p:txBody>
      </p:sp>
      <p:sp>
        <p:nvSpPr>
          <p:cNvPr id="493572" name="Rectangle 4"/>
          <p:cNvSpPr>
            <a:spLocks noChangeArrowheads="1"/>
          </p:cNvSpPr>
          <p:nvPr/>
        </p:nvSpPr>
        <p:spPr bwMode="auto">
          <a:xfrm>
            <a:off x="1219200" y="3200400"/>
            <a:ext cx="3810000" cy="2530475"/>
          </a:xfrm>
          <a:prstGeom prst="rect">
            <a:avLst/>
          </a:prstGeom>
          <a:solidFill>
            <a:schemeClr val="accent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vi-VN" sz="2000"/>
              <a:t>Tính c:= (a+b)/2</a:t>
            </a:r>
          </a:p>
          <a:p>
            <a:pPr algn="l"/>
            <a:r>
              <a:rPr lang="en-US" altLang="vi-VN" sz="2000"/>
              <a:t>Tính f(c)</a:t>
            </a:r>
          </a:p>
          <a:p>
            <a:pPr algn="l"/>
            <a:r>
              <a:rPr lang="en-US" altLang="vi-VN" sz="2000"/>
              <a:t>Nếu f(c) &gt; 0 thì thực hiện khối</a:t>
            </a:r>
          </a:p>
          <a:p>
            <a:pPr algn="l"/>
            <a:endParaRPr lang="en-US" altLang="vi-VN" sz="2000"/>
          </a:p>
          <a:p>
            <a:pPr algn="l"/>
            <a:endParaRPr lang="en-US" altLang="vi-VN" sz="2000"/>
          </a:p>
          <a:p>
            <a:pPr algn="l"/>
            <a:r>
              <a:rPr lang="en-US" altLang="vi-VN" sz="2000"/>
              <a:t>Nếu ngược lại thì thực hiện khối</a:t>
            </a:r>
          </a:p>
          <a:p>
            <a:pPr algn="l"/>
            <a:r>
              <a:rPr lang="en-US" altLang="vi-VN" sz="2000"/>
              <a:t>          </a:t>
            </a:r>
          </a:p>
          <a:p>
            <a:pPr algn="l"/>
            <a:endParaRPr lang="en-US" altLang="vi-VN" sz="2000"/>
          </a:p>
        </p:txBody>
      </p:sp>
      <p:sp>
        <p:nvSpPr>
          <p:cNvPr id="493573" name="Rectangle 5"/>
          <p:cNvSpPr>
            <a:spLocks noChangeArrowheads="1"/>
          </p:cNvSpPr>
          <p:nvPr/>
        </p:nvSpPr>
        <p:spPr bwMode="auto">
          <a:xfrm>
            <a:off x="5257800" y="2133600"/>
            <a:ext cx="3733800" cy="4495800"/>
          </a:xfrm>
          <a:prstGeom prst="rect">
            <a:avLst/>
          </a:prstGeom>
          <a:solidFill>
            <a:srgbClr val="BEBDA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a:spcBef>
                <a:spcPct val="20000"/>
              </a:spcBef>
              <a:buClr>
                <a:schemeClr val="tx1"/>
              </a:buClr>
              <a:buSzPct val="75000"/>
              <a:buFont typeface="Wingdings" panose="05000000000000000000" pitchFamily="2" charset="2"/>
              <a:buChar char="l"/>
              <a:defRPr sz="2400">
                <a:solidFill>
                  <a:schemeClr val="tx1"/>
                </a:solidFill>
                <a:latin typeface="Arial" panose="020B0604020202020204" pitchFamily="34" charset="0"/>
                <a:cs typeface="Arial" panose="020B0604020202020204" pitchFamily="34" charset="0"/>
              </a:defRPr>
            </a:lvl1pPr>
            <a:lvl2pPr marL="742950" indent="-285750" algn="l">
              <a:spcBef>
                <a:spcPct val="20000"/>
              </a:spcBef>
              <a:buClr>
                <a:schemeClr val="tx1"/>
              </a:buClr>
              <a:buSzPct val="75000"/>
              <a:buChar char="–"/>
              <a:defRPr sz="2000">
                <a:solidFill>
                  <a:schemeClr val="tx1"/>
                </a:solidFill>
                <a:latin typeface="Arial" panose="020B0604020202020204" pitchFamily="34" charset="0"/>
                <a:cs typeface="Arial" panose="020B0604020202020204" pitchFamily="34" charset="0"/>
              </a:defRPr>
            </a:lvl2pPr>
            <a:lvl3pPr marL="1143000" indent="-228600" algn="l">
              <a:spcBef>
                <a:spcPct val="20000"/>
              </a:spcBef>
              <a:buClr>
                <a:schemeClr val="tx1"/>
              </a:buClr>
              <a:buSzPct val="75000"/>
              <a:buFont typeface="Wingdings" panose="05000000000000000000" pitchFamily="2" charset="2"/>
              <a:buChar char="l"/>
              <a:defRPr>
                <a:solidFill>
                  <a:schemeClr val="tx1"/>
                </a:solidFill>
                <a:latin typeface="Arial" panose="020B0604020202020204" pitchFamily="34" charset="0"/>
                <a:cs typeface="Arial" panose="020B0604020202020204" pitchFamily="34" charset="0"/>
              </a:defRPr>
            </a:lvl3pPr>
            <a:lvl4pPr marL="1600200" indent="-228600" algn="l">
              <a:spcBef>
                <a:spcPct val="20000"/>
              </a:spcBef>
              <a:buClr>
                <a:schemeClr val="tx1"/>
              </a:buClr>
              <a:buSzPct val="80000"/>
              <a:buChar char="–"/>
              <a:defRPr sz="1600">
                <a:solidFill>
                  <a:schemeClr val="tx1"/>
                </a:solidFill>
                <a:latin typeface="Arial" panose="020B0604020202020204" pitchFamily="34" charset="0"/>
                <a:cs typeface="Arial" panose="020B0604020202020204" pitchFamily="34" charset="0"/>
              </a:defRPr>
            </a:lvl4pPr>
            <a:lvl5pPr marL="2057400" indent="-228600" algn="l">
              <a:spcBef>
                <a:spcPct val="20000"/>
              </a:spcBef>
              <a:buClr>
                <a:schemeClr val="tx1"/>
              </a:buClr>
              <a:buSzPct val="65000"/>
              <a:buFont typeface="Wingdings" panose="05000000000000000000" pitchFamily="2" charset="2"/>
              <a:buChar char="l"/>
              <a:defRPr sz="1600">
                <a:solidFill>
                  <a:schemeClr val="tx1"/>
                </a:solidFill>
                <a:latin typeface="Arial" panose="020B0604020202020204" pitchFamily="34" charset="0"/>
                <a:cs typeface="Arial" panose="020B0604020202020204" pitchFamily="34" charset="0"/>
              </a:defRPr>
            </a:lvl5pPr>
            <a:lvl6pPr marL="2514600" indent="-228600" fontAlgn="base">
              <a:spcBef>
                <a:spcPct val="20000"/>
              </a:spcBef>
              <a:spcAft>
                <a:spcPct val="0"/>
              </a:spcAft>
              <a:buClr>
                <a:schemeClr val="tx1"/>
              </a:buClr>
              <a:buSzPct val="65000"/>
              <a:buFont typeface="Wingdings" panose="05000000000000000000" pitchFamily="2" charset="2"/>
              <a:buChar char="l"/>
              <a:defRPr sz="1600">
                <a:solidFill>
                  <a:schemeClr val="tx1"/>
                </a:solidFill>
                <a:latin typeface="Arial" panose="020B0604020202020204" pitchFamily="34" charset="0"/>
                <a:cs typeface="Arial" panose="020B0604020202020204" pitchFamily="34" charset="0"/>
              </a:defRPr>
            </a:lvl6pPr>
            <a:lvl7pPr marL="2971800" indent="-228600" fontAlgn="base">
              <a:spcBef>
                <a:spcPct val="20000"/>
              </a:spcBef>
              <a:spcAft>
                <a:spcPct val="0"/>
              </a:spcAft>
              <a:buClr>
                <a:schemeClr val="tx1"/>
              </a:buClr>
              <a:buSzPct val="65000"/>
              <a:buFont typeface="Wingdings" panose="05000000000000000000" pitchFamily="2" charset="2"/>
              <a:buChar char="l"/>
              <a:defRPr sz="1600">
                <a:solidFill>
                  <a:schemeClr val="tx1"/>
                </a:solidFill>
                <a:latin typeface="Arial" panose="020B0604020202020204" pitchFamily="34" charset="0"/>
                <a:cs typeface="Arial" panose="020B0604020202020204" pitchFamily="34" charset="0"/>
              </a:defRPr>
            </a:lvl7pPr>
            <a:lvl8pPr marL="3429000" indent="-228600" fontAlgn="base">
              <a:spcBef>
                <a:spcPct val="20000"/>
              </a:spcBef>
              <a:spcAft>
                <a:spcPct val="0"/>
              </a:spcAft>
              <a:buClr>
                <a:schemeClr val="tx1"/>
              </a:buClr>
              <a:buSzPct val="65000"/>
              <a:buFont typeface="Wingdings" panose="05000000000000000000" pitchFamily="2" charset="2"/>
              <a:buChar char="l"/>
              <a:defRPr sz="1600">
                <a:solidFill>
                  <a:schemeClr val="tx1"/>
                </a:solidFill>
                <a:latin typeface="Arial" panose="020B0604020202020204" pitchFamily="34" charset="0"/>
                <a:cs typeface="Arial" panose="020B0604020202020204" pitchFamily="34" charset="0"/>
              </a:defRPr>
            </a:lvl8pPr>
            <a:lvl9pPr marL="3886200" indent="-228600" fontAlgn="base">
              <a:spcBef>
                <a:spcPct val="20000"/>
              </a:spcBef>
              <a:spcAft>
                <a:spcPct val="0"/>
              </a:spcAft>
              <a:buClr>
                <a:schemeClr val="tx1"/>
              </a:buClr>
              <a:buSzPct val="65000"/>
              <a:buFont typeface="Wingdings" panose="05000000000000000000" pitchFamily="2" charset="2"/>
              <a:buChar char="l"/>
              <a:defRPr sz="1600">
                <a:solidFill>
                  <a:schemeClr val="tx1"/>
                </a:solidFill>
                <a:latin typeface="Arial" panose="020B0604020202020204" pitchFamily="34" charset="0"/>
                <a:cs typeface="Arial" panose="020B0604020202020204" pitchFamily="34" charset="0"/>
              </a:defRPr>
            </a:lvl9pPr>
          </a:lstStyle>
          <a:p>
            <a:pPr>
              <a:buFont typeface="Wingdings" panose="05000000000000000000" pitchFamily="2" charset="2"/>
              <a:buNone/>
            </a:pPr>
            <a:r>
              <a:rPr lang="en-US" altLang="vi-VN"/>
              <a:t>a:=1; b:= 4; </a:t>
            </a:r>
            <a:br>
              <a:rPr lang="en-US" altLang="vi-VN"/>
            </a:br>
            <a:r>
              <a:rPr lang="en-US" altLang="vi-VN"/>
              <a:t>epsi:= 0.000001;</a:t>
            </a:r>
          </a:p>
          <a:p>
            <a:pPr>
              <a:buFont typeface="Wingdings" panose="05000000000000000000" pitchFamily="2" charset="2"/>
              <a:buNone/>
            </a:pPr>
            <a:r>
              <a:rPr lang="en-US" altLang="vi-VN">
                <a:solidFill>
                  <a:srgbClr val="CC3300"/>
                </a:solidFill>
              </a:rPr>
              <a:t>repeat</a:t>
            </a:r>
            <a:r>
              <a:rPr lang="en-US" altLang="vi-VN"/>
              <a:t> </a:t>
            </a:r>
          </a:p>
          <a:p>
            <a:pPr>
              <a:buFont typeface="Wingdings" panose="05000000000000000000" pitchFamily="2" charset="2"/>
              <a:buNone/>
            </a:pPr>
            <a:r>
              <a:rPr lang="en-US" altLang="vi-VN"/>
              <a:t>     c:= (a+b)/2;</a:t>
            </a:r>
          </a:p>
          <a:p>
            <a:pPr>
              <a:buFont typeface="Wingdings" panose="05000000000000000000" pitchFamily="2" charset="2"/>
              <a:buNone/>
            </a:pPr>
            <a:r>
              <a:rPr lang="en-US" altLang="vi-VN">
                <a:solidFill>
                  <a:srgbClr val="CC3300"/>
                </a:solidFill>
              </a:rPr>
              <a:t>     if</a:t>
            </a:r>
            <a:r>
              <a:rPr lang="en-US" altLang="vi-VN"/>
              <a:t> epx(c)-sin(c) &gt; 0 </a:t>
            </a:r>
            <a:r>
              <a:rPr lang="en-US" altLang="vi-VN">
                <a:solidFill>
                  <a:srgbClr val="CC3300"/>
                </a:solidFill>
              </a:rPr>
              <a:t>then</a:t>
            </a:r>
          </a:p>
          <a:p>
            <a:pPr>
              <a:buFont typeface="Wingdings" panose="05000000000000000000" pitchFamily="2" charset="2"/>
              <a:buNone/>
            </a:pPr>
            <a:r>
              <a:rPr lang="en-US" altLang="vi-VN"/>
              <a:t>          a:=c</a:t>
            </a:r>
          </a:p>
          <a:p>
            <a:pPr>
              <a:buFont typeface="Wingdings" panose="05000000000000000000" pitchFamily="2" charset="2"/>
              <a:buNone/>
            </a:pPr>
            <a:r>
              <a:rPr lang="en-US" altLang="vi-VN"/>
              <a:t>    </a:t>
            </a:r>
            <a:r>
              <a:rPr lang="en-US" altLang="vi-VN">
                <a:solidFill>
                  <a:srgbClr val="CC3300"/>
                </a:solidFill>
              </a:rPr>
              <a:t>else</a:t>
            </a:r>
            <a:r>
              <a:rPr lang="en-US" altLang="vi-VN"/>
              <a:t> </a:t>
            </a:r>
            <a:endParaRPr lang="en-US" altLang="vi-VN" sz="2000"/>
          </a:p>
          <a:p>
            <a:pPr>
              <a:buFont typeface="Wingdings" panose="05000000000000000000" pitchFamily="2" charset="2"/>
              <a:buNone/>
            </a:pPr>
            <a:r>
              <a:rPr lang="en-US" altLang="vi-VN" sz="2000"/>
              <a:t>             b:= c</a:t>
            </a:r>
          </a:p>
          <a:p>
            <a:pPr>
              <a:buFont typeface="Wingdings" panose="05000000000000000000" pitchFamily="2" charset="2"/>
              <a:buNone/>
            </a:pPr>
            <a:r>
              <a:rPr lang="en-US" altLang="vi-VN" sz="2000">
                <a:solidFill>
                  <a:srgbClr val="CC3300"/>
                </a:solidFill>
              </a:rPr>
              <a:t>until </a:t>
            </a:r>
            <a:r>
              <a:rPr lang="en-US" altLang="vi-VN" sz="2000"/>
              <a:t>b-a &lt; </a:t>
            </a:r>
            <a:r>
              <a:rPr lang="en-US" altLang="vi-VN"/>
              <a:t>epsi</a:t>
            </a:r>
            <a:endParaRPr lang="en-US" altLang="vi-VN" sz="2000"/>
          </a:p>
          <a:p>
            <a:pPr>
              <a:buFont typeface="Wingdings" panose="05000000000000000000" pitchFamily="2" charset="2"/>
              <a:buNone/>
            </a:pPr>
            <a:r>
              <a:rPr lang="en-US" altLang="vi-VN"/>
              <a:t>write(c);</a:t>
            </a:r>
          </a:p>
        </p:txBody>
      </p:sp>
      <p:sp>
        <p:nvSpPr>
          <p:cNvPr id="493574" name="AutoShape 6"/>
          <p:cNvSpPr>
            <a:spLocks noChangeArrowheads="1"/>
          </p:cNvSpPr>
          <p:nvPr/>
        </p:nvSpPr>
        <p:spPr bwMode="auto">
          <a:xfrm>
            <a:off x="3962400" y="304800"/>
            <a:ext cx="2209800" cy="685800"/>
          </a:xfrm>
          <a:prstGeom prst="wedgeRoundRectCallout">
            <a:avLst>
              <a:gd name="adj1" fmla="val 33694"/>
              <a:gd name="adj2" fmla="val 209954"/>
              <a:gd name="adj3" fmla="val 16667"/>
            </a:avLst>
          </a:prstGeom>
          <a:solidFill>
            <a:srgbClr val="DDDDDD"/>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en-US" altLang="vi-VN" sz="2000"/>
              <a:t>Chương trình trong PASCAL </a:t>
            </a:r>
          </a:p>
        </p:txBody>
      </p:sp>
      <p:sp>
        <p:nvSpPr>
          <p:cNvPr id="493576" name="Rectangle 8"/>
          <p:cNvSpPr>
            <a:spLocks noChangeArrowheads="1"/>
          </p:cNvSpPr>
          <p:nvPr/>
        </p:nvSpPr>
        <p:spPr bwMode="auto">
          <a:xfrm>
            <a:off x="1828800" y="4191000"/>
            <a:ext cx="1592263" cy="396875"/>
          </a:xfrm>
          <a:prstGeom prst="rect">
            <a:avLst/>
          </a:prstGeom>
          <a:solidFill>
            <a:schemeClr val="folHlink"/>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vi-VN" sz="2000"/>
              <a:t>Thay a bởi c</a:t>
            </a:r>
          </a:p>
        </p:txBody>
      </p:sp>
      <p:sp>
        <p:nvSpPr>
          <p:cNvPr id="493577" name="Rectangle 9"/>
          <p:cNvSpPr>
            <a:spLocks noChangeArrowheads="1"/>
          </p:cNvSpPr>
          <p:nvPr/>
        </p:nvSpPr>
        <p:spPr bwMode="auto">
          <a:xfrm>
            <a:off x="1828800" y="5105400"/>
            <a:ext cx="1592263" cy="396875"/>
          </a:xfrm>
          <a:prstGeom prst="rect">
            <a:avLst/>
          </a:prstGeom>
          <a:solidFill>
            <a:schemeClr val="folHlink"/>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en-US" altLang="vi-VN" sz="2000"/>
              <a:t>Thay b bởi c</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961769342"/>
      </p:ext>
    </p:extLst>
  </p:cSld>
  <p:clrMapOvr>
    <a:masterClrMapping/>
  </p:clrMapOvr>
  <p:transition spd="slow">
    <p:wipe dir="d"/>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AutoShape 2"/>
          <p:cNvSpPr>
            <a:spLocks noGrp="1" noChangeArrowheads="1"/>
          </p:cNvSpPr>
          <p:nvPr>
            <p:ph type="title"/>
          </p:nvPr>
        </p:nvSpPr>
        <p:spPr/>
        <p:txBody>
          <a:bodyPr/>
          <a:lstStyle/>
          <a:p>
            <a:r>
              <a:rPr lang="en-US" altLang="vi-VN"/>
              <a:t>HIỆU QUẢ CỦA THUẬT TOÁN</a:t>
            </a:r>
          </a:p>
        </p:txBody>
      </p:sp>
      <p:sp>
        <p:nvSpPr>
          <p:cNvPr id="494595" name="Rectangle 3"/>
          <p:cNvSpPr>
            <a:spLocks noGrp="1" noChangeArrowheads="1"/>
          </p:cNvSpPr>
          <p:nvPr>
            <p:ph type="body" idx="1"/>
          </p:nvPr>
        </p:nvSpPr>
        <p:spPr/>
        <p:txBody>
          <a:bodyPr/>
          <a:lstStyle/>
          <a:p>
            <a:r>
              <a:rPr lang="en-US" altLang="vi-VN" sz="2400"/>
              <a:t>Với mỗi bài toán có thể có nhiều thuật toán khác nhau. Tuy nhiên hiệu quả của chúng có thể rất khác nhau.</a:t>
            </a:r>
          </a:p>
          <a:p>
            <a:r>
              <a:rPr lang="en-US" altLang="vi-VN" sz="2400"/>
              <a:t>Trong tin học người ta quan tâm nhiều đến độ phức tạp về thời gian: giải bài toán đó cần bao nhiêu thời gian, vấn đề này được quy về số phép tính cơ bản cần được thực hiện</a:t>
            </a:r>
          </a:p>
          <a:p>
            <a:r>
              <a:rPr lang="en-US" altLang="vi-VN" sz="2400"/>
              <a:t>Độ phức tạp không gian: sự tiêu tốn không gian nhớ. </a:t>
            </a:r>
          </a:p>
          <a:p>
            <a:r>
              <a:rPr lang="en-US" altLang="vi-VN" sz="2400"/>
              <a:t>Vấn đề hiệu quả thời gian là vấn đề được nghiên cứu nhiều hơn cả. </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3259002898"/>
      </p:ext>
    </p:extLst>
  </p:cSld>
  <p:clrMapOvr>
    <a:masterClrMapping/>
  </p:clrMapOvr>
  <p:transition spd="slow">
    <p:wipe dir="d"/>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AutoShape 2"/>
          <p:cNvSpPr>
            <a:spLocks noGrp="1" noChangeArrowheads="1"/>
          </p:cNvSpPr>
          <p:nvPr>
            <p:ph type="title"/>
          </p:nvPr>
        </p:nvSpPr>
        <p:spPr/>
        <p:txBody>
          <a:bodyPr/>
          <a:lstStyle/>
          <a:p>
            <a:r>
              <a:rPr lang="en-US" altLang="vi-VN"/>
              <a:t>VÍ DỤ HIỆU QUẢ TÌM KIẾM</a:t>
            </a:r>
          </a:p>
        </p:txBody>
      </p:sp>
      <p:sp>
        <p:nvSpPr>
          <p:cNvPr id="495619" name="Rectangle 3"/>
          <p:cNvSpPr>
            <a:spLocks noGrp="1" noChangeArrowheads="1"/>
          </p:cNvSpPr>
          <p:nvPr>
            <p:ph type="body" idx="1"/>
          </p:nvPr>
        </p:nvSpPr>
        <p:spPr>
          <a:xfrm>
            <a:off x="838200" y="1905000"/>
            <a:ext cx="7693025" cy="4648200"/>
          </a:xfrm>
        </p:spPr>
        <p:txBody>
          <a:bodyPr/>
          <a:lstStyle/>
          <a:p>
            <a:pPr marL="508000" indent="-508000">
              <a:lnSpc>
                <a:spcPct val="80000"/>
              </a:lnSpc>
              <a:buFont typeface="Wingdings" panose="05000000000000000000" pitchFamily="2" charset="2"/>
              <a:buNone/>
            </a:pPr>
            <a:r>
              <a:rPr lang="en-US" altLang="vi-VN" sz="2000"/>
              <a:t>Ví dụ b</a:t>
            </a:r>
            <a:r>
              <a:rPr lang="en-US" altLang="vi-VN" sz="2400"/>
              <a:t>ài toán </a:t>
            </a:r>
            <a:r>
              <a:rPr lang="en-US" altLang="vi-VN" sz="2000"/>
              <a:t>t</a:t>
            </a:r>
            <a:r>
              <a:rPr lang="en-US" altLang="vi-VN" sz="2400"/>
              <a:t>ìm kiếm: cho một dãy n số kh</a:t>
            </a:r>
            <a:r>
              <a:rPr lang="en-US" altLang="vi-VN" sz="2000"/>
              <a:t>ác nhau a</a:t>
            </a:r>
            <a:r>
              <a:rPr lang="en-US" altLang="vi-VN" sz="2000" baseline="-25000"/>
              <a:t>1</a:t>
            </a:r>
            <a:r>
              <a:rPr lang="en-US" altLang="vi-VN" sz="2000"/>
              <a:t>,a</a:t>
            </a:r>
            <a:r>
              <a:rPr lang="en-US" altLang="vi-VN" sz="2000" baseline="-25000"/>
              <a:t>2</a:t>
            </a:r>
            <a:r>
              <a:rPr lang="en-US" altLang="vi-VN" sz="2000"/>
              <a:t>...a</a:t>
            </a:r>
            <a:r>
              <a:rPr lang="en-US" altLang="vi-VN" sz="2000" baseline="-25000"/>
              <a:t>i</a:t>
            </a:r>
            <a:r>
              <a:rPr lang="en-US" altLang="vi-VN" sz="2000"/>
              <a:t>... a</a:t>
            </a:r>
            <a:r>
              <a:rPr lang="en-US" altLang="vi-VN" sz="2000" baseline="-25000"/>
              <a:t>n</a:t>
            </a:r>
            <a:r>
              <a:rPr lang="en-US" altLang="vi-VN" sz="2000"/>
              <a:t> </a:t>
            </a:r>
            <a:r>
              <a:rPr lang="en-US" altLang="vi-VN" sz="2400"/>
              <a:t>và m</a:t>
            </a:r>
            <a:r>
              <a:rPr lang="en-US" altLang="vi-VN" sz="2000"/>
              <a:t>ột số x</a:t>
            </a:r>
            <a:r>
              <a:rPr lang="en-US" altLang="vi-VN" sz="2400"/>
              <a:t>.H</a:t>
            </a:r>
            <a:r>
              <a:rPr lang="en-US" altLang="vi-VN" sz="2000"/>
              <a:t>ãy cho biết x có trong dãy số đó hay không và ở vị trí thứ bao nhiêu. Thuật toán tìm kiếm tuần tự như sau:</a:t>
            </a:r>
          </a:p>
          <a:p>
            <a:pPr marL="508000" indent="-508000">
              <a:lnSpc>
                <a:spcPct val="80000"/>
              </a:lnSpc>
              <a:buFont typeface="Wingdings" panose="05000000000000000000" pitchFamily="2" charset="2"/>
              <a:buNone/>
            </a:pPr>
            <a:endParaRPr lang="en-US" altLang="vi-VN" sz="2000"/>
          </a:p>
          <a:p>
            <a:pPr marL="508000" indent="-508000">
              <a:lnSpc>
                <a:spcPct val="80000"/>
              </a:lnSpc>
            </a:pPr>
            <a:r>
              <a:rPr lang="en-US" altLang="vi-VN" sz="2000">
                <a:solidFill>
                  <a:srgbClr val="3333FF"/>
                </a:solidFill>
              </a:rPr>
              <a:t>Bước 1. Cho i = 1</a:t>
            </a:r>
          </a:p>
          <a:p>
            <a:pPr marL="508000" indent="-508000">
              <a:lnSpc>
                <a:spcPct val="80000"/>
              </a:lnSpc>
            </a:pPr>
            <a:r>
              <a:rPr lang="en-US" altLang="vi-VN" sz="2000">
                <a:solidFill>
                  <a:srgbClr val="3333FF"/>
                </a:solidFill>
              </a:rPr>
              <a:t>Bước 2. Nếu ai = x thì chuyển tới bước 5, nếu không thực hiện tiếp bước 3</a:t>
            </a:r>
          </a:p>
          <a:p>
            <a:pPr marL="508000" indent="-508000">
              <a:lnSpc>
                <a:spcPct val="80000"/>
              </a:lnSpc>
            </a:pPr>
            <a:r>
              <a:rPr lang="en-US" altLang="vi-VN" sz="2000">
                <a:solidFill>
                  <a:srgbClr val="3333FF"/>
                </a:solidFill>
              </a:rPr>
              <a:t>Bước 3. Tăng i lên 1 và  kiểm tra i &gt; n. Nếu đúng về bước 4. Nếu sai quay về bước 2</a:t>
            </a:r>
          </a:p>
          <a:p>
            <a:pPr marL="508000" indent="-508000">
              <a:lnSpc>
                <a:spcPct val="80000"/>
              </a:lnSpc>
            </a:pPr>
            <a:r>
              <a:rPr lang="en-US" altLang="vi-VN" sz="2000">
                <a:solidFill>
                  <a:srgbClr val="3333FF"/>
                </a:solidFill>
              </a:rPr>
              <a:t>Bước 4. Tuyên bố không có số x. Kết thúc</a:t>
            </a:r>
          </a:p>
          <a:p>
            <a:pPr marL="508000" indent="-508000">
              <a:lnSpc>
                <a:spcPct val="80000"/>
              </a:lnSpc>
            </a:pPr>
            <a:r>
              <a:rPr lang="en-US" altLang="vi-VN" sz="2000">
                <a:solidFill>
                  <a:srgbClr val="3333FF"/>
                </a:solidFill>
              </a:rPr>
              <a:t>Bước 5. Tuyên bố số x chính là số thứ i. Kết thúc</a:t>
            </a:r>
          </a:p>
          <a:p>
            <a:pPr marL="508000" indent="-508000">
              <a:lnSpc>
                <a:spcPct val="80000"/>
              </a:lnSpc>
              <a:buFont typeface="Wingdings" panose="05000000000000000000" pitchFamily="2" charset="2"/>
              <a:buNone/>
            </a:pPr>
            <a:endParaRPr lang="en-US" altLang="vi-VN" sz="2000">
              <a:solidFill>
                <a:srgbClr val="3333FF"/>
              </a:solidFill>
            </a:endParaRPr>
          </a:p>
          <a:p>
            <a:pPr marL="508000" indent="-508000">
              <a:lnSpc>
                <a:spcPct val="80000"/>
              </a:lnSpc>
              <a:buFont typeface="Wingdings" panose="05000000000000000000" pitchFamily="2" charset="2"/>
              <a:buNone/>
            </a:pPr>
            <a:r>
              <a:rPr lang="en-US" altLang="vi-VN" sz="2000"/>
              <a:t>Số bước tìm trung bình là n/2. Nếu có 1 triệu phần tử thì phải mất khoảng 500.000 phép so sánh</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3461808714"/>
      </p:ext>
    </p:extLst>
  </p:cSld>
  <p:clrMapOvr>
    <a:masterClrMapping/>
  </p:clrMapOvr>
  <p:transition spd="slow">
    <p:wipe dir="d"/>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AutoShape 2"/>
          <p:cNvSpPr>
            <a:spLocks noGrp="1" noChangeArrowheads="1"/>
          </p:cNvSpPr>
          <p:nvPr>
            <p:ph type="title"/>
          </p:nvPr>
        </p:nvSpPr>
        <p:spPr/>
        <p:txBody>
          <a:bodyPr/>
          <a:lstStyle/>
          <a:p>
            <a:r>
              <a:rPr lang="en-US" altLang="vi-VN"/>
              <a:t>HIỆU QUẢ CỦA THUẬT TOÁN</a:t>
            </a:r>
          </a:p>
        </p:txBody>
      </p:sp>
      <p:sp>
        <p:nvSpPr>
          <p:cNvPr id="498691" name="Rectangle 3"/>
          <p:cNvSpPr>
            <a:spLocks noGrp="1" noChangeArrowheads="1"/>
          </p:cNvSpPr>
          <p:nvPr>
            <p:ph type="body" idx="1"/>
          </p:nvPr>
        </p:nvSpPr>
        <p:spPr>
          <a:xfrm>
            <a:off x="838200" y="2286000"/>
            <a:ext cx="7924800" cy="4572000"/>
          </a:xfrm>
        </p:spPr>
        <p:txBody>
          <a:bodyPr/>
          <a:lstStyle/>
          <a:p>
            <a:pPr marL="508000" indent="-508000">
              <a:lnSpc>
                <a:spcPct val="80000"/>
              </a:lnSpc>
              <a:buFont typeface="Wingdings" panose="05000000000000000000" pitchFamily="2" charset="2"/>
              <a:buNone/>
            </a:pPr>
            <a:r>
              <a:rPr lang="en-US" altLang="vi-VN" sz="2000"/>
              <a:t>Nếu sắp xếp dãy số theo thứ tự tăng dần có thể tìm bằng thuật toán tìm kiếm nhị phân, với tư tưởng thu hẹp dần vùng tìm kiếm</a:t>
            </a:r>
          </a:p>
          <a:p>
            <a:pPr marL="508000" indent="-508000">
              <a:lnSpc>
                <a:spcPct val="80000"/>
              </a:lnSpc>
              <a:buFont typeface="Wingdings" panose="05000000000000000000" pitchFamily="2" charset="2"/>
              <a:buNone/>
            </a:pPr>
            <a:endParaRPr lang="en-US" altLang="vi-VN" sz="1800"/>
          </a:p>
          <a:p>
            <a:pPr marL="508000" indent="-508000">
              <a:lnSpc>
                <a:spcPct val="80000"/>
              </a:lnSpc>
            </a:pPr>
            <a:r>
              <a:rPr lang="en-US" altLang="vi-VN" sz="1600" b="1">
                <a:solidFill>
                  <a:srgbClr val="3333FF"/>
                </a:solidFill>
              </a:rPr>
              <a:t>Bước 1. Cho d := 1, c:=n  </a:t>
            </a:r>
            <a:r>
              <a:rPr lang="en-US" altLang="vi-VN" sz="1600" b="1">
                <a:solidFill>
                  <a:srgbClr val="CC3300"/>
                </a:solidFill>
              </a:rPr>
              <a:t>(</a:t>
            </a:r>
            <a:r>
              <a:rPr lang="en-US" altLang="vi-VN" sz="1600" i="1">
                <a:solidFill>
                  <a:srgbClr val="CC3300"/>
                </a:solidFill>
              </a:rPr>
              <a:t>d: đầu, c: cuối, g: giữa</a:t>
            </a:r>
            <a:r>
              <a:rPr lang="en-US" altLang="vi-VN" sz="1600" b="1">
                <a:solidFill>
                  <a:srgbClr val="CC3300"/>
                </a:solidFill>
              </a:rPr>
              <a:t>)</a:t>
            </a:r>
          </a:p>
          <a:p>
            <a:pPr marL="508000" indent="-508000">
              <a:lnSpc>
                <a:spcPct val="80000"/>
              </a:lnSpc>
            </a:pPr>
            <a:r>
              <a:rPr lang="en-US" altLang="vi-VN" sz="1600" b="1">
                <a:solidFill>
                  <a:srgbClr val="3333FF"/>
                </a:solidFill>
              </a:rPr>
              <a:t>Bước 2. Tính g := [(d+c)/2]</a:t>
            </a:r>
          </a:p>
          <a:p>
            <a:pPr marL="508000" indent="-508000">
              <a:lnSpc>
                <a:spcPct val="80000"/>
              </a:lnSpc>
            </a:pPr>
            <a:r>
              <a:rPr lang="en-US" altLang="vi-VN" sz="1600" b="1">
                <a:solidFill>
                  <a:srgbClr val="3333FF"/>
                </a:solidFill>
              </a:rPr>
              <a:t>Bước 3. So x với a</a:t>
            </a:r>
            <a:r>
              <a:rPr lang="en-US" altLang="vi-VN" sz="1600" b="1" baseline="-25000">
                <a:solidFill>
                  <a:srgbClr val="3333FF"/>
                </a:solidFill>
              </a:rPr>
              <a:t>g</a:t>
            </a:r>
            <a:r>
              <a:rPr lang="en-US" altLang="vi-VN" sz="1600" b="1">
                <a:solidFill>
                  <a:srgbClr val="3333FF"/>
                </a:solidFill>
              </a:rPr>
              <a:t>. Nếu x=a</a:t>
            </a:r>
            <a:r>
              <a:rPr lang="en-US" altLang="vi-VN" sz="1600" b="1" baseline="-25000">
                <a:solidFill>
                  <a:srgbClr val="3333FF"/>
                </a:solidFill>
              </a:rPr>
              <a:t>g</a:t>
            </a:r>
            <a:r>
              <a:rPr lang="en-US" altLang="vi-VN" sz="1600" b="1">
                <a:solidFill>
                  <a:srgbClr val="3333FF"/>
                </a:solidFill>
              </a:rPr>
              <a:t> chuyển tới bước 7. Nếu khác thì tiếp tục thực hiện bước 4</a:t>
            </a:r>
          </a:p>
          <a:p>
            <a:pPr marL="508000" indent="-508000">
              <a:lnSpc>
                <a:spcPct val="80000"/>
              </a:lnSpc>
            </a:pPr>
            <a:r>
              <a:rPr lang="en-US" altLang="vi-VN" sz="1600" b="1">
                <a:solidFill>
                  <a:srgbClr val="3333FF"/>
                </a:solidFill>
              </a:rPr>
              <a:t>Bước 4. Nếu d=c thì tuyên bố không có số x và kết thúc. Nếu không thì thực hiện bước 5 tiếp theo</a:t>
            </a:r>
          </a:p>
          <a:p>
            <a:pPr marL="508000" indent="-508000">
              <a:lnSpc>
                <a:spcPct val="80000"/>
              </a:lnSpc>
            </a:pPr>
            <a:r>
              <a:rPr lang="en-US" altLang="vi-VN" sz="1600" b="1">
                <a:solidFill>
                  <a:srgbClr val="3333FF"/>
                </a:solidFill>
              </a:rPr>
              <a:t>Bước 5. Nếu x &lt; a</a:t>
            </a:r>
            <a:r>
              <a:rPr lang="en-US" altLang="vi-VN" sz="1600" b="1" baseline="-25000">
                <a:solidFill>
                  <a:srgbClr val="3333FF"/>
                </a:solidFill>
              </a:rPr>
              <a:t>g</a:t>
            </a:r>
            <a:r>
              <a:rPr lang="en-US" altLang="vi-VN" sz="1600" b="1">
                <a:solidFill>
                  <a:srgbClr val="3333FF"/>
                </a:solidFill>
              </a:rPr>
              <a:t> thì thay c bằng a</a:t>
            </a:r>
            <a:r>
              <a:rPr lang="en-US" altLang="vi-VN" sz="1600" b="1" baseline="-25000">
                <a:solidFill>
                  <a:srgbClr val="3333FF"/>
                </a:solidFill>
              </a:rPr>
              <a:t>g</a:t>
            </a:r>
            <a:r>
              <a:rPr lang="en-US" altLang="vi-VN" sz="1600" b="1">
                <a:solidFill>
                  <a:srgbClr val="3333FF"/>
                </a:solidFill>
              </a:rPr>
              <a:t> và quay về bước 2. Nếu không thì thực hiện bước 6 tiếp theo</a:t>
            </a:r>
          </a:p>
          <a:p>
            <a:pPr marL="508000" indent="-508000">
              <a:lnSpc>
                <a:spcPct val="80000"/>
              </a:lnSpc>
            </a:pPr>
            <a:r>
              <a:rPr lang="en-US" altLang="vi-VN" sz="1600" b="1">
                <a:solidFill>
                  <a:srgbClr val="3333FF"/>
                </a:solidFill>
              </a:rPr>
              <a:t>Bước 6. Thay d bằng a</a:t>
            </a:r>
            <a:r>
              <a:rPr lang="en-US" altLang="vi-VN" sz="1600" b="1" baseline="-25000">
                <a:solidFill>
                  <a:srgbClr val="3333FF"/>
                </a:solidFill>
              </a:rPr>
              <a:t>g </a:t>
            </a:r>
            <a:r>
              <a:rPr lang="en-US" altLang="vi-VN" sz="1600" b="1">
                <a:solidFill>
                  <a:srgbClr val="3333FF"/>
                </a:solidFill>
              </a:rPr>
              <a:t>và quay về bước 2</a:t>
            </a:r>
          </a:p>
          <a:p>
            <a:pPr marL="508000" indent="-508000">
              <a:lnSpc>
                <a:spcPct val="80000"/>
              </a:lnSpc>
            </a:pPr>
            <a:r>
              <a:rPr lang="en-US" altLang="vi-VN" sz="1600" b="1">
                <a:solidFill>
                  <a:srgbClr val="3333FF"/>
                </a:solidFill>
              </a:rPr>
              <a:t>Bước 7. Tuyên bố số x chính là số thứ g. Kết thúc</a:t>
            </a:r>
          </a:p>
          <a:p>
            <a:pPr marL="508000" indent="-508000">
              <a:lnSpc>
                <a:spcPct val="80000"/>
              </a:lnSpc>
              <a:buFont typeface="Wingdings" panose="05000000000000000000" pitchFamily="2" charset="2"/>
              <a:buNone/>
            </a:pPr>
            <a:endParaRPr lang="en-US" altLang="vi-VN" sz="1600" b="1">
              <a:solidFill>
                <a:srgbClr val="3333FF"/>
              </a:solidFill>
            </a:endParaRPr>
          </a:p>
          <a:p>
            <a:pPr marL="508000" indent="-508000">
              <a:lnSpc>
                <a:spcPct val="80000"/>
              </a:lnSpc>
              <a:buFont typeface="Wingdings" panose="05000000000000000000" pitchFamily="2" charset="2"/>
              <a:buNone/>
            </a:pPr>
            <a:r>
              <a:rPr lang="en-US" altLang="vi-VN" sz="2000"/>
              <a:t>Cứ mỗi lần không tìm được ta lại giảm độ dài vùng tìm kiếm đi hai lần. Số bước tìm trung bình là log</a:t>
            </a:r>
            <a:r>
              <a:rPr lang="en-US" altLang="vi-VN" sz="2000" baseline="-25000"/>
              <a:t>2</a:t>
            </a:r>
            <a:r>
              <a:rPr lang="en-US" altLang="vi-VN" sz="2000"/>
              <a:t>n. Nếu có 1 triệu phần tử thì chỉ mất khoảng 20 lần tìm, rất nhỏ so với tìm tuần tự</a:t>
            </a:r>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3480490602"/>
      </p:ext>
    </p:extLst>
  </p:cSld>
  <p:clrMapOvr>
    <a:masterClrMapping/>
  </p:clrMapOvr>
  <p:transition spd="slow">
    <p:wipe dir="d"/>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AutoShape 2"/>
          <p:cNvSpPr>
            <a:spLocks noGrp="1" noChangeArrowheads="1"/>
          </p:cNvSpPr>
          <p:nvPr>
            <p:ph type="title"/>
          </p:nvPr>
        </p:nvSpPr>
        <p:spPr/>
        <p:txBody>
          <a:bodyPr/>
          <a:lstStyle/>
          <a:p>
            <a:r>
              <a:rPr lang="en-US" altLang="vi-VN"/>
              <a:t>CÂU HỎI VÀ BÀI TẬP</a:t>
            </a:r>
          </a:p>
        </p:txBody>
      </p:sp>
      <p:sp>
        <p:nvSpPr>
          <p:cNvPr id="496643" name="Rectangle 3"/>
          <p:cNvSpPr>
            <a:spLocks noGrp="1" noChangeArrowheads="1"/>
          </p:cNvSpPr>
          <p:nvPr>
            <p:ph type="body" idx="1"/>
          </p:nvPr>
        </p:nvSpPr>
        <p:spPr>
          <a:xfrm>
            <a:off x="838200" y="2133600"/>
            <a:ext cx="8077200" cy="3952875"/>
          </a:xfrm>
        </p:spPr>
        <p:txBody>
          <a:bodyPr>
            <a:normAutofit lnSpcReduction="10000"/>
          </a:bodyPr>
          <a:lstStyle/>
          <a:p>
            <a:pPr marL="533400" indent="-533400">
              <a:buFont typeface="Wingdings" panose="05000000000000000000" pitchFamily="2" charset="2"/>
              <a:buAutoNum type="arabicPeriod"/>
            </a:pPr>
            <a:r>
              <a:rPr lang="en-US" altLang="vi-VN" sz="2000"/>
              <a:t>Thuật toán là gì? Cho ví dụ.</a:t>
            </a:r>
          </a:p>
          <a:p>
            <a:pPr marL="533400" indent="-533400">
              <a:buFont typeface="Wingdings" panose="05000000000000000000" pitchFamily="2" charset="2"/>
              <a:buAutoNum type="arabicPeriod"/>
            </a:pPr>
            <a:r>
              <a:rPr lang="en-US" altLang="vi-VN" sz="2000"/>
              <a:t>Xác định input và output cho các thuật toán sau đây:</a:t>
            </a:r>
          </a:p>
          <a:p>
            <a:pPr marL="914400" lvl="1" indent="-266700">
              <a:buFont typeface="Wingdings" panose="05000000000000000000" pitchFamily="2" charset="2"/>
              <a:buAutoNum type="alphaLcPeriod"/>
            </a:pPr>
            <a:r>
              <a:rPr lang="en-US" altLang="vi-VN" sz="1800"/>
              <a:t>Rút gọn một phân số.</a:t>
            </a:r>
          </a:p>
          <a:p>
            <a:pPr marL="914400" lvl="1" indent="-266700">
              <a:buFont typeface="Wingdings" panose="05000000000000000000" pitchFamily="2" charset="2"/>
              <a:buAutoNum type="alphaLcPeriod"/>
            </a:pPr>
            <a:r>
              <a:rPr lang="en-US" altLang="vi-VN" sz="1800"/>
              <a:t>Kiểm tra xem ba số cho trước a, b và c có thể là độ dài ba cạnh của một tam giác hay không?</a:t>
            </a:r>
          </a:p>
          <a:p>
            <a:pPr marL="533400" indent="-533400">
              <a:buFont typeface="Wingdings" panose="05000000000000000000" pitchFamily="2" charset="2"/>
              <a:buAutoNum type="arabicPeriod"/>
            </a:pPr>
            <a:r>
              <a:rPr lang="en-US" altLang="vi-VN" sz="2000"/>
              <a:t>Trình bày tính chất xác định của thuật toán và nêu rõ nghĩa của tính chất này </a:t>
            </a:r>
          </a:p>
          <a:p>
            <a:pPr marL="533400" indent="-533400">
              <a:buFont typeface="Wingdings" panose="05000000000000000000" pitchFamily="2" charset="2"/>
              <a:buAutoNum type="arabicPeriod"/>
            </a:pPr>
            <a:r>
              <a:rPr lang="en-US" altLang="vi-VN" sz="2000"/>
              <a:t>Cho tam giác ABC có góc vuông A và cho biết cạnh a và góc B. Hãy viết thuật toán để tính góc C, cạnh b và cạnh c.</a:t>
            </a:r>
          </a:p>
          <a:p>
            <a:pPr marL="533400" indent="-533400">
              <a:buFont typeface="Wingdings" panose="05000000000000000000" pitchFamily="2" charset="2"/>
              <a:buAutoNum type="arabicPeriod"/>
            </a:pPr>
            <a:r>
              <a:rPr lang="en-US" altLang="vi-VN" sz="2000"/>
              <a:t>Hãy phát biểu thuật toán để giải bài toán sau: "Có một số quả táo. Dùng cân hai đĩa (không có quả cân) để xác định quả táo nặng nhất"</a:t>
            </a:r>
          </a:p>
          <a:p>
            <a:pPr marL="533400" indent="-533400">
              <a:buFont typeface="Wingdings" panose="05000000000000000000" pitchFamily="2" charset="2"/>
              <a:buAutoNum type="arabicPeriod"/>
            </a:pPr>
            <a:r>
              <a:rPr lang="en-US" altLang="vi-VN" sz="2000"/>
              <a:t>Chỉ dùng phép cộng, tính bình phương của một số</a:t>
            </a:r>
          </a:p>
          <a:p>
            <a:pPr marL="533400" indent="-533400">
              <a:buFont typeface="Wingdings" panose="05000000000000000000" pitchFamily="2" charset="2"/>
              <a:buNone/>
            </a:pPr>
            <a:endParaRPr lang="en-US" altLang="vi-VN" sz="2000"/>
          </a:p>
        </p:txBody>
      </p:sp>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1972461935"/>
      </p:ext>
    </p:extLst>
  </p:cSld>
  <p:clrMapOvr>
    <a:masterClrMapping/>
  </p:clrMapOvr>
  <p:transition spd="slow">
    <p:wipe dir="d"/>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AutoShape 2"/>
          <p:cNvSpPr>
            <a:spLocks noGrp="1" noChangeArrowheads="1"/>
          </p:cNvSpPr>
          <p:nvPr>
            <p:ph type="title"/>
          </p:nvPr>
        </p:nvSpPr>
        <p:spPr/>
        <p:txBody>
          <a:bodyPr/>
          <a:lstStyle/>
          <a:p>
            <a:r>
              <a:rPr lang="en-US" altLang="vi-VN" dirty="0" err="1"/>
              <a:t>HẾT</a:t>
            </a:r>
            <a:r>
              <a:rPr lang="en-US" altLang="vi-VN" dirty="0"/>
              <a:t> </a:t>
            </a:r>
            <a:r>
              <a:rPr lang="en-US" altLang="vi-VN" dirty="0" err="1"/>
              <a:t>BÀI</a:t>
            </a:r>
            <a:r>
              <a:rPr lang="en-US" altLang="vi-VN" dirty="0"/>
              <a:t> </a:t>
            </a:r>
            <a:r>
              <a:rPr lang="en-US" altLang="vi-VN" dirty="0" smtClean="0"/>
              <a:t>6. </a:t>
            </a:r>
            <a:r>
              <a:rPr lang="en-US" altLang="vi-VN" dirty="0" err="1"/>
              <a:t>HỎI</a:t>
            </a:r>
            <a:r>
              <a:rPr lang="en-US" altLang="vi-VN" dirty="0"/>
              <a:t> </a:t>
            </a:r>
            <a:r>
              <a:rPr lang="en-US" altLang="vi-VN" dirty="0" err="1"/>
              <a:t>VÀ</a:t>
            </a:r>
            <a:r>
              <a:rPr lang="en-US" altLang="vi-VN" dirty="0"/>
              <a:t> </a:t>
            </a:r>
            <a:r>
              <a:rPr lang="en-US" altLang="vi-VN" dirty="0" err="1"/>
              <a:t>ĐÁP</a:t>
            </a:r>
            <a:endParaRPr lang="en-US" altLang="vi-VN" dirty="0"/>
          </a:p>
        </p:txBody>
      </p:sp>
      <p:graphicFrame>
        <p:nvGraphicFramePr>
          <p:cNvPr id="375812" name="Object 4"/>
          <p:cNvGraphicFramePr>
            <a:graphicFrameLocks noChangeAspect="1"/>
          </p:cNvGraphicFramePr>
          <p:nvPr>
            <p:ph idx="1"/>
          </p:nvPr>
        </p:nvGraphicFramePr>
        <p:xfrm>
          <a:off x="2767013" y="1905000"/>
          <a:ext cx="3833812" cy="4181475"/>
        </p:xfrm>
        <a:graphic>
          <a:graphicData uri="http://schemas.openxmlformats.org/presentationml/2006/ole">
            <mc:AlternateContent xmlns:mc="http://schemas.openxmlformats.org/markup-compatibility/2006">
              <mc:Choice xmlns:v="urn:schemas-microsoft-com:vml" Requires="v">
                <p:oleObj spid="_x0000_s11267" name="Clip" r:id="rId3" imgW="5157360" imgH="5624280" progId="MS_ClipArt_Gallery.2">
                  <p:embed/>
                </p:oleObj>
              </mc:Choice>
              <mc:Fallback>
                <p:oleObj name="Clip" r:id="rId3" imgW="5157360" imgH="5624280" progId="MS_ClipArt_Gallery.2">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7013" y="1905000"/>
                        <a:ext cx="3833812" cy="418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Footer Placeholder 1"/>
          <p:cNvSpPr>
            <a:spLocks noGrp="1"/>
          </p:cNvSpPr>
          <p:nvPr>
            <p:ph type="ftr" sz="quarter" idx="11"/>
          </p:nvPr>
        </p:nvSpPr>
        <p:spPr/>
        <p:txBody>
          <a:bodyPr/>
          <a:lstStyle/>
          <a:p>
            <a:r>
              <a:rPr lang="vi-VN" smtClean="0"/>
              <a:t>Trung tâm máy tính, Trường Đại học Công nghệ, ĐHQGHN</a:t>
            </a:r>
            <a:endParaRPr lang="en-US" dirty="0"/>
          </a:p>
        </p:txBody>
      </p:sp>
    </p:spTree>
    <p:extLst>
      <p:ext uri="{BB962C8B-B14F-4D97-AF65-F5344CB8AC3E}">
        <p14:creationId xmlns:p14="http://schemas.microsoft.com/office/powerpoint/2010/main" val="4086648489"/>
      </p:ext>
    </p:extLst>
  </p:cSld>
  <p:clrMapOvr>
    <a:masterClrMapping/>
  </p:clrMapOvr>
  <p:transition spd="slow">
    <p:wipe dir="d"/>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2&quot; unique_id=&quot;10002&quot;&gt;&lt;object type=&quot;3&quot; unique_id=&quot;10003&quot;&gt;&lt;property id=&quot;20148&quot; value=&quot;5&quot;/&gt;&lt;property id=&quot;20300&quot; value=&quot;Slide 1 - &amp;quot;Tin học cơ sở 2 phần lý thuyết  &amp;quot;&quot;/&gt;&lt;property id=&quot;20307&quot; value=&quot;259&quot;/&gt;&lt;/object&gt;&lt;object type=&quot;3&quot; unique_id=&quot;15073&quot;&gt;&lt;property id=&quot;20148&quot; value=&quot;5&quot;/&gt;&lt;property id=&quot;20300&quot; value=&quot;Slide 2 - &amp;quot;Bài 4. Các hệ đếm&amp;quot;&quot;/&gt;&lt;property id=&quot;20307&quot; value=&quot;279&quot;/&gt;&lt;/object&gt;&lt;object type=&quot;3&quot; unique_id=&quot;15074&quot;&gt;&lt;property id=&quot;20148&quot; value=&quot;5&quot;/&gt;&lt;property id=&quot;20300&quot; value=&quot;Slide 3 - &amp;quot;NỘI DUNG&amp;quot;&quot;/&gt;&lt;property id=&quot;20307&quot; value=&quot;280&quot;/&gt;&lt;/object&gt;&lt;object type=&quot;3&quot; unique_id=&quot;15075&quot;&gt;&lt;property id=&quot;20148&quot; value=&quot;5&quot;/&gt;&lt;property id=&quot;20300&quot; value=&quot;Slide 4 - &amp;quot;HỆ ĐẾM&amp;quot;&quot;/&gt;&lt;property id=&quot;20307&quot; value=&quot;281&quot;/&gt;&lt;/object&gt;&lt;object type=&quot;3&quot; unique_id=&quot;15076&quot;&gt;&lt;property id=&quot;20148&quot; value=&quot;5&quot;/&gt;&lt;property id=&quot;20300&quot; value=&quot;Slide 5 - &amp;quot;HỆ ĐẾM&amp;quot;&quot;/&gt;&lt;property id=&quot;20307&quot; value=&quot;282&quot;/&gt;&lt;/object&gt;&lt;object type=&quot;3&quot; unique_id=&quot;15077&quot;&gt;&lt;property id=&quot;20148&quot; value=&quot;5&quot;/&gt;&lt;property id=&quot;20300&quot; value=&quot;Slide 6 - &amp;quot;HỆ ĐẾM THEO VỊ TRÍ VÀ KHÔNG THEO VỊ TRÍ&amp;quot;&quot;/&gt;&lt;property id=&quot;20307&quot; value=&quot;283&quot;/&gt;&lt;/object&gt;&lt;object type=&quot;3&quot; unique_id=&quot;15078&quot;&gt;&lt;property id=&quot;20148&quot; value=&quot;5&quot;/&gt;&lt;property id=&quot;20300&quot; value=&quot;Slide 7 - &amp;quot;HỆ ĐẾM THEO VỊ TRÍ CÓ CƠ SỐ BẤT KỲ&amp;quot;&quot;/&gt;&lt;property id=&quot;20307&quot; value=&quot;284&quot;/&gt;&lt;/object&gt;&lt;object type=&quot;3&quot; unique_id=&quot;15079&quot;&gt;&lt;property id=&quot;20148&quot; value=&quot;5&quot;/&gt;&lt;property id=&quot;20300&quot; value=&quot;Slide 8 - &amp;quot;HỆ ĐẾM NHỊ PHÂN&amp;quot;&quot;/&gt;&lt;property id=&quot;20307&quot; value=&quot;285&quot;/&gt;&lt;/object&gt;&lt;object type=&quot;3&quot; unique_id=&quot;15080&quot;&gt;&lt;property id=&quot;20148&quot; value=&quot;5&quot;/&gt;&lt;property id=&quot;20300&quot; value=&quot;Slide 9 - &amp;quot;SỐ HỌC NHỊ PHÂN&amp;quot;&quot;/&gt;&lt;property id=&quot;20307&quot; value=&quot;286&quot;/&gt;&lt;/object&gt;&lt;object type=&quot;3&quot; unique_id=&quot;15467&quot;&gt;&lt;property id=&quot;20148&quot; value=&quot;5&quot;/&gt;&lt;property id=&quot;20300&quot; value=&quot;Slide 11 - &amp;quot;ĐỔI BIỂU DIỄN SỐ VỚI  CÁC CƠ SỐ KHÁC NHAU&amp;quot;&quot;/&gt;&lt;property id=&quot;20307&quot; value=&quot;288&quot;/&gt;&lt;/object&gt;&lt;object type=&quot;3&quot; unique_id=&quot;15468&quot;&gt;&lt;property id=&quot;20148&quot; value=&quot;5&quot;/&gt;&lt;property id=&quot;20300&quot; value=&quot;Slide 12 - &amp;quot;QUY TẮC THỰC HÀNH ĐỔI BIỂU DIỄN SỐ VỚI PHẦN NGUYÊN&amp;quot;&quot;/&gt;&lt;property id=&quot;20307&quot; value=&quot;289&quot;/&gt;&lt;/object&gt;&lt;object type=&quot;3&quot; unique_id=&quot;15469&quot;&gt;&lt;property id=&quot;20148&quot; value=&quot;5&quot;/&gt;&lt;property id=&quot;20300&quot; value=&quot;Slide 13 - &amp;quot;ĐỔI BIỂU DIỄN SỐ CHO PHẦN LẺ VỚI  CÁC CƠ SỐ KHÁC NHAU&amp;quot;&quot;/&gt;&lt;property id=&quot;20307&quot; value=&quot;290&quot;/&gt;&lt;/object&gt;&lt;object type=&quot;3&quot; unique_id=&quot;15470&quot;&gt;&lt;property id=&quot;20148&quot; value=&quot;5&quot;/&gt;&lt;property id=&quot;20300&quot; value=&quot;Slide 14 - &amp;quot;QUY TẮC THỰC HÀNH ĐỔI BIỂU DIỄN SỐ VỚI PHẦN LẺ&amp;quot;&quot;/&gt;&lt;property id=&quot;20307&quot; value=&quot;291&quot;/&gt;&lt;/object&gt;&lt;object type=&quot;3&quot; unique_id=&quot;15471&quot;&gt;&lt;property id=&quot;20148&quot; value=&quot;5&quot;/&gt;&lt;property id=&quot;20300&quot; value=&quot;Slide 15 - &amp;quot;ĐỔI BIỂU DIỄN SỐ VỚI  CÁC CƠ SỐ KHÁC NHAU&amp;quot;&quot;/&gt;&lt;property id=&quot;20307&quot; value=&quot;292&quot;/&gt;&lt;/object&gt;&lt;object type=&quot;3&quot; unique_id=&quot;15472&quot;&gt;&lt;property id=&quot;20148&quot; value=&quot;5&quot;/&gt;&lt;property id=&quot;20300&quot; value=&quot;Slide 16 - &amp;quot;ĐỔI BIỂU DIỄN SỐ VỚI  CÁC CƠ SỐ KHÁC NHAU&amp;quot;&quot;/&gt;&lt;property id=&quot;20307&quot; value=&quot;293&quot;/&gt;&lt;/object&gt;&lt;object type=&quot;3&quot; unique_id=&quot;15473&quot;&gt;&lt;property id=&quot;20148&quot; value=&quot;5&quot;/&gt;&lt;property id=&quot;20300&quot; value=&quot;Slide 17 - &amp;quot;ĐỔI BIỂU DIỄN SỐ TRONG TRƯỜNG HỢP  CƠ SỐ LÀ LUỸ THỪA CỦA NHAU&amp;quot;&quot;/&gt;&lt;property id=&quot;20307&quot; value=&quot;294&quot;/&gt;&lt;/object&gt;&lt;object type=&quot;3&quot; unique_id=&quot;15474&quot;&gt;&lt;property id=&quot;20148&quot; value=&quot;5&quot;/&gt;&lt;property id=&quot;20300&quot; value=&quot;Slide 18 - &amp;quot;BẢNG TƯƠNG ỨNG GIÁ TRỊ CỦA CÁC CHỮ SỐ TRONG HỆ 16 TRONG HỆ ĐẾM CƠ SỐ 2&amp;quot;&quot;/&gt;&lt;property id=&quot;20307&quot; value=&quot;295&quot;/&gt;&lt;/object&gt;&lt;object type=&quot;3&quot; unique_id=&quot;15475&quot;&gt;&lt;property id=&quot;20148&quot; value=&quot;5&quot;/&gt;&lt;property id=&quot;20300&quot; value=&quot;Slide 20 - &amp;quot;TỔNG KẾT NỘI DUNG&amp;quot;&quot;/&gt;&lt;property id=&quot;20307&quot; value=&quot;297&quot;/&gt;&lt;/object&gt;&lt;object type=&quot;3&quot; unique_id=&quot;15560&quot;&gt;&lt;property id=&quot;20148&quot; value=&quot;5&quot;/&gt;&lt;property id=&quot;20300&quot; value=&quot;Slide 21 - &amp;quot;CÂU HỎI VÀ BÀI TẬP&amp;quot;&quot;/&gt;&lt;property id=&quot;20307&quot; value=&quot;298&quot;/&gt;&lt;/object&gt;&lt;object type=&quot;3&quot; unique_id=&quot;15562&quot;&gt;&lt;property id=&quot;20148&quot; value=&quot;5&quot;/&gt;&lt;property id=&quot;20300&quot; value=&quot;Slide 22 - &amp;quot;HẾT BÀI 4. HỎI VÀ ĐÁP&amp;quot;&quot;/&gt;&lt;property id=&quot;20307&quot; value=&quot;300&quot;/&gt;&lt;/object&gt;&lt;object type=&quot;3&quot; unique_id=&quot;16127&quot;&gt;&lt;property id=&quot;20148&quot; value=&quot;5&quot;/&gt;&lt;property id=&quot;20300&quot; value=&quot;Slide 10 - &amp;quot;HỆ HEXA (HỆ ĐẾM CƠ SỐ 16)&amp;quot;&quot;/&gt;&lt;property id=&quot;20307&quot; value=&quot;287&quot;/&gt;&lt;/object&gt;&lt;object type=&quot;3&quot; unique_id=&quot;16128&quot;&gt;&lt;property id=&quot;20148&quot; value=&quot;5&quot;/&gt;&lt;property id=&quot;20300&quot; value=&quot;Slide 19 - &amp;quot;ĐỔI BIỂU DIỄN GIỮA HỆ ĐẾM  CƠ SỐ 16 VÀ HỆ ĐẾM CƠ SỐ 2&amp;quot;&quot;/&gt;&lt;property id=&quot;20307&quot; value=&quot;296&quot;/&gt;&lt;/object&gt;&lt;object type=&quot;3&quot; unique_id=&quot;16270&quot;&gt;&lt;property id=&quot;20148&quot; value=&quot;5&quot;/&gt;&lt;property id=&quot;20300&quot; value=&quot;Slide 23 - &amp;quot;Bài 5. Biểu diễn dữ liệu&amp;quot;&quot;/&gt;&lt;property id=&quot;20307&quot; value=&quot;301&quot;/&gt;&lt;/object&gt;&lt;object type=&quot;3&quot; unique_id=&quot;16271&quot;&gt;&lt;property id=&quot;20148&quot; value=&quot;5&quot;/&gt;&lt;property id=&quot;20300&quot; value=&quot;Slide 24 - &amp;quot;NỘI DUNG&amp;quot;&quot;/&gt;&lt;property id=&quot;20307&quot; value=&quot;302&quot;/&gt;&lt;/object&gt;&lt;object type=&quot;3&quot; unique_id=&quot;16272&quot;&gt;&lt;property id=&quot;20148&quot; value=&quot;5&quot;/&gt;&lt;property id=&quot;20300&quot; value=&quot;Slide 25 - &amp;quot;PHÂN LOẠI DỮ LIỆU &amp;quot;&quot;/&gt;&lt;property id=&quot;20307&quot; value=&quot;303&quot;/&gt;&lt;/object&gt;&lt;object type=&quot;3&quot; unique_id=&quot;16273&quot;&gt;&lt;property id=&quot;20148&quot; value=&quot;5&quot;/&gt;&lt;property id=&quot;20300&quot; value=&quot;Slide 26 - &amp;quot;SỐ DẤU PHẢY TĨNH (fixed point number)&amp;quot;&quot;/&gt;&lt;property id=&quot;20307&quot; value=&quot;304&quot;/&gt;&lt;/object&gt;&lt;object type=&quot;3&quot; unique_id=&quot;16274&quot;&gt;&lt;property id=&quot;20148&quot; value=&quot;5&quot;/&gt;&lt;property id=&quot;20300&quot; value=&quot;Slide 27 - &amp;quot;SỐ DẤU PHẢY ĐỘNG ( floating point number)&amp;quot;&quot;/&gt;&lt;property id=&quot;20307&quot; value=&quot;305&quot;/&gt;&lt;/object&gt;&lt;object type=&quot;3&quot; unique_id=&quot;16275&quot;&gt;&lt;property id=&quot;20148&quot; value=&quot;5&quot;/&gt;&lt;property id=&quot;20300&quot; value=&quot;Slide 28 - &amp;quot;SO SÁNH KHOẢNG BIỂU DIỄN&amp;quot;&quot;/&gt;&lt;property id=&quot;20307&quot; value=&quot;306&quot;/&gt;&lt;/object&gt;&lt;object type=&quot;3&quot; unique_id=&quot;16276&quot;&gt;&lt;property id=&quot;20148&quot; value=&quot;5&quot;/&gt;&lt;property id=&quot;20300&quot; value=&quot;Slide 29 - &amp;quot;SO SÁNH ĐỘ CHÍNH XÁC&amp;quot;&quot;/&gt;&lt;property id=&quot;20307&quot; value=&quot;307&quot;/&gt;&lt;/object&gt;&lt;object type=&quot;3&quot; unique_id=&quot;16277&quot;&gt;&lt;property id=&quot;20148&quot; value=&quot;5&quot;/&gt;&lt;property id=&quot;20300&quot; value=&quot;Slide 30 - &amp;quot;SỐ DẤU PHẢY ĐỘNG CHUẨN IEEE 754&amp;quot;&quot;/&gt;&lt;property id=&quot;20307&quot; value=&quot;308&quot;/&gt;&lt;/object&gt;&lt;object type=&quot;3&quot; unique_id=&quot;16278&quot;&gt;&lt;property id=&quot;20148&quot; value=&quot;5&quot;/&gt;&lt;property id=&quot;20300&quot; value=&quot;Slide 31 - &amp;quot;SỐ DẤU PHẢY ĐỘNG CHUẨN IEEE 754&amp;quot;&quot;/&gt;&lt;property id=&quot;20307&quot; value=&quot;309&quot;/&gt;&lt;/object&gt;&lt;object type=&quot;3&quot; unique_id=&quot;16279&quot;&gt;&lt;property id=&quot;20148&quot; value=&quot;5&quot;/&gt;&lt;property id=&quot;20300&quot; value=&quot;Slide 32 - &amp;quot;BIỂU DIỄN CHỮ VÀ VĂN BẢN&amp;quot;&quot;/&gt;&lt;property id=&quot;20307&quot; value=&quot;310&quot;/&gt;&lt;/object&gt;&lt;object type=&quot;3&quot; unique_id=&quot;16280&quot;&gt;&lt;property id=&quot;20148&quot; value=&quot;5&quot;/&gt;&lt;property id=&quot;20300&quot; value=&quot;Slide 33 - &amp;quot;BẢNG CHỮ ASCII (128 ký tự đầu)&amp;quot;&quot;/&gt;&lt;property id=&quot;20307&quot; value=&quot;311&quot;/&gt;&lt;/object&gt;&lt;object type=&quot;3&quot; unique_id=&quot;16281&quot;&gt;&lt;property id=&quot;20148&quot; value=&quot;5&quot;/&gt;&lt;property id=&quot;20300&quot; value=&quot;Slide 34 - &amp;quot;BIỂU DIỄN CHỮ  VỚI UNICODE  &amp;quot;&quot;/&gt;&lt;property id=&quot;20307&quot; value=&quot;312&quot;/&gt;&lt;/object&gt;&lt;object type=&quot;3&quot; unique_id=&quot;16282&quot;&gt;&lt;property id=&quot;20148&quot; value=&quot;5&quot;/&gt;&lt;property id=&quot;20300&quot; value=&quot;Slide 35 - &amp;quot;MÃ TIẾNG VIỆT&amp;quot;&quot;/&gt;&lt;property id=&quot;20307&quot; value=&quot;313&quot;/&gt;&lt;/object&gt;&lt;object type=&quot;3&quot; unique_id=&quot;16283&quot;&gt;&lt;property id=&quot;20148&quot; value=&quot;5&quot;/&gt;&lt;property id=&quot;20300&quot; value=&quot;Slide 36 - &amp;quot;BIỂU DIỄN CÁC GIÁ TRỊ LOGIC  &amp;quot;&quot;/&gt;&lt;property id=&quot;20307&quot; value=&quot;314&quot;/&gt;&lt;/object&gt;&lt;object type=&quot;3&quot; unique_id=&quot;16284&quot;&gt;&lt;property id=&quot;20148&quot; value=&quot;5&quot;/&gt;&lt;property id=&quot;20300&quot; value=&quot;Slide 37 - &amp;quot;BIỂU DIỄN DỮ LIỆU HÌNH ẢNH &amp;quot;&quot;/&gt;&lt;property id=&quot;20307&quot; value=&quot;315&quot;/&gt;&lt;/object&gt;&lt;object type=&quot;3&quot; unique_id=&quot;16285&quot;&gt;&lt;property id=&quot;20148&quot; value=&quot;5&quot;/&gt;&lt;property id=&quot;20300&quot; value=&quot;Slide 38 - &amp;quot;BIỂU DIỄN ÂM THANH &amp;quot;&quot;/&gt;&lt;property id=&quot;20307&quot; value=&quot;316&quot;/&gt;&lt;/object&gt;&lt;object type=&quot;3&quot; unique_id=&quot;16286&quot;&gt;&lt;property id=&quot;20148&quot; value=&quot;5&quot;/&gt;&lt;property id=&quot;20300&quot; value=&quot;Slide 39 - &amp;quot;TRI THỨC = SỰ KIỆN + LUẬT &amp;quot;&quot;/&gt;&lt;property id=&quot;20307&quot; value=&quot;317&quot;/&gt;&lt;/object&gt;&lt;object type=&quot;3&quot; unique_id=&quot;16287&quot;&gt;&lt;property id=&quot;20148&quot; value=&quot;5&quot;/&gt;&lt;property id=&quot;20300&quot; value=&quot;Slide 40 - &amp;quot;TRUYỀN DỮ LIỆU &amp;quot;&quot;/&gt;&lt;property id=&quot;20307&quot; value=&quot;318&quot;/&gt;&lt;/object&gt;&lt;object type=&quot;3&quot; unique_id=&quot;16288&quot;&gt;&lt;property id=&quot;20148&quot; value=&quot;5&quot;/&gt;&lt;property id=&quot;20300&quot; value=&quot;Slide 41 - &amp;quot;TỔNG KẾT&amp;quot;&quot;/&gt;&lt;property id=&quot;20307&quot; value=&quot;319&quot;/&gt;&lt;/object&gt;&lt;object type=&quot;3&quot; unique_id=&quot;16289&quot;&gt;&lt;property id=&quot;20148&quot; value=&quot;5&quot;/&gt;&lt;property id=&quot;20300&quot; value=&quot;Slide 42 - &amp;quot;CÂU HỎI VÀ BÀI TẬP&amp;quot;&quot;/&gt;&lt;property id=&quot;20307&quot; value=&quot;320&quot;/&gt;&lt;/object&gt;&lt;object type=&quot;3&quot; unique_id=&quot;16290&quot;&gt;&lt;property id=&quot;20148&quot; value=&quot;5&quot;/&gt;&lt;property id=&quot;20300&quot; value=&quot;Slide 43 - &amp;quot;HẾT BÀI 5. HỎI VÀ ĐÁP&amp;quot;&quot;/&gt;&lt;property id=&quot;20307&quot; value=&quot;322&quot;/&gt;&lt;/object&gt;&lt;object type=&quot;3&quot; unique_id=&quot;16518&quot;&gt;&lt;property id=&quot;20148&quot; value=&quot;5&quot;/&gt;&lt;property id=&quot;20300&quot; value=&quot;Slide 44 - &amp;quot;Bài 6. thuật toán&amp;quot;&quot;/&gt;&lt;property id=&quot;20307&quot; value=&quot;323&quot;/&gt;&lt;/object&gt;&lt;object type=&quot;3&quot; unique_id=&quot;16519&quot;&gt;&lt;property id=&quot;20148&quot; value=&quot;5&quot;/&gt;&lt;property id=&quot;20300&quot; value=&quot;Slide 45 - &amp;quot;NỘI DUNG&amp;quot;&quot;/&gt;&lt;property id=&quot;20307&quot; value=&quot;324&quot;/&gt;&lt;/object&gt;&lt;object type=&quot;3&quot; unique_id=&quot;16520&quot;&gt;&lt;property id=&quot;20148&quot; value=&quot;5&quot;/&gt;&lt;property id=&quot;20300&quot; value=&quot;Slide 46 - &amp;quot;KHÁI NIỆM BÀI TOÁN&amp;quot;&quot;/&gt;&lt;property id=&quot;20307&quot; value=&quot;325&quot;/&gt;&lt;/object&gt;&lt;object type=&quot;3&quot; unique_id=&quot;16521&quot;&gt;&lt;property id=&quot;20148&quot; value=&quot;5&quot;/&gt;&lt;property id=&quot;20300&quot; value=&quot;Slide 47 - &amp;quot;KHÁI NIỆM THUẬT TOÁN&amp;quot;&quot;/&gt;&lt;property id=&quot;20307&quot; value=&quot;326&quot;/&gt;&lt;/object&gt;&lt;object type=&quot;3&quot; unique_id=&quot;16522&quot;&gt;&lt;property id=&quot;20148&quot; value=&quot;5&quot;/&gt;&lt;property id=&quot;20300&quot; value=&quot;Slide 48 - &amp;quot;THUẬT TOÁN EUCLID  TIM USCLN CỦA HAI SỐ TỰ NHIÊN&amp;quot;&quot;/&gt;&lt;property id=&quot;20307&quot; value=&quot;327&quot;/&gt;&lt;/object&gt;&lt;object type=&quot;3&quot; unique_id=&quot;16523&quot;&gt;&lt;property id=&quot;20148&quot; value=&quot;5&quot;/&gt;&lt;property id=&quot;20300&quot; value=&quot;Slide 49 - &amp;quot;VÍ DỤ CÁC BƯỚC CỦA THUẬT TOÁN EUCLID&amp;quot;&quot;/&gt;&lt;property id=&quot;20307&quot; value=&quot;328&quot;/&gt;&lt;/object&gt;&lt;object type=&quot;3&quot; unique_id=&quot;16524&quot;&gt;&lt;property id=&quot;20148&quot; value=&quot;5&quot;/&gt;&lt;property id=&quot;20300&quot; value=&quot;Slide 50 - &amp;quot;CÁC ĐẶC TRƯNG CỦA THUẬT TOÁN&amp;quot;&quot;/&gt;&lt;property id=&quot;20307&quot; value=&quot;329&quot;/&gt;&lt;/object&gt;&lt;object type=&quot;3&quot; unique_id=&quot;16525&quot;&gt;&lt;property id=&quot;20148&quot; value=&quot;5&quot;/&gt;&lt;property id=&quot;20300&quot; value=&quot;Slide 51 - &amp;quot;CÁC PHƯƠNG PHÁP  BIỂU DIỄN THUẬT TOÁN&amp;quot;&quot;/&gt;&lt;property id=&quot;20307&quot; value=&quot;330&quot;/&gt;&lt;/object&gt;&lt;object type=&quot;3&quot; unique_id=&quot;16526&quot;&gt;&lt;property id=&quot;20148&quot; value=&quot;5&quot;/&gt;&lt;property id=&quot;20300&quot; value=&quot;Slide 52 - &amp;quot;THUẬT TOÁN BỐC SỎI&amp;quot;&quot;/&gt;&lt;property id=&quot;20307&quot; value=&quot;331&quot;/&gt;&lt;/object&gt;&lt;object type=&quot;3&quot; unique_id=&quot;16527&quot;&gt;&lt;property id=&quot;20148&quot; value=&quot;5&quot;/&gt;&lt;property id=&quot;20300&quot; value=&quot;Slide 53 - &amp;quot;BIỂU DIỄN BẰNG LƯU ĐỒ  HOẶC SƠ ĐỒ KHỐI&amp;quot;&quot;/&gt;&lt;property id=&quot;20307&quot; value=&quot;332&quot;/&gt;&lt;/object&gt;&lt;object type=&quot;3&quot; unique_id=&quot;16528&quot;&gt;&lt;property id=&quot;20148&quot; value=&quot;5&quot;/&gt;&lt;property id=&quot;20300&quot; value=&quot;Slide 54 - &amp;quot;BIỂU DIỄN BẰNG LƯU ĐỒ  THUẬT TOÁN EUCLID&amp;quot;&quot;/&gt;&lt;property id=&quot;20307&quot; value=&quot;333&quot;/&gt;&lt;/object&gt;&lt;object type=&quot;3&quot; unique_id=&quot;16529&quot;&gt;&lt;property id=&quot;20148&quot; value=&quot;5&quot;/&gt;&lt;property id=&quot;20300&quot; value=&quot;Slide 55 - &amp;quot;BIỂU DIỄN BẰNG CẤU TRÚC ĐIỀU KHIỂN&amp;quot;&quot;/&gt;&lt;property id=&quot;20307&quot; value=&quot;334&quot;/&gt;&lt;/object&gt;&lt;object type=&quot;3&quot; unique_id=&quot;16530&quot;&gt;&lt;property id=&quot;20148&quot; value=&quot;5&quot;/&gt;&lt;property id=&quot;20300&quot; value=&quot;Slide 56 - &amp;quot;TÍNH NGHIỆM XẤP XỈ VỚI ĐỘ CHÍNH XÁC  ε = 0.000001 CỦA PHƯƠNG TRÌNH f(x)= ex- x3 = 0&amp;quot;&quot;/&gt;&lt;property id=&quot;20307&quot; value=&quot;335&quot;/&gt;&lt;/object&gt;&lt;object type=&quot;3&quot; unique_id=&quot;16531&quot;&gt;&lt;property id=&quot;20148&quot; value=&quot;5&quot;/&gt;&lt;property id=&quot;20300&quot; value=&quot;Slide 57 - &amp;quot;TÍNH NGHIỆM XẤP XỈ VỚI ĐỘ CHÍNH XÁC  ε = 0.000001 CỦA PHƯƠNG TRÌNH f(x)= ex- x3 = 0&amp;quot;&quot;/&gt;&lt;property id=&quot;20307&quot; value=&quot;336&quot;/&gt;&lt;/object&gt;&lt;object type=&quot;3&quot; unique_id=&quot;16532&quot;&gt;&lt;property id=&quot;20148&quot; value=&quot;5&quot;/&gt;&lt;property id=&quot;20300&quot; value=&quot;Slide 58 - &amp;quot; &amp;quot;&quot;/&gt;&lt;property id=&quot;20307&quot; value=&quot;337&quot;/&gt;&lt;/object&gt;&lt;object type=&quot;3&quot; unique_id=&quot;16533&quot;&gt;&lt;property id=&quot;20148&quot; value=&quot;5&quot;/&gt;&lt;property id=&quot;20300&quot; value=&quot;Slide 59 - &amp;quot;BIỂU DIỄN BẰNG CẤU TRÚC ĐIỀU KHIỂN&amp;quot;&quot;/&gt;&lt;property id=&quot;20307&quot; value=&quot;338&quot;/&gt;&lt;/object&gt;&lt;object type=&quot;3&quot; unique_id=&quot;16534&quot;&gt;&lt;property id=&quot;20148&quot; value=&quot;5&quot;/&gt;&lt;property id=&quot;20300&quot; value=&quot;Slide 60 - &amp;quot;HIỆU QUẢ CỦA THUẬT TOÁN&amp;quot;&quot;/&gt;&lt;property id=&quot;20307&quot; value=&quot;339&quot;/&gt;&lt;/object&gt;&lt;object type=&quot;3&quot; unique_id=&quot;16535&quot;&gt;&lt;property id=&quot;20148&quot; value=&quot;5&quot;/&gt;&lt;property id=&quot;20300&quot; value=&quot;Slide 61 - &amp;quot;VÍ DỤ HIỆU QUẢ TÌM KIẾM&amp;quot;&quot;/&gt;&lt;property id=&quot;20307&quot; value=&quot;340&quot;/&gt;&lt;/object&gt;&lt;object type=&quot;3&quot; unique_id=&quot;16536&quot;&gt;&lt;property id=&quot;20148&quot; value=&quot;5&quot;/&gt;&lt;property id=&quot;20300&quot; value=&quot;Slide 62 - &amp;quot;HIỆU QUẢ CỦA THUẬT TOÁN&amp;quot;&quot;/&gt;&lt;property id=&quot;20307&quot; value=&quot;341&quot;/&gt;&lt;/object&gt;&lt;object type=&quot;3&quot; unique_id=&quot;16537&quot;&gt;&lt;property id=&quot;20148&quot; value=&quot;5&quot;/&gt;&lt;property id=&quot;20300&quot; value=&quot;Slide 63 - &amp;quot;CÂU HỎI VÀ BÀI TẬP&amp;quot;&quot;/&gt;&lt;property id=&quot;20307&quot; value=&quot;342&quot;/&gt;&lt;/object&gt;&lt;object type=&quot;3&quot; unique_id=&quot;16538&quot;&gt;&lt;property id=&quot;20148&quot; value=&quot;5&quot;/&gt;&lt;property id=&quot;20300&quot; value=&quot;Slide 64 - &amp;quot;HẾT BÀI 6. HỎI VÀ ĐÁP&amp;quot;&quot;/&gt;&lt;property id=&quot;20307&quot; value=&quot;344&quot;/&gt;&lt;/object&gt;&lt;/object&gt;&lt;object type=&quot;8&quot; unique_id=&quot;10012&quo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DVSECTIONID" val="yI2DOt6RzRcU51QxdhNewL"/>
</p:tagLst>
</file>

<file path=ppt/tags/tag3.xml><?xml version="1.0" encoding="utf-8"?>
<p:tagLst xmlns:a="http://schemas.openxmlformats.org/drawingml/2006/main" xmlns:r="http://schemas.openxmlformats.org/officeDocument/2006/relationships" xmlns:p="http://schemas.openxmlformats.org/presentationml/2006/main">
  <p:tag name="DVSHAPEID" val="HAGzTPKJNXuuOK4v20iPS7"/>
</p:tagLst>
</file>

<file path=ppt/theme/theme1.xml><?xml version="1.0" encoding="utf-8"?>
<a:theme xmlns:a="http://schemas.openxmlformats.org/drawingml/2006/main" name="Training New Employe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Training New Employees.potx</Template>
  <TotalTime>0</TotalTime>
  <Words>6876</Words>
  <Application>Microsoft Office PowerPoint</Application>
  <PresentationFormat>On-screen Show (4:3)</PresentationFormat>
  <Paragraphs>695</Paragraphs>
  <Slides>64</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3</vt:i4>
      </vt:variant>
      <vt:variant>
        <vt:lpstr>Slide Titles</vt:lpstr>
      </vt:variant>
      <vt:variant>
        <vt:i4>64</vt:i4>
      </vt:variant>
    </vt:vector>
  </HeadingPairs>
  <TitlesOfParts>
    <vt:vector size="76" baseType="lpstr">
      <vt:lpstr>Arial</vt:lpstr>
      <vt:lpstr>Calibri</vt:lpstr>
      <vt:lpstr>Calibri Light</vt:lpstr>
      <vt:lpstr>Georgia</vt:lpstr>
      <vt:lpstr>Symbol</vt:lpstr>
      <vt:lpstr>Times New Roman</vt:lpstr>
      <vt:lpstr>Vrinda</vt:lpstr>
      <vt:lpstr>Wingdings</vt:lpstr>
      <vt:lpstr>Training New Employees</vt:lpstr>
      <vt:lpstr>Clip</vt:lpstr>
      <vt:lpstr>Sound (OLE2)</vt:lpstr>
      <vt:lpstr>Microsoft Clip Gallery</vt:lpstr>
      <vt:lpstr>Tin học cơ sở 2 phần lý thuyết  </vt:lpstr>
      <vt:lpstr>Bài 4. Các hệ đếm</vt:lpstr>
      <vt:lpstr>NỘI DUNG</vt:lpstr>
      <vt:lpstr>HỆ ĐẾM</vt:lpstr>
      <vt:lpstr>HỆ ĐẾM</vt:lpstr>
      <vt:lpstr>HỆ ĐẾM THEO VỊ TRÍ VÀ KHÔNG THEO VỊ TRÍ</vt:lpstr>
      <vt:lpstr>HỆ ĐẾM THEO VỊ TRÍ CÓ CƠ SỐ BẤT KỲ</vt:lpstr>
      <vt:lpstr>HỆ ĐẾM NHỊ PHÂN</vt:lpstr>
      <vt:lpstr>SỐ HỌC NHỊ PHÂN</vt:lpstr>
      <vt:lpstr>HỆ HEXA (HỆ ĐẾM CƠ SỐ 16)</vt:lpstr>
      <vt:lpstr>ĐỔI BIỂU DIỄN SỐ VỚI  CÁC CƠ SỐ KHÁC NHAU</vt:lpstr>
      <vt:lpstr>QUY TẮC THỰC HÀNH ĐỔI BIỂU DIỄN SỐ VỚI PHẦN NGUYÊN</vt:lpstr>
      <vt:lpstr>ĐỔI BIỂU DIỄN SỐ CHO PHẦN LẺ VỚI  CÁC CƠ SỐ KHÁC NHAU</vt:lpstr>
      <vt:lpstr>QUY TẮC THỰC HÀNH ĐỔI BIỂU DIỄN SỐ VỚI PHẦN LẺ</vt:lpstr>
      <vt:lpstr>ĐỔI BIỂU DIỄN SỐ VỚI  CÁC CƠ SỐ KHÁC NHAU</vt:lpstr>
      <vt:lpstr>ĐỔI BIỂU DIỄN SỐ VỚI  CÁC CƠ SỐ KHÁC NHAU</vt:lpstr>
      <vt:lpstr>ĐỔI BIỂU DIỄN SỐ TRONG TRƯỜNG HỢP  CƠ SỐ LÀ LUỸ THỪA CỦA NHAU</vt:lpstr>
      <vt:lpstr>BẢNG TƯƠNG ỨNG GIÁ TRỊ CỦA CÁC CHỮ SỐ TRONG HỆ 16 TRONG HỆ ĐẾM CƠ SỐ 2</vt:lpstr>
      <vt:lpstr>ĐỔI BIỂU DIỄN GIỮA HỆ ĐẾM  CƠ SỐ 16 VÀ HỆ ĐẾM CƠ SỐ 2</vt:lpstr>
      <vt:lpstr>TỔNG KẾT NỘI DUNG</vt:lpstr>
      <vt:lpstr>CÂU HỎI VÀ BÀI TẬP</vt:lpstr>
      <vt:lpstr>HẾT BÀI 4. HỎI VÀ ĐÁP</vt:lpstr>
      <vt:lpstr>Bài 5. Biểu diễn dữ liệu</vt:lpstr>
      <vt:lpstr>NỘI DUNG</vt:lpstr>
      <vt:lpstr>PHÂN LOẠI DỮ LIỆU </vt:lpstr>
      <vt:lpstr>SỐ DẤU PHẢY TĨNH (fixed point number)</vt:lpstr>
      <vt:lpstr>SỐ DẤU PHẢY ĐỘNG ( floating point number)</vt:lpstr>
      <vt:lpstr>SO SÁNH KHOẢNG BIỂU DIỄN</vt:lpstr>
      <vt:lpstr>SO SÁNH ĐỘ CHÍNH XÁC</vt:lpstr>
      <vt:lpstr>SỐ DẤU PHẢY ĐỘNG CHUẨN IEEE 754</vt:lpstr>
      <vt:lpstr>SỐ DẤU PHẢY ĐỘNG CHUẨN IEEE 754</vt:lpstr>
      <vt:lpstr>BIỂU DIỄN CHỮ VÀ VĂN BẢN</vt:lpstr>
      <vt:lpstr>BẢNG CHỮ ASCII (128 ký tự đầu)</vt:lpstr>
      <vt:lpstr>BIỂU DIỄN CHỮ  VỚI UNICODE  </vt:lpstr>
      <vt:lpstr>MÃ TIẾNG VIỆT</vt:lpstr>
      <vt:lpstr>BIỂU DIỄN CÁC GIÁ TRỊ LOGIC  </vt:lpstr>
      <vt:lpstr>BIỂU DIỄN DỮ LIỆU HÌNH ẢNH </vt:lpstr>
      <vt:lpstr>BIỂU DIỄN ÂM THANH </vt:lpstr>
      <vt:lpstr>TRI THỨC = SỰ KIỆN + LUẬT </vt:lpstr>
      <vt:lpstr>TRUYỀN DỮ LIỆU </vt:lpstr>
      <vt:lpstr>TỔNG KẾT</vt:lpstr>
      <vt:lpstr>CÂU HỎI VÀ BÀI TẬP</vt:lpstr>
      <vt:lpstr>HẾT BÀI 5. HỎI VÀ ĐÁP</vt:lpstr>
      <vt:lpstr>Bài 6. thuật toán</vt:lpstr>
      <vt:lpstr>NỘI DUNG</vt:lpstr>
      <vt:lpstr>KHÁI NIỆM BÀI TOÁN</vt:lpstr>
      <vt:lpstr>KHÁI NIỆM THUẬT TOÁN</vt:lpstr>
      <vt:lpstr>THUẬT TOÁN EUCLID  TIM USCLN CỦA HAI SỐ TỰ NHIÊN</vt:lpstr>
      <vt:lpstr>VÍ DỤ CÁC BƯỚC CỦA THUẬT TOÁN EUCLID</vt:lpstr>
      <vt:lpstr>CÁC ĐẶC TRƯNG CỦA THUẬT TOÁN</vt:lpstr>
      <vt:lpstr>CÁC PHƯƠNG PHÁP  BIỂU DIỄN THUẬT TOÁN</vt:lpstr>
      <vt:lpstr>THUẬT TOÁN BỐC SỎI</vt:lpstr>
      <vt:lpstr>BIỂU DIỄN BẰNG LƯU ĐỒ  HOẶC SƠ ĐỒ KHỐI</vt:lpstr>
      <vt:lpstr>BIỂU DIỄN BẰNG LƯU ĐỒ  THUẬT TOÁN EUCLID</vt:lpstr>
      <vt:lpstr>BIỂU DIỄN BẰNG CẤU TRÚC ĐIỀU KHIỂN</vt:lpstr>
      <vt:lpstr>TÍNH NGHIỆM XẤP XỈ VỚI ĐỘ CHÍNH XÁC  ε = 0.000001 CỦA PHƯƠNG TRÌNH f(x)= ex- x3 = 0</vt:lpstr>
      <vt:lpstr>TÍNH NGHIỆM XẤP XỈ VỚI ĐỘ CHÍNH XÁC  ε = 0.000001 CỦA PHƯƠNG TRÌNH f(x)= ex- x3 = 0</vt:lpstr>
      <vt:lpstr> </vt:lpstr>
      <vt:lpstr>BIỂU DIỄN BẰNG CẤU TRÚC ĐIỀU KHIỂN</vt:lpstr>
      <vt:lpstr>HIỆU QUẢ CỦA THUẬT TOÁN</vt:lpstr>
      <vt:lpstr>VÍ DỤ HIỆU QUẢ TÌM KIẾM</vt:lpstr>
      <vt:lpstr>HIỆU QUẢ CỦA THUẬT TOÁN</vt:lpstr>
      <vt:lpstr>CÂU HỎI VÀ BÀI TẬP</vt:lpstr>
      <vt:lpstr>HẾT BÀI 6. HỎI VÀ ĐÁP</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2010-02-01T21:33:28Z</dcterms:created>
  <dcterms:modified xsi:type="dcterms:W3CDTF">2019-07-26T03:05:47Z</dcterms:modified>
</cp:coreProperties>
</file>