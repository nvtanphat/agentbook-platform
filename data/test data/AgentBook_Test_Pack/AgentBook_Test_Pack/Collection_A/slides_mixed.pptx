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Parser coverage smoke-test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PDF</c:v>
                  </c:pt>
                  <c:pt idx="1">
                    <c:v>DOCX</c:v>
                  </c:pt>
                  <c:pt idx="2">
                    <c:v>PPTX</c:v>
                  </c:pt>
                  <c:pt idx="3">
                    <c:v>Image</c:v>
                  </c:pt>
                  <c:pt idx="4">
                    <c:v>Audio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</c:v>
                </c:pt>
                <c:pt idx="1">
                  <c:v>86</c:v>
                </c:pt>
                <c:pt idx="2">
                  <c:v>78</c:v>
                </c:pt>
                <c:pt idx="3">
                  <c:v>88</c:v>
                </c:pt>
                <c:pt idx="4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Stock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Phone</c:v>
                  </c:pt>
                  <c:pt idx="1">
                    <c:v>Laptop</c:v>
                  </c:pt>
                  <c:pt idx="2">
                    <c:v>Headphone</c:v>
                  </c:pt>
                  <c:pt idx="3">
                    <c:v>Accessory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251</c:v>
                </c:pt>
                <c:pt idx="1">
                  <c:v>190</c:v>
                </c:pt>
                <c:pt idx="2">
                  <c:v>185</c:v>
                </c:pt>
                <c:pt idx="3">
                  <c:v>540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E79"/>
                </a:solidFill>
              </a:rPr>
              <a:t>AgentBook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75564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827"/>
                </a:solidFill>
              </a:rPr>
              <a:t>Mixed-Modality Test Deck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Synthetic slides for parser routing, figure captioning, chart extraction, and RAG testing.</a:t>
            </a:r>
            <a:endParaRPr lang="en-US" sz="1600" dirty="0"/>
          </a:p>
        </p:txBody>
      </p:sp>
      <p:pic>
        <p:nvPicPr>
          <p:cNvPr id="5" name="Image 0" descr="/mnt/data/AgentBook_Test_Pack/Collection_B/scan_cl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94360"/>
            <a:ext cx="2651760" cy="3749040"/>
          </a:xfrm>
          <a:prstGeom prst="rect">
            <a:avLst/>
          </a:prstGeom>
        </p:spPr>
      </p:pic>
      <p:pic>
        <p:nvPicPr>
          <p:cNvPr id="6" name="Image 1" descr="/mnt/data/AgentBook_Test_Pack/Collection_B/handwriting_go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709160"/>
            <a:ext cx="4069080" cy="1417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1/10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System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 normalizes diverse materials into searchable blocks.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8288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material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80360" y="1554480"/>
            <a:ext cx="1828800" cy="5943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 router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1828800" cy="594360"/>
          </a:xfrm>
          <a:prstGeom prst="rect">
            <a:avLst/>
          </a:prstGeom>
          <a:solidFill>
            <a:srgbClr val="22543D"/>
          </a:solidFill>
          <a:ln>
            <a:solidFill>
              <a:srgbClr val="2254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builder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1554480"/>
            <a:ext cx="1828800" cy="594360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index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0" y="1554480"/>
            <a:ext cx="1828800" cy="594360"/>
          </a:xfrm>
          <a:prstGeom prst="rect">
            <a:avLst/>
          </a:prstGeom>
          <a:solidFill>
            <a:srgbClr val="7C2D12"/>
          </a:solidFill>
          <a:ln>
            <a:solidFill>
              <a:srgbClr val="7C2D1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agents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96896" y="1664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45736" y="1664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94576" y="1664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043416" y="1664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43891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 should expose parser name, modality, chunk count, and qdrant_vector_count.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15000" y="2788920"/>
            <a:ext cx="43891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fail loudly on poor input; never index unreliable text silently.</a:t>
            </a:r>
            <a:endParaRPr lang="en-US" sz="15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1828800" y="3840480"/>
          <a:ext cx="8046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2/10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Parser router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extension should activate the intended parser branch.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675120" cy="29718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        Parser                 Expected block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text       Docling                text/table/figure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scan       Docling + OCR          ocr_text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           Docling + python-docx  table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PPTX           FigureCaptioner        figure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CSV/XLSX       SpreadsheetParser      table_block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MP3/WAV        AudioParser            audio_segment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818120" y="1417320"/>
            <a:ext cx="33375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to test: “Which parser handles image-only Vietnamese PDFs?”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8120" y="2468880"/>
            <a:ext cx="333756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answer: the scan path uses Docling plus an OCR fallback, then persists OCR confidence for debug inspection.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18120" y="4572000"/>
            <a:ext cx="33375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intentionally combines a table and explanatory text.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3/10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OCR quality gate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OCR pipeline must pass clear scans and reject poor ones.</a:t>
            </a:r>
            <a:endParaRPr lang="en-US" sz="1050" dirty="0"/>
          </a:p>
        </p:txBody>
      </p:sp>
      <p:pic>
        <p:nvPicPr>
          <p:cNvPr id="4" name="Image 0" descr="/mnt/data/AgentBook_Test_Pack/Collection_B/scan_cl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2926080" cy="4160520"/>
          </a:xfrm>
          <a:prstGeom prst="rect">
            <a:avLst/>
          </a:prstGeom>
        </p:spPr>
      </p:pic>
      <p:pic>
        <p:nvPicPr>
          <p:cNvPr id="5" name="Image 1" descr="/mnt/data/AgentBook_Test_Pack/Collection_B/scan_low_qua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54480"/>
            <a:ext cx="237744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5623560"/>
            <a:ext cx="2240280" cy="438912"/>
          </a:xfrm>
          <a:prstGeom prst="rect">
            <a:avLst/>
          </a:prstGeom>
          <a:solidFill>
            <a:srgbClr val="22543D"/>
          </a:solidFill>
          <a:ln>
            <a:solidFill>
              <a:srgbClr val="2254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text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709160" y="5166360"/>
            <a:ext cx="2240280" cy="438912"/>
          </a:xfrm>
          <a:prstGeom prst="rect">
            <a:avLst/>
          </a:prstGeom>
          <a:solidFill>
            <a:srgbClr val="7C2D12"/>
          </a:solidFill>
          <a:ln>
            <a:solidFill>
              <a:srgbClr val="7C2D1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blur/dark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635240" y="1554480"/>
            <a:ext cx="3383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fields to inspect: blur variance, brightness, contrast, skew angle, and OCR confidence.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635240" y="3200400"/>
            <a:ext cx="338328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policy: refusing low-quality input is a feature, not a bug. Bad OCR poisons the vector database.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4/10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Spreadsheet and table retrieval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should preserve row context and sheet names.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120640" cy="23317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          Category     Price   Rating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iPhone 15 Pro     Phone        29M     4.8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MacBook Air M3    Laptop       28M     4.7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Sony XM5          Headphone    8.5M    4.8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Keychron K2       Accessory    2.1M    4.4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46520" y="132588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663440"/>
            <a:ext cx="53035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question: “Sản phẩm nào có giá cao nhất?” Expected row: Asus ROG Zephyrus or iPhone depending on source table used.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0" y="4663440"/>
            <a:ext cx="41148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 target: block_type table + block_kind table_block for CSV/XLSX.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5/10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Cross-lingual RAG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Vietnamese questions should retrieve English evidence and answer in Vietnamese.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2194560" cy="5303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tiếng Việt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94760" y="1554480"/>
            <a:ext cx="2194560" cy="530352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20840" y="1554480"/>
            <a:ext cx="2194560" cy="530352"/>
          </a:xfrm>
          <a:prstGeom prst="rect">
            <a:avLst/>
          </a:prstGeom>
          <a:solidFill>
            <a:srgbClr val="22543D"/>
          </a:solidFill>
          <a:ln>
            <a:solidFill>
              <a:srgbClr val="2254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Vietnamese answer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73552" y="1673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99632" y="1673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2976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evaluation is not translation quality alone. The real test is whether retrieval remains stable across languages.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80760" y="2971800"/>
            <a:ext cx="42976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pipeline answers fluently but loses evidence. A strong pipeline retrieves first, then verbalizes in the user language.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6/10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Study-guide endpoint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Summaries explain; study guides teach.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5146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0" y="1417320"/>
            <a:ext cx="2514600" cy="594360"/>
          </a:xfrm>
          <a:prstGeom prst="rect">
            <a:avLst/>
          </a:prstGeom>
          <a:solidFill>
            <a:srgbClr val="22543D"/>
          </a:solidFill>
          <a:ln>
            <a:solidFill>
              <a:srgbClr val="2254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0" y="1417320"/>
            <a:ext cx="25146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514600" cy="594360"/>
          </a:xfrm>
          <a:prstGeom prst="rect">
            <a:avLst/>
          </a:prstGeom>
          <a:solidFill>
            <a:srgbClr val="22543D"/>
          </a:solidFill>
          <a:ln>
            <a:solidFill>
              <a:srgbClr val="2254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questions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2651760"/>
            <a:ext cx="2514600" cy="5943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quiz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2651760"/>
            <a:ext cx="2514600" cy="594360"/>
          </a:xfrm>
          <a:prstGeom prst="rect">
            <a:avLst/>
          </a:prstGeom>
          <a:solidFill>
            <a:srgbClr val="22543D"/>
          </a:solidFill>
          <a:ln>
            <a:solidFill>
              <a:srgbClr val="2254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pitfalls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47548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study-guide output should preserve source grounding while changing the form into a learner-friendly structure.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4343400"/>
            <a:ext cx="43891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check: ask for five quiz questions from lecture_notes.pdf and verify each answer is traceable to a source chunk.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7/10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Compare endpoint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should find overlap, not just surface-level similarity.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60120" y="1417320"/>
            <a:ext cx="292608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lecture_notes.pdf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60920" y="1417320"/>
            <a:ext cx="2926080" cy="822960"/>
          </a:xfrm>
          <a:prstGeom prst="rect">
            <a:avLst/>
          </a:prstGeom>
          <a:solidFill>
            <a:srgbClr val="22543D"/>
          </a:solidFill>
          <a:ln>
            <a:solidFill>
              <a:srgbClr val="2254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comparison_doc.docx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+ risks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2743200"/>
            <a:ext cx="3200400" cy="82296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claims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Parser, OCR, RAG, debug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22860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shared evidence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4617720"/>
            <a:ext cx="74980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result: list shared facts, PDF-only details, DOCX-only details, and practical contradictions if any.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8/10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GraphRAG ask-graph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 and relationships make corpus-level questions possible.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63440" y="1325880"/>
            <a:ext cx="256032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AgentBook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2423160"/>
            <a:ext cx="2286000" cy="530352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 Router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2606040"/>
            <a:ext cx="2194560" cy="530352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Index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0" y="2423160"/>
            <a:ext cx="2194560" cy="530352"/>
          </a:xfrm>
          <a:prstGeom prst="rect">
            <a:avLst/>
          </a:prstGeom>
          <a:solidFill>
            <a:srgbClr val="22543D"/>
          </a:solidFill>
          <a:ln>
            <a:solidFill>
              <a:srgbClr val="2254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4160520"/>
            <a:ext cx="2103120" cy="530352"/>
          </a:xfrm>
          <a:prstGeom prst="rect">
            <a:avLst/>
          </a:prstGeom>
          <a:solidFill>
            <a:srgbClr val="7C2D12"/>
          </a:solidFill>
          <a:ln>
            <a:solidFill>
              <a:srgbClr val="7C2D1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Gate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4160520"/>
            <a:ext cx="2194560" cy="5303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Guide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↙    ↓    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6324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2396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5577840"/>
            <a:ext cx="58521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extraction should connect components, endpoints, and expected debug signals.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9/10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End-to-end checklist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smoke test before deeper evaluation.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✓ Upload all Collection_A files into Test_Collection_A.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7647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✓ Upload all Collection_B files into Test_Collection_B.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951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✓ Confirm qdrant_vector_count &gt; 0 for indexed materials.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254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✓ Ask Vietnamese questions over English PDF.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✓ Compare PDF and DOCX on the same topic.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✓ Validate OCR pass and refusal behavior.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4165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✓ Run table retrieval on CSV/XLSX.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9469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✓ Transcribe the short Vietnamese audio sample.</a:t>
            </a:r>
            <a:endParaRPr lang="en-US" sz="1500" dirty="0"/>
          </a:p>
        </p:txBody>
      </p:sp>
      <p:pic>
        <p:nvPicPr>
          <p:cNvPr id="12" name="Image 0" descr="/mnt/data/AgentBook_Test_Pack/Collection_B/handwriting_b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417320"/>
            <a:ext cx="1600200" cy="960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869680" y="2743200"/>
            <a:ext cx="25603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C2D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Blurry image = expected refusal.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966960" y="64922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AgentBook test deck | 10/10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Synthetic Test 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AgentBook Mixed Modality Slides</dc:title>
  <dc:subject>AgentBook mixed modality test deck</dc:subject>
  <dc:creator>OpenAI</dc:creator>
  <cp:lastModifiedBy>OpenAI</cp:lastModifiedBy>
  <cp:revision>1</cp:revision>
  <dcterms:created xsi:type="dcterms:W3CDTF">2026-05-23T14:11:50Z</dcterms:created>
  <dcterms:modified xsi:type="dcterms:W3CDTF">2026-05-23T14:11:50Z</dcterms:modified>
</cp:coreProperties>
</file>